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7" r:id="rId2"/>
  </p:sldIdLst>
  <p:sldSz cx="28800425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6" userDrawn="1">
          <p15:clr>
            <a:srgbClr val="A4A3A4"/>
          </p15:clr>
        </p15:guide>
        <p15:guide id="2" pos="90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0206"/>
    <a:srgbClr val="156082"/>
    <a:srgbClr val="0604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2" autoAdjust="0"/>
    <p:restoredTop sz="90465" autoAdjust="0"/>
  </p:normalViewPr>
  <p:slideViewPr>
    <p:cSldViewPr snapToGrid="0">
      <p:cViewPr varScale="1">
        <p:scale>
          <a:sx n="23" d="100"/>
          <a:sy n="23" d="100"/>
        </p:scale>
        <p:origin x="2196" y="96"/>
      </p:cViewPr>
      <p:guideLst>
        <p:guide orient="horz" pos="13606"/>
        <p:guide pos="9071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0C584C-CEA7-4B61-880F-19A1EF9F3154}" type="datetimeFigureOut">
              <a:rPr lang="pt-BR" smtClean="0"/>
              <a:t>23/08/2024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400300" y="1143000"/>
            <a:ext cx="2057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D6A48-4EB8-4B15-8A38-DD4A6EAB37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5760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56023" rtl="0" eaLnBrk="1" latinLnBrk="0" hangingPunct="1">
      <a:defRPr sz="4535" kern="1200">
        <a:solidFill>
          <a:schemeClr val="tx1"/>
        </a:solidFill>
        <a:latin typeface="+mn-lt"/>
        <a:ea typeface="+mn-ea"/>
        <a:cs typeface="+mn-cs"/>
      </a:defRPr>
    </a:lvl1pPr>
    <a:lvl2pPr marL="1728012" algn="l" defTabSz="3456023" rtl="0" eaLnBrk="1" latinLnBrk="0" hangingPunct="1">
      <a:defRPr sz="4535" kern="1200">
        <a:solidFill>
          <a:schemeClr val="tx1"/>
        </a:solidFill>
        <a:latin typeface="+mn-lt"/>
        <a:ea typeface="+mn-ea"/>
        <a:cs typeface="+mn-cs"/>
      </a:defRPr>
    </a:lvl2pPr>
    <a:lvl3pPr marL="3456023" algn="l" defTabSz="3456023" rtl="0" eaLnBrk="1" latinLnBrk="0" hangingPunct="1">
      <a:defRPr sz="4535" kern="1200">
        <a:solidFill>
          <a:schemeClr val="tx1"/>
        </a:solidFill>
        <a:latin typeface="+mn-lt"/>
        <a:ea typeface="+mn-ea"/>
        <a:cs typeface="+mn-cs"/>
      </a:defRPr>
    </a:lvl3pPr>
    <a:lvl4pPr marL="5184035" algn="l" defTabSz="3456023" rtl="0" eaLnBrk="1" latinLnBrk="0" hangingPunct="1">
      <a:defRPr sz="4535" kern="1200">
        <a:solidFill>
          <a:schemeClr val="tx1"/>
        </a:solidFill>
        <a:latin typeface="+mn-lt"/>
        <a:ea typeface="+mn-ea"/>
        <a:cs typeface="+mn-cs"/>
      </a:defRPr>
    </a:lvl4pPr>
    <a:lvl5pPr marL="6912047" algn="l" defTabSz="3456023" rtl="0" eaLnBrk="1" latinLnBrk="0" hangingPunct="1">
      <a:defRPr sz="4535" kern="1200">
        <a:solidFill>
          <a:schemeClr val="tx1"/>
        </a:solidFill>
        <a:latin typeface="+mn-lt"/>
        <a:ea typeface="+mn-ea"/>
        <a:cs typeface="+mn-cs"/>
      </a:defRPr>
    </a:lvl5pPr>
    <a:lvl6pPr marL="8640059" algn="l" defTabSz="3456023" rtl="0" eaLnBrk="1" latinLnBrk="0" hangingPunct="1">
      <a:defRPr sz="4535" kern="1200">
        <a:solidFill>
          <a:schemeClr val="tx1"/>
        </a:solidFill>
        <a:latin typeface="+mn-lt"/>
        <a:ea typeface="+mn-ea"/>
        <a:cs typeface="+mn-cs"/>
      </a:defRPr>
    </a:lvl6pPr>
    <a:lvl7pPr marL="10368070" algn="l" defTabSz="3456023" rtl="0" eaLnBrk="1" latinLnBrk="0" hangingPunct="1">
      <a:defRPr sz="4535" kern="1200">
        <a:solidFill>
          <a:schemeClr val="tx1"/>
        </a:solidFill>
        <a:latin typeface="+mn-lt"/>
        <a:ea typeface="+mn-ea"/>
        <a:cs typeface="+mn-cs"/>
      </a:defRPr>
    </a:lvl7pPr>
    <a:lvl8pPr marL="12096082" algn="l" defTabSz="3456023" rtl="0" eaLnBrk="1" latinLnBrk="0" hangingPunct="1">
      <a:defRPr sz="4535" kern="1200">
        <a:solidFill>
          <a:schemeClr val="tx1"/>
        </a:solidFill>
        <a:latin typeface="+mn-lt"/>
        <a:ea typeface="+mn-ea"/>
        <a:cs typeface="+mn-cs"/>
      </a:defRPr>
    </a:lvl8pPr>
    <a:lvl9pPr marL="13824094" algn="l" defTabSz="3456023" rtl="0" eaLnBrk="1" latinLnBrk="0" hangingPunct="1">
      <a:defRPr sz="453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0032" y="7070108"/>
            <a:ext cx="24480361" cy="15040222"/>
          </a:xfrm>
        </p:spPr>
        <p:txBody>
          <a:bodyPr anchor="b"/>
          <a:lstStyle>
            <a:lvl1pPr algn="ctr">
              <a:defRPr sz="1889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53" y="22690338"/>
            <a:ext cx="21600319" cy="10430151"/>
          </a:xfrm>
        </p:spPr>
        <p:txBody>
          <a:bodyPr/>
          <a:lstStyle>
            <a:lvl1pPr marL="0" indent="0" algn="ctr">
              <a:buNone/>
              <a:defRPr sz="7559"/>
            </a:lvl1pPr>
            <a:lvl2pPr marL="1440043" indent="0" algn="ctr">
              <a:buNone/>
              <a:defRPr sz="6299"/>
            </a:lvl2pPr>
            <a:lvl3pPr marL="2880086" indent="0" algn="ctr">
              <a:buNone/>
              <a:defRPr sz="5669"/>
            </a:lvl3pPr>
            <a:lvl4pPr marL="4320129" indent="0" algn="ctr">
              <a:buNone/>
              <a:defRPr sz="5040"/>
            </a:lvl4pPr>
            <a:lvl5pPr marL="5760171" indent="0" algn="ctr">
              <a:buNone/>
              <a:defRPr sz="5040"/>
            </a:lvl5pPr>
            <a:lvl6pPr marL="7200214" indent="0" algn="ctr">
              <a:buNone/>
              <a:defRPr sz="5040"/>
            </a:lvl6pPr>
            <a:lvl7pPr marL="8640257" indent="0" algn="ctr">
              <a:buNone/>
              <a:defRPr sz="5040"/>
            </a:lvl7pPr>
            <a:lvl8pPr marL="10080300" indent="0" algn="ctr">
              <a:buNone/>
              <a:defRPr sz="5040"/>
            </a:lvl8pPr>
            <a:lvl9pPr marL="11520343" indent="0" algn="ctr">
              <a:buNone/>
              <a:defRPr sz="504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E6D14-2387-433E-9CCC-CBBF83D1C692}" type="datetimeFigureOut">
              <a:rPr lang="pt-BR" smtClean="0"/>
              <a:t>23/08/2024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355B5-9339-416A-B0B0-13AF46D225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0307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E6D14-2387-433E-9CCC-CBBF83D1C692}" type="datetimeFigureOut">
              <a:rPr lang="pt-BR" smtClean="0"/>
              <a:t>23/08/2024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355B5-9339-416A-B0B0-13AF46D225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8343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030" y="10770172"/>
            <a:ext cx="24840367" cy="17970262"/>
          </a:xfrm>
        </p:spPr>
        <p:txBody>
          <a:bodyPr anchor="b"/>
          <a:lstStyle>
            <a:lvl1pPr>
              <a:defRPr sz="1889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030" y="28910440"/>
            <a:ext cx="24840367" cy="9450136"/>
          </a:xfrm>
        </p:spPr>
        <p:txBody>
          <a:bodyPr/>
          <a:lstStyle>
            <a:lvl1pPr marL="0" indent="0">
              <a:buNone/>
              <a:defRPr sz="7559">
                <a:solidFill>
                  <a:schemeClr val="tx1">
                    <a:tint val="82000"/>
                  </a:schemeClr>
                </a:solidFill>
              </a:defRPr>
            </a:lvl1pPr>
            <a:lvl2pPr marL="1440043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2pPr>
            <a:lvl3pPr marL="2880086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3pPr>
            <a:lvl4pPr marL="4320129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4pPr>
            <a:lvl5pPr marL="5760171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5pPr>
            <a:lvl6pPr marL="7200214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6pPr>
            <a:lvl7pPr marL="8640257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7pPr>
            <a:lvl8pPr marL="1008030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8pPr>
            <a:lvl9pPr marL="11520343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E6D14-2387-433E-9CCC-CBBF83D1C692}" type="datetimeFigureOut">
              <a:rPr lang="pt-BR" smtClean="0"/>
              <a:t>23/08/2024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355B5-9339-416A-B0B0-13AF46D225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4456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029" y="11500170"/>
            <a:ext cx="12240181" cy="2741040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0215" y="11500170"/>
            <a:ext cx="12240181" cy="2741040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E6D14-2387-433E-9CCC-CBBF83D1C692}" type="datetimeFigureOut">
              <a:rPr lang="pt-BR" smtClean="0"/>
              <a:t>23/08/2024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355B5-9339-416A-B0B0-13AF46D225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107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300044"/>
            <a:ext cx="24840367" cy="835012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784" y="10590160"/>
            <a:ext cx="12183928" cy="5190073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784" y="15780233"/>
            <a:ext cx="12183928" cy="2321034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0217" y="10590160"/>
            <a:ext cx="12243932" cy="5190073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0217" y="15780233"/>
            <a:ext cx="12243932" cy="2321034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E6D14-2387-433E-9CCC-CBBF83D1C692}" type="datetimeFigureOut">
              <a:rPr lang="pt-BR" smtClean="0"/>
              <a:t>23/08/2024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355B5-9339-416A-B0B0-13AF46D225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825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E6D14-2387-433E-9CCC-CBBF83D1C692}" type="datetimeFigureOut">
              <a:rPr lang="pt-BR" smtClean="0"/>
              <a:t>23/08/2024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355B5-9339-416A-B0B0-13AF46D225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3302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E6D14-2387-433E-9CCC-CBBF83D1C692}" type="datetimeFigureOut">
              <a:rPr lang="pt-BR" smtClean="0"/>
              <a:t>23/08/2024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355B5-9339-416A-B0B0-13AF46D225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2762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880042"/>
            <a:ext cx="9288887" cy="10080149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3932" y="6220102"/>
            <a:ext cx="14580215" cy="30700453"/>
          </a:xfrm>
        </p:spPr>
        <p:txBody>
          <a:bodyPr/>
          <a:lstStyle>
            <a:lvl1pPr>
              <a:defRPr sz="10079"/>
            </a:lvl1pPr>
            <a:lvl2pPr>
              <a:defRPr sz="8819"/>
            </a:lvl2pPr>
            <a:lvl3pPr>
              <a:defRPr sz="7559"/>
            </a:lvl3pPr>
            <a:lvl4pPr>
              <a:defRPr sz="6299"/>
            </a:lvl4pPr>
            <a:lvl5pPr>
              <a:defRPr sz="6299"/>
            </a:lvl5pPr>
            <a:lvl6pPr>
              <a:defRPr sz="6299"/>
            </a:lvl6pPr>
            <a:lvl7pPr>
              <a:defRPr sz="6299"/>
            </a:lvl7pPr>
            <a:lvl8pPr>
              <a:defRPr sz="6299"/>
            </a:lvl8pPr>
            <a:lvl9pPr>
              <a:defRPr sz="6299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12960191"/>
            <a:ext cx="9288887" cy="24010358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E6D14-2387-433E-9CCC-CBBF83D1C692}" type="datetimeFigureOut">
              <a:rPr lang="pt-BR" smtClean="0"/>
              <a:t>23/08/2024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355B5-9339-416A-B0B0-13AF46D225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30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880042"/>
            <a:ext cx="9288887" cy="10080149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3932" y="6220102"/>
            <a:ext cx="14580215" cy="30700453"/>
          </a:xfrm>
        </p:spPr>
        <p:txBody>
          <a:bodyPr anchor="t"/>
          <a:lstStyle>
            <a:lvl1pPr marL="0" indent="0">
              <a:buNone/>
              <a:defRPr sz="10079"/>
            </a:lvl1pPr>
            <a:lvl2pPr marL="1440043" indent="0">
              <a:buNone/>
              <a:defRPr sz="8819"/>
            </a:lvl2pPr>
            <a:lvl3pPr marL="2880086" indent="0">
              <a:buNone/>
              <a:defRPr sz="7559"/>
            </a:lvl3pPr>
            <a:lvl4pPr marL="4320129" indent="0">
              <a:buNone/>
              <a:defRPr sz="6299"/>
            </a:lvl4pPr>
            <a:lvl5pPr marL="5760171" indent="0">
              <a:buNone/>
              <a:defRPr sz="6299"/>
            </a:lvl5pPr>
            <a:lvl6pPr marL="7200214" indent="0">
              <a:buNone/>
              <a:defRPr sz="6299"/>
            </a:lvl6pPr>
            <a:lvl7pPr marL="8640257" indent="0">
              <a:buNone/>
              <a:defRPr sz="6299"/>
            </a:lvl7pPr>
            <a:lvl8pPr marL="10080300" indent="0">
              <a:buNone/>
              <a:defRPr sz="6299"/>
            </a:lvl8pPr>
            <a:lvl9pPr marL="11520343" indent="0">
              <a:buNone/>
              <a:defRPr sz="6299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12960191"/>
            <a:ext cx="9288887" cy="24010358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E6D14-2387-433E-9CCC-CBBF83D1C692}" type="datetimeFigureOut">
              <a:rPr lang="pt-BR" smtClean="0"/>
              <a:t>23/08/2024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355B5-9339-416A-B0B0-13AF46D225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3529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E6D14-2387-433E-9CCC-CBBF83D1C692}" type="datetimeFigureOut">
              <a:rPr lang="pt-BR" smtClean="0"/>
              <a:t>23/08/2024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355B5-9339-416A-B0B0-13AF46D225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7241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0306" y="2300034"/>
            <a:ext cx="6210092" cy="366105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031" y="2300034"/>
            <a:ext cx="18270270" cy="3661054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E6D14-2387-433E-9CCC-CBBF83D1C692}" type="datetimeFigureOut">
              <a:rPr lang="pt-BR" smtClean="0"/>
              <a:t>23/08/2024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355B5-9339-416A-B0B0-13AF46D225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3204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029" y="2300044"/>
            <a:ext cx="24840367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029" y="11500170"/>
            <a:ext cx="24840367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029" y="40040601"/>
            <a:ext cx="6480096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EE6D14-2387-433E-9CCC-CBBF83D1C692}" type="datetimeFigureOut">
              <a:rPr lang="pt-BR" smtClean="0"/>
              <a:t>23/08/2024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0141" y="40040601"/>
            <a:ext cx="9720143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0300" y="40040601"/>
            <a:ext cx="6480096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9355B5-9339-416A-B0B0-13AF46D225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2599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880086" rtl="0" eaLnBrk="1" latinLnBrk="0" hangingPunct="1">
        <a:lnSpc>
          <a:spcPct val="90000"/>
        </a:lnSpc>
        <a:spcBef>
          <a:spcPct val="0"/>
        </a:spcBef>
        <a:buNone/>
        <a:defRPr sz="13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21" indent="-720021" algn="l" defTabSz="2880086" rtl="0" eaLnBrk="1" latinLnBrk="0" hangingPunct="1">
        <a:lnSpc>
          <a:spcPct val="90000"/>
        </a:lnSpc>
        <a:spcBef>
          <a:spcPts val="3150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1pPr>
      <a:lvl2pPr marL="21600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2pPr>
      <a:lvl3pPr marL="3600107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6299" kern="1200">
          <a:solidFill>
            <a:schemeClr val="tx1"/>
          </a:solidFill>
          <a:latin typeface="+mn-lt"/>
          <a:ea typeface="+mn-ea"/>
          <a:cs typeface="+mn-cs"/>
        </a:defRPr>
      </a:lvl3pPr>
      <a:lvl4pPr marL="5040150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6480193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920236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9360278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800321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22403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880086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3pPr>
      <a:lvl4pPr marL="4320129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5760171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200214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8640257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08030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15203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FBB01-4ACE-5530-2728-7907A1D27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232" y="8661339"/>
            <a:ext cx="27384993" cy="2507930"/>
          </a:xfrm>
          <a:ln w="19050">
            <a:solidFill>
              <a:srgbClr val="150206"/>
            </a:solidFill>
          </a:ln>
        </p:spPr>
        <p:txBody>
          <a:bodyPr>
            <a:noAutofit/>
          </a:bodyPr>
          <a:lstStyle/>
          <a:p>
            <a:pPr algn="ctr"/>
            <a:r>
              <a:rPr lang="pt-BR" sz="8000" dirty="0">
                <a:latin typeface="Barlow" panose="00000500000000000000" pitchFamily="2" charset="0"/>
              </a:rPr>
              <a:t>Comparação de </a:t>
            </a:r>
            <a:r>
              <a:rPr lang="pt-BR" sz="8000" dirty="0" err="1">
                <a:latin typeface="Barlow" panose="00000500000000000000" pitchFamily="2" charset="0"/>
              </a:rPr>
              <a:t>LLMs</a:t>
            </a:r>
            <a:r>
              <a:rPr lang="pt-BR" sz="8000" dirty="0">
                <a:latin typeface="Barlow" panose="00000500000000000000" pitchFamily="2" charset="0"/>
              </a:rPr>
              <a:t> aplicados a temas do agronegócio: SB100 no manejo de lavouras e nutrição de plantas.</a:t>
            </a:r>
            <a:r>
              <a:rPr lang="pt-BR" sz="9000" dirty="0">
                <a:latin typeface="Barlow" panose="00000500000000000000" pitchFamily="2" charset="0"/>
              </a:rPr>
              <a:t> 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595CA29-5D49-EFD5-D757-E3FAC7A72FB3}"/>
              </a:ext>
            </a:extLst>
          </p:cNvPr>
          <p:cNvSpPr/>
          <p:nvPr/>
        </p:nvSpPr>
        <p:spPr>
          <a:xfrm>
            <a:off x="17175946" y="1992319"/>
            <a:ext cx="10935166" cy="6264000"/>
          </a:xfrm>
          <a:prstGeom prst="rect">
            <a:avLst/>
          </a:prstGeom>
          <a:solidFill>
            <a:srgbClr val="150206"/>
          </a:solidFill>
          <a:ln>
            <a:solidFill>
              <a:srgbClr val="150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>
                <a:solidFill>
                  <a:sysClr val="windowText" lastClr="000000"/>
                </a:solidFill>
              </a:ln>
              <a:latin typeface="Barlow" panose="00000500000000000000" pitchFamily="2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655B18E-59F6-F0BB-C23E-48EBEFE84563}"/>
              </a:ext>
            </a:extLst>
          </p:cNvPr>
          <p:cNvSpPr txBox="1"/>
          <p:nvPr/>
        </p:nvSpPr>
        <p:spPr>
          <a:xfrm>
            <a:off x="17515113" y="2075445"/>
            <a:ext cx="10080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>
                <a:solidFill>
                  <a:schemeClr val="bg1"/>
                </a:solidFill>
                <a:latin typeface="Barlow" panose="00000500000000000000" pitchFamily="2" charset="0"/>
              </a:rPr>
              <a:t>Autores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8E61392-A18D-49D9-9BFD-F7F47EEC7FD0}"/>
              </a:ext>
            </a:extLst>
          </p:cNvPr>
          <p:cNvSpPr txBox="1"/>
          <p:nvPr/>
        </p:nvSpPr>
        <p:spPr>
          <a:xfrm>
            <a:off x="17603443" y="4761777"/>
            <a:ext cx="100801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48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endParaRPr lang="pt-BR" sz="48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r>
              <a:rPr lang="pt-BR" sz="4800" dirty="0">
                <a:solidFill>
                  <a:schemeClr val="bg1"/>
                </a:solidFill>
                <a:latin typeface="Barlow" panose="00000500000000000000" pitchFamily="2" charset="0"/>
              </a:rPr>
              <a:t>Filiação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BE9A174-8BC2-8E0E-0C84-88640E7DB921}"/>
              </a:ext>
            </a:extLst>
          </p:cNvPr>
          <p:cNvSpPr txBox="1"/>
          <p:nvPr/>
        </p:nvSpPr>
        <p:spPr>
          <a:xfrm>
            <a:off x="17861019" y="2985516"/>
            <a:ext cx="981046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  <a:latin typeface="Barlow" panose="00000500000000000000" pitchFamily="2" charset="0"/>
              </a:rPr>
              <a:t>Gerardi, Dirceu André </a:t>
            </a:r>
            <a:r>
              <a:rPr lang="pt-BR" sz="4000" baseline="30000" dirty="0">
                <a:solidFill>
                  <a:schemeClr val="bg1"/>
                </a:solidFill>
                <a:latin typeface="Barlow" panose="00000500000000000000" pitchFamily="2" charset="0"/>
              </a:rPr>
              <a:t>1</a:t>
            </a:r>
          </a:p>
          <a:p>
            <a:r>
              <a:rPr lang="pt-BR" sz="4000" dirty="0">
                <a:solidFill>
                  <a:schemeClr val="bg1"/>
                </a:solidFill>
                <a:latin typeface="Barlow" panose="00000500000000000000" pitchFamily="2" charset="0"/>
              </a:rPr>
              <a:t>Aceno, Jean </a:t>
            </a:r>
            <a:r>
              <a:rPr lang="pt-BR" sz="4000" baseline="30000" dirty="0">
                <a:solidFill>
                  <a:schemeClr val="bg1"/>
                </a:solidFill>
                <a:latin typeface="Barlow" panose="00000500000000000000" pitchFamily="2" charset="0"/>
              </a:rPr>
              <a:t>2</a:t>
            </a:r>
            <a:endParaRPr lang="pt-BR" sz="40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r>
              <a:rPr lang="pt-BR" sz="4000" dirty="0">
                <a:solidFill>
                  <a:schemeClr val="bg1"/>
                </a:solidFill>
                <a:latin typeface="Barlow" panose="00000500000000000000" pitchFamily="2" charset="0"/>
              </a:rPr>
              <a:t>Cassitas, Julia</a:t>
            </a:r>
            <a:r>
              <a:rPr lang="pt-BR" sz="4000" baseline="30000" dirty="0">
                <a:solidFill>
                  <a:schemeClr val="bg1"/>
                </a:solidFill>
                <a:latin typeface="Barlow" panose="00000500000000000000" pitchFamily="2" charset="0"/>
              </a:rPr>
              <a:t> 3</a:t>
            </a:r>
          </a:p>
          <a:p>
            <a:r>
              <a:rPr lang="pt-BR" sz="4000" dirty="0">
                <a:solidFill>
                  <a:schemeClr val="bg1"/>
                </a:solidFill>
                <a:latin typeface="Barlow" panose="00000500000000000000" pitchFamily="2" charset="0"/>
              </a:rPr>
              <a:t>Velloso, André </a:t>
            </a:r>
            <a:r>
              <a:rPr lang="pt-BR" sz="4000" baseline="30000" dirty="0">
                <a:solidFill>
                  <a:schemeClr val="bg1"/>
                </a:solidFill>
                <a:latin typeface="Barlow" panose="00000500000000000000" pitchFamily="2" charset="0"/>
              </a:rPr>
              <a:t>4</a:t>
            </a:r>
            <a:endParaRPr lang="pt-BR" sz="40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r>
              <a:rPr lang="pt-BR" sz="4000" dirty="0">
                <a:solidFill>
                  <a:schemeClr val="bg1"/>
                </a:solidFill>
                <a:latin typeface="Barlow" panose="00000500000000000000" pitchFamily="2" charset="0"/>
              </a:rPr>
              <a:t>Silva Junior, Braz Izaias</a:t>
            </a:r>
            <a:r>
              <a:rPr lang="pt-BR" sz="4000" baseline="30000" dirty="0">
                <a:solidFill>
                  <a:schemeClr val="bg1"/>
                </a:solidFill>
                <a:latin typeface="Barlow" panose="00000500000000000000" pitchFamily="2" charset="0"/>
              </a:rPr>
              <a:t> 5</a:t>
            </a:r>
            <a:endParaRPr lang="pt-BR" sz="4000" dirty="0">
              <a:solidFill>
                <a:schemeClr val="bg1"/>
              </a:solidFill>
              <a:latin typeface="Barlow" panose="00000500000000000000" pitchFamily="2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351A6FF-D1CF-0A57-FE6B-5D3DE8791144}"/>
              </a:ext>
            </a:extLst>
          </p:cNvPr>
          <p:cNvSpPr txBox="1"/>
          <p:nvPr/>
        </p:nvSpPr>
        <p:spPr>
          <a:xfrm>
            <a:off x="17861019" y="5930812"/>
            <a:ext cx="981046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40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endParaRPr lang="pt-BR" sz="40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r>
              <a:rPr lang="pt-BR" sz="4000" dirty="0">
                <a:solidFill>
                  <a:schemeClr val="bg1"/>
                </a:solidFill>
                <a:latin typeface="Barlow" panose="00000500000000000000" pitchFamily="2" charset="0"/>
              </a:rPr>
              <a:t>1,2,3,4,5: Fatec Cotia</a:t>
            </a: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CF32EFD8-2344-69AD-E613-AD24EBF86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150" y="1613581"/>
            <a:ext cx="16637426" cy="7084101"/>
          </a:xfrm>
          <a:prstGeom prst="rect">
            <a:avLst/>
          </a:prstGeom>
        </p:spPr>
      </p:pic>
      <p:sp>
        <p:nvSpPr>
          <p:cNvPr id="25" name="Retângulo 24">
            <a:extLst>
              <a:ext uri="{FF2B5EF4-FFF2-40B4-BE49-F238E27FC236}">
                <a16:creationId xmlns:a16="http://schemas.microsoft.com/office/drawing/2014/main" id="{79E087F0-2BDE-F8B1-A27B-BB602CC9008E}"/>
              </a:ext>
            </a:extLst>
          </p:cNvPr>
          <p:cNvSpPr/>
          <p:nvPr/>
        </p:nvSpPr>
        <p:spPr>
          <a:xfrm>
            <a:off x="721193" y="11510309"/>
            <a:ext cx="13343150" cy="6235341"/>
          </a:xfrm>
          <a:prstGeom prst="rect">
            <a:avLst/>
          </a:prstGeom>
          <a:noFill/>
          <a:ln>
            <a:solidFill>
              <a:srgbClr val="150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400">
              <a:ln>
                <a:solidFill>
                  <a:sysClr val="windowText" lastClr="000000"/>
                </a:solidFill>
              </a:ln>
              <a:latin typeface="Barlow" panose="00000500000000000000" pitchFamily="2" charset="0"/>
            </a:endParaRP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ED58D6D0-0A03-A592-C6A9-37FD79AC54DD}"/>
              </a:ext>
            </a:extLst>
          </p:cNvPr>
          <p:cNvSpPr/>
          <p:nvPr/>
        </p:nvSpPr>
        <p:spPr>
          <a:xfrm>
            <a:off x="14736082" y="11510309"/>
            <a:ext cx="13343150" cy="6235341"/>
          </a:xfrm>
          <a:prstGeom prst="rect">
            <a:avLst/>
          </a:prstGeom>
          <a:noFill/>
          <a:ln>
            <a:solidFill>
              <a:srgbClr val="150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400">
              <a:ln>
                <a:solidFill>
                  <a:sysClr val="windowText" lastClr="000000"/>
                </a:solidFill>
              </a:ln>
              <a:latin typeface="Barlow" panose="000005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44ED44D-71F6-C173-B9C2-0F00303DDEBE}"/>
              </a:ext>
            </a:extLst>
          </p:cNvPr>
          <p:cNvSpPr txBox="1"/>
          <p:nvPr/>
        </p:nvSpPr>
        <p:spPr>
          <a:xfrm>
            <a:off x="715232" y="11554696"/>
            <a:ext cx="133491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latin typeface="Barlow" panose="00000500000000000000" pitchFamily="2" charset="0"/>
              </a:rPr>
              <a:t>Introdução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4E04645-D445-D0B2-B7DC-112492DB4D7C}"/>
              </a:ext>
            </a:extLst>
          </p:cNvPr>
          <p:cNvSpPr txBox="1"/>
          <p:nvPr/>
        </p:nvSpPr>
        <p:spPr>
          <a:xfrm>
            <a:off x="1063797" y="12246845"/>
            <a:ext cx="1298448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/>
            </a:lvl1pPr>
          </a:lstStyle>
          <a:p>
            <a:pPr algn="just"/>
            <a:r>
              <a:rPr lang="pt-BR" sz="3600" dirty="0">
                <a:latin typeface="Barlow" panose="00000500000000000000" pitchFamily="2" charset="0"/>
              </a:rPr>
              <a:t>O desenvolvimento de algoritmos de IA generativos avançou nos últimos anos com a introdução da arquitetura </a:t>
            </a:r>
            <a:r>
              <a:rPr lang="pt-BR" sz="3600" dirty="0" err="1">
                <a:latin typeface="Barlow" panose="00000500000000000000" pitchFamily="2" charset="0"/>
              </a:rPr>
              <a:t>Transformer</a:t>
            </a:r>
            <a:r>
              <a:rPr lang="pt-BR" sz="3600" dirty="0">
                <a:latin typeface="Barlow" panose="00000500000000000000" pitchFamily="2" charset="0"/>
              </a:rPr>
              <a:t> em 2017. A inovação surge com a introdução de mecanismos de atenção focado no significado semântico das palavras. A pesquisa compara os resultados de modelos de LLM na análise de um </a:t>
            </a:r>
            <a:r>
              <a:rPr lang="pt-BR" sz="3600" dirty="0" err="1">
                <a:latin typeface="Barlow" panose="00000500000000000000" pitchFamily="2" charset="0"/>
              </a:rPr>
              <a:t>dataset</a:t>
            </a:r>
            <a:r>
              <a:rPr lang="pt-BR" sz="3600" dirty="0">
                <a:latin typeface="Barlow" panose="00000500000000000000" pitchFamily="2" charset="0"/>
              </a:rPr>
              <a:t> sobre manejo de lavouras e nutrição de plantas. A principal novidade da pesquisa está em comparar </a:t>
            </a:r>
            <a:r>
              <a:rPr lang="pt-BR" sz="3600" dirty="0" err="1">
                <a:latin typeface="Barlow" panose="00000500000000000000" pitchFamily="2" charset="0"/>
              </a:rPr>
              <a:t>RNNs</a:t>
            </a:r>
            <a:r>
              <a:rPr lang="pt-BR" sz="3600" dirty="0">
                <a:latin typeface="Barlow" panose="00000500000000000000" pitchFamily="2" charset="0"/>
              </a:rPr>
              <a:t> e Transformers buscando determinar qual modelo oferece o melhor desempenho na interpretação do manejo de lavouras e nutrição de plantas.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5282A1E-06FB-3D67-DED1-730FC012106A}"/>
              </a:ext>
            </a:extLst>
          </p:cNvPr>
          <p:cNvSpPr txBox="1"/>
          <p:nvPr/>
        </p:nvSpPr>
        <p:spPr>
          <a:xfrm>
            <a:off x="14762001" y="11545900"/>
            <a:ext cx="133491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latin typeface="Barlow" panose="00000500000000000000" pitchFamily="2" charset="0"/>
              </a:rPr>
              <a:t>Objetivo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7E873D3-8166-9EEF-5CE1-03989AD1947D}"/>
              </a:ext>
            </a:extLst>
          </p:cNvPr>
          <p:cNvSpPr txBox="1"/>
          <p:nvPr/>
        </p:nvSpPr>
        <p:spPr>
          <a:xfrm>
            <a:off x="15126632" y="13568197"/>
            <a:ext cx="129844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/>
            </a:lvl1pPr>
          </a:lstStyle>
          <a:p>
            <a:r>
              <a:rPr lang="pt-BR" sz="3600" dirty="0">
                <a:latin typeface="Barlow" panose="00000500000000000000" pitchFamily="2" charset="0"/>
              </a:rPr>
              <a:t>O objetivo do projeto é comparar o desempenho de modelos LLM baseados em RNN e </a:t>
            </a:r>
            <a:r>
              <a:rPr lang="pt-BR" sz="3600" dirty="0" err="1">
                <a:latin typeface="Barlow" panose="00000500000000000000" pitchFamily="2" charset="0"/>
              </a:rPr>
              <a:t>Transformer</a:t>
            </a:r>
            <a:r>
              <a:rPr lang="pt-BR" sz="3600" dirty="0">
                <a:latin typeface="Barlow" panose="00000500000000000000" pitchFamily="2" charset="0"/>
              </a:rPr>
              <a:t> na análise de dados sobre agronegócio.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67DC8C7-E402-A963-AC18-A03E1140E75B}"/>
              </a:ext>
            </a:extLst>
          </p:cNvPr>
          <p:cNvSpPr/>
          <p:nvPr/>
        </p:nvSpPr>
        <p:spPr>
          <a:xfrm>
            <a:off x="689313" y="18246521"/>
            <a:ext cx="13343150" cy="6235341"/>
          </a:xfrm>
          <a:prstGeom prst="rect">
            <a:avLst/>
          </a:prstGeom>
          <a:noFill/>
          <a:ln>
            <a:solidFill>
              <a:srgbClr val="150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400">
              <a:ln>
                <a:solidFill>
                  <a:sysClr val="windowText" lastClr="000000"/>
                </a:solidFill>
              </a:ln>
              <a:latin typeface="Barlow" panose="00000500000000000000" pitchFamily="2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CFE249D-7A8D-8064-E4EC-B051912C45DE}"/>
              </a:ext>
            </a:extLst>
          </p:cNvPr>
          <p:cNvSpPr/>
          <p:nvPr/>
        </p:nvSpPr>
        <p:spPr>
          <a:xfrm>
            <a:off x="14704202" y="18246521"/>
            <a:ext cx="13343150" cy="6235341"/>
          </a:xfrm>
          <a:prstGeom prst="rect">
            <a:avLst/>
          </a:prstGeom>
          <a:noFill/>
          <a:ln>
            <a:solidFill>
              <a:srgbClr val="150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400">
              <a:ln>
                <a:solidFill>
                  <a:sysClr val="windowText" lastClr="000000"/>
                </a:solidFill>
              </a:ln>
              <a:latin typeface="Barlow" panose="00000500000000000000" pitchFamily="2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935E36C-028F-D2DB-0EB4-6195D32ABE02}"/>
              </a:ext>
            </a:extLst>
          </p:cNvPr>
          <p:cNvSpPr txBox="1"/>
          <p:nvPr/>
        </p:nvSpPr>
        <p:spPr>
          <a:xfrm>
            <a:off x="683352" y="18290908"/>
            <a:ext cx="133491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latin typeface="Barlow" panose="00000500000000000000" pitchFamily="2" charset="0"/>
              </a:rPr>
              <a:t>Contexto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E8059D2-00A1-329C-00D8-D0CE5992E81A}"/>
              </a:ext>
            </a:extLst>
          </p:cNvPr>
          <p:cNvSpPr txBox="1"/>
          <p:nvPr/>
        </p:nvSpPr>
        <p:spPr>
          <a:xfrm>
            <a:off x="1031917" y="18983057"/>
            <a:ext cx="1298448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/>
            </a:lvl1pPr>
          </a:lstStyle>
          <a:p>
            <a:pPr algn="just"/>
            <a:r>
              <a:rPr lang="pt-BR" sz="3600" dirty="0">
                <a:latin typeface="Barlow" panose="00000500000000000000" pitchFamily="2" charset="0"/>
              </a:rPr>
              <a:t>Redes neurais recorrentes (</a:t>
            </a:r>
            <a:r>
              <a:rPr lang="pt-BR" sz="3600" dirty="0" err="1">
                <a:latin typeface="Barlow" panose="00000500000000000000" pitchFamily="2" charset="0"/>
              </a:rPr>
              <a:t>RNNs</a:t>
            </a:r>
            <a:r>
              <a:rPr lang="pt-BR" sz="3600" dirty="0">
                <a:latin typeface="Barlow" panose="00000500000000000000" pitchFamily="2" charset="0"/>
              </a:rPr>
              <a:t>) utilizadas no passado enfrentavam limitações na geração efetiva de linguagem devido a restrições computacionais. A introdução da arquitetura </a:t>
            </a:r>
            <a:r>
              <a:rPr lang="pt-BR" sz="3600" dirty="0" err="1">
                <a:latin typeface="Barlow" panose="00000500000000000000" pitchFamily="2" charset="0"/>
              </a:rPr>
              <a:t>Transformer</a:t>
            </a:r>
            <a:r>
              <a:rPr lang="pt-BR" sz="3600" dirty="0">
                <a:latin typeface="Barlow" panose="00000500000000000000" pitchFamily="2" charset="0"/>
              </a:rPr>
              <a:t> possibilitou processamento paralelo e escalonamento mais eficientes, revolucionando as capacidades generativas (</a:t>
            </a:r>
            <a:r>
              <a:rPr lang="pt-BR" sz="3600" dirty="0" err="1">
                <a:latin typeface="Barlow" panose="00000500000000000000" pitchFamily="2" charset="0"/>
              </a:rPr>
              <a:t>Vaswani</a:t>
            </a:r>
            <a:r>
              <a:rPr lang="pt-BR" sz="3600" dirty="0">
                <a:latin typeface="Barlow" panose="00000500000000000000" pitchFamily="2" charset="0"/>
              </a:rPr>
              <a:t> et al., 2017; Karita et al., 2019). A inovação chave foi o estabelecimento de mecanismos de atenção para que o modelo focasse no significado semântico ao invés de apenas prever a próxima palavra.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3C4BAD4-5CDA-AB15-0F94-937BC459F391}"/>
              </a:ext>
            </a:extLst>
          </p:cNvPr>
          <p:cNvSpPr txBox="1"/>
          <p:nvPr/>
        </p:nvSpPr>
        <p:spPr>
          <a:xfrm>
            <a:off x="14730121" y="18282112"/>
            <a:ext cx="133491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latin typeface="Barlow" panose="00000500000000000000" pitchFamily="2" charset="0"/>
              </a:rPr>
              <a:t>Materiais e Métodos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855F3BF-B195-417D-25C6-A04305922B80}"/>
              </a:ext>
            </a:extLst>
          </p:cNvPr>
          <p:cNvSpPr txBox="1"/>
          <p:nvPr/>
        </p:nvSpPr>
        <p:spPr>
          <a:xfrm>
            <a:off x="15049977" y="18969207"/>
            <a:ext cx="1298448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/>
            </a:lvl1pPr>
          </a:lstStyle>
          <a:p>
            <a:pPr algn="just"/>
            <a:r>
              <a:rPr lang="pt-BR" sz="3600" dirty="0">
                <a:latin typeface="Barlow" panose="00000500000000000000" pitchFamily="2" charset="0"/>
              </a:rPr>
              <a:t>A preparação para LLM e o uso do Sistema SB100 envolve quatro fases principais: 1. Recebimento e armazenamento de informações na base de dados inicial; 2. Seleção e anotação dos dados, incluindo segmentação e incorporação de metadados; 3. Vetorização e </a:t>
            </a:r>
            <a:r>
              <a:rPr lang="pt-BR" sz="3600" dirty="0" err="1">
                <a:latin typeface="Barlow" panose="00000500000000000000" pitchFamily="2" charset="0"/>
              </a:rPr>
              <a:t>embedding</a:t>
            </a:r>
            <a:r>
              <a:rPr lang="pt-BR" sz="3600" dirty="0">
                <a:latin typeface="Barlow" panose="00000500000000000000" pitchFamily="2" charset="0"/>
              </a:rPr>
              <a:t> dos dados estruturados, com armazenamento e indexação vetorial para consultas eficientes; 4. Consulta por similaridade, onde perguntas são integradas ao espaço vetorial para recuperar e apresentar dados relevantes ao modelo LLM. 5. Mineração de dados: LLM gera respostas contextualizadas e informativas.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91893CA-FFC5-0CDD-CA0F-6563F6F9F874}"/>
              </a:ext>
            </a:extLst>
          </p:cNvPr>
          <p:cNvSpPr/>
          <p:nvPr/>
        </p:nvSpPr>
        <p:spPr>
          <a:xfrm>
            <a:off x="721193" y="25173686"/>
            <a:ext cx="27313264" cy="11502067"/>
          </a:xfrm>
          <a:prstGeom prst="rect">
            <a:avLst/>
          </a:prstGeom>
          <a:noFill/>
          <a:ln>
            <a:solidFill>
              <a:srgbClr val="150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400">
              <a:ln>
                <a:solidFill>
                  <a:sysClr val="windowText" lastClr="000000"/>
                </a:solidFill>
              </a:ln>
              <a:latin typeface="Barlow" panose="00000500000000000000" pitchFamily="2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363F23F-E01F-034D-132C-FAA75EB76028}"/>
              </a:ext>
            </a:extLst>
          </p:cNvPr>
          <p:cNvSpPr txBox="1"/>
          <p:nvPr/>
        </p:nvSpPr>
        <p:spPr>
          <a:xfrm>
            <a:off x="715232" y="25218073"/>
            <a:ext cx="133491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latin typeface="Barlow" panose="00000500000000000000" pitchFamily="2" charset="0"/>
              </a:rPr>
              <a:t>Análise e Discussão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8C55EAF-DE1E-690B-9BE2-F17D67A7DB3D}"/>
              </a:ext>
            </a:extLst>
          </p:cNvPr>
          <p:cNvSpPr txBox="1"/>
          <p:nvPr/>
        </p:nvSpPr>
        <p:spPr>
          <a:xfrm>
            <a:off x="1111743" y="25902968"/>
            <a:ext cx="12952600" cy="11172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/>
            </a:lvl1pPr>
          </a:lstStyle>
          <a:p>
            <a:pPr algn="just"/>
            <a:r>
              <a:rPr lang="pt-BR" sz="3600" dirty="0">
                <a:latin typeface="Barlow" panose="00000500000000000000" pitchFamily="2" charset="0"/>
              </a:rPr>
              <a:t>Estudo preliminar será observar o comportamento dos modelos utilizando as duas técnicas, no contexto da base de dados relativa aos temas do agronegócio, manejo de lavouras e nutrição de plantas. </a:t>
            </a:r>
          </a:p>
          <a:p>
            <a:pPr algn="just"/>
            <a:r>
              <a:rPr lang="pt-BR" sz="3600" dirty="0">
                <a:latin typeface="Barlow" panose="00000500000000000000" pitchFamily="2" charset="0"/>
              </a:rPr>
              <a:t>Acredita-se que os resultados do </a:t>
            </a:r>
            <a:r>
              <a:rPr lang="pt-BR" sz="3600" dirty="0" err="1">
                <a:latin typeface="Barlow" panose="00000500000000000000" pitchFamily="2" charset="0"/>
              </a:rPr>
              <a:t>Transformer</a:t>
            </a:r>
            <a:r>
              <a:rPr lang="pt-BR" sz="3600" dirty="0">
                <a:latin typeface="Barlow" panose="00000500000000000000" pitchFamily="2" charset="0"/>
              </a:rPr>
              <a:t> serão superiores, mas uma comprovação prática será importante neste estágio de trabalho do projeto. Esta será a hipótese norteadora para o planejamento das próximas etapas da proposta. </a:t>
            </a:r>
          </a:p>
          <a:p>
            <a:pPr algn="just"/>
            <a:r>
              <a:rPr lang="pt-BR" sz="3600" dirty="0">
                <a:latin typeface="Barlow" panose="00000500000000000000" pitchFamily="2" charset="0"/>
              </a:rPr>
              <a:t>Comprovada a hipótese, o modelo LLM a ser adotado para o SB100 será baseado na arquitetura </a:t>
            </a:r>
            <a:r>
              <a:rPr lang="pt-BR" sz="3600" dirty="0" err="1">
                <a:latin typeface="Barlow" panose="00000500000000000000" pitchFamily="2" charset="0"/>
              </a:rPr>
              <a:t>Transformer</a:t>
            </a:r>
            <a:r>
              <a:rPr lang="pt-BR" sz="3600" dirty="0">
                <a:latin typeface="Barlow" panose="00000500000000000000" pitchFamily="2" charset="0"/>
              </a:rPr>
              <a:t>, que utiliza mecanismos de atenção </a:t>
            </a:r>
            <a:r>
              <a:rPr lang="pt-BR" sz="3600" dirty="0" err="1">
                <a:latin typeface="Barlow" panose="00000500000000000000" pitchFamily="2" charset="0"/>
              </a:rPr>
              <a:t>auto-regressivas</a:t>
            </a:r>
            <a:r>
              <a:rPr lang="pt-BR" sz="3600" dirty="0">
                <a:latin typeface="Barlow" panose="00000500000000000000" pitchFamily="2" charset="0"/>
              </a:rPr>
              <a:t>, permitindo a captura de relações entre palavras e frases em um texto, bem como contexto e significado do mesmo. </a:t>
            </a:r>
          </a:p>
          <a:p>
            <a:pPr algn="just"/>
            <a:r>
              <a:rPr lang="pt-BR" sz="3600" dirty="0">
                <a:latin typeface="Barlow" panose="00000500000000000000" pitchFamily="2" charset="0"/>
              </a:rPr>
              <a:t>O </a:t>
            </a:r>
            <a:r>
              <a:rPr lang="pt-BR" sz="3600" dirty="0" err="1">
                <a:latin typeface="Barlow" panose="00000500000000000000" pitchFamily="2" charset="0"/>
              </a:rPr>
              <a:t>Transformer</a:t>
            </a:r>
            <a:r>
              <a:rPr lang="pt-BR" sz="3600" dirty="0">
                <a:latin typeface="Barlow" panose="00000500000000000000" pitchFamily="2" charset="0"/>
              </a:rPr>
              <a:t> é dividido em duas partes: o codificador, que converte um texto em tokens para uma representação vetorial (</a:t>
            </a:r>
            <a:r>
              <a:rPr lang="pt-BR" sz="3600" dirty="0" err="1">
                <a:latin typeface="Barlow" panose="00000500000000000000" pitchFamily="2" charset="0"/>
              </a:rPr>
              <a:t>embedding</a:t>
            </a:r>
            <a:r>
              <a:rPr lang="pt-BR" sz="3600" dirty="0">
                <a:latin typeface="Barlow" panose="00000500000000000000" pitchFamily="2" charset="0"/>
              </a:rPr>
              <a:t>), e o decodificador, que usa esse </a:t>
            </a:r>
            <a:r>
              <a:rPr lang="pt-BR" sz="3600" dirty="0" err="1">
                <a:latin typeface="Barlow" panose="00000500000000000000" pitchFamily="2" charset="0"/>
              </a:rPr>
              <a:t>embedding</a:t>
            </a:r>
            <a:r>
              <a:rPr lang="pt-BR" sz="3600" dirty="0">
                <a:latin typeface="Barlow" panose="00000500000000000000" pitchFamily="2" charset="0"/>
              </a:rPr>
              <a:t> para gerar um novo texto, palavra por palavra. O modelo será </a:t>
            </a:r>
            <a:r>
              <a:rPr lang="pt-BR" sz="3600" dirty="0" err="1">
                <a:latin typeface="Barlow" panose="00000500000000000000" pitchFamily="2" charset="0"/>
              </a:rPr>
              <a:t>pré</a:t>
            </a:r>
            <a:r>
              <a:rPr lang="pt-BR" sz="3600" dirty="0">
                <a:latin typeface="Barlow" panose="00000500000000000000" pitchFamily="2" charset="0"/>
              </a:rPr>
              <a:t>-treinado em um grande corpus de textos agronômicos segundo a arquitetura disposta a seguir:</a:t>
            </a:r>
          </a:p>
          <a:p>
            <a:pPr algn="just"/>
            <a:endParaRPr lang="pt-BR" sz="3600" dirty="0">
              <a:latin typeface="Barlow" panose="00000500000000000000" pitchFamily="2" charset="0"/>
            </a:endParaRP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ABC57CB4-7E66-AF4C-6017-7C86570D43BD}"/>
              </a:ext>
            </a:extLst>
          </p:cNvPr>
          <p:cNvSpPr/>
          <p:nvPr/>
        </p:nvSpPr>
        <p:spPr>
          <a:xfrm>
            <a:off x="689313" y="37097451"/>
            <a:ext cx="13343150" cy="5447087"/>
          </a:xfrm>
          <a:prstGeom prst="rect">
            <a:avLst/>
          </a:prstGeom>
          <a:noFill/>
          <a:ln>
            <a:solidFill>
              <a:srgbClr val="150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400">
              <a:ln>
                <a:solidFill>
                  <a:sysClr val="windowText" lastClr="000000"/>
                </a:solidFill>
              </a:ln>
              <a:latin typeface="Barlow" panose="00000500000000000000" pitchFamily="2" charset="0"/>
            </a:endParaRP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F8EAD64F-3427-B275-6042-8B421BC707F9}"/>
              </a:ext>
            </a:extLst>
          </p:cNvPr>
          <p:cNvSpPr/>
          <p:nvPr/>
        </p:nvSpPr>
        <p:spPr>
          <a:xfrm>
            <a:off x="14704202" y="37097451"/>
            <a:ext cx="13343150" cy="5447087"/>
          </a:xfrm>
          <a:prstGeom prst="rect">
            <a:avLst/>
          </a:prstGeom>
          <a:noFill/>
          <a:ln>
            <a:solidFill>
              <a:srgbClr val="150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400">
              <a:ln>
                <a:solidFill>
                  <a:sysClr val="windowText" lastClr="000000"/>
                </a:solidFill>
              </a:ln>
              <a:latin typeface="Barlow" panose="00000500000000000000" pitchFamily="2" charset="0"/>
            </a:endParaRP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9E8DE806-C130-B60E-4D28-F3A8BB44D781}"/>
              </a:ext>
            </a:extLst>
          </p:cNvPr>
          <p:cNvSpPr txBox="1"/>
          <p:nvPr/>
        </p:nvSpPr>
        <p:spPr>
          <a:xfrm>
            <a:off x="683352" y="37141838"/>
            <a:ext cx="133491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latin typeface="Barlow" panose="00000500000000000000" pitchFamily="2" charset="0"/>
              </a:rPr>
              <a:t>Conclusão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025BF802-42CC-9E83-3A19-360229BE9058}"/>
              </a:ext>
            </a:extLst>
          </p:cNvPr>
          <p:cNvSpPr txBox="1"/>
          <p:nvPr/>
        </p:nvSpPr>
        <p:spPr>
          <a:xfrm>
            <a:off x="1031917" y="37833987"/>
            <a:ext cx="129844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/>
            </a:lvl1pPr>
          </a:lstStyle>
          <a:p>
            <a:pPr algn="just"/>
            <a:r>
              <a:rPr lang="pt-BR" sz="3600" dirty="0">
                <a:latin typeface="Barlow" panose="00000500000000000000" pitchFamily="2" charset="0"/>
              </a:rPr>
              <a:t>O modelo LLM a ser adotado para o SB100 será baseado na arquitetura </a:t>
            </a:r>
            <a:r>
              <a:rPr lang="pt-BR" sz="3600" dirty="0" err="1">
                <a:latin typeface="Barlow" panose="00000500000000000000" pitchFamily="2" charset="0"/>
              </a:rPr>
              <a:t>Transformer</a:t>
            </a:r>
            <a:r>
              <a:rPr lang="pt-BR" sz="3600" dirty="0">
                <a:latin typeface="Barlow" panose="00000500000000000000" pitchFamily="2" charset="0"/>
              </a:rPr>
              <a:t>, que utiliza mecanismos de atenção </a:t>
            </a:r>
            <a:r>
              <a:rPr lang="pt-BR" sz="3600" dirty="0" err="1">
                <a:latin typeface="Barlow" panose="00000500000000000000" pitchFamily="2" charset="0"/>
              </a:rPr>
              <a:t>auto-regressivas</a:t>
            </a:r>
            <a:r>
              <a:rPr lang="pt-BR" sz="3600" dirty="0">
                <a:latin typeface="Barlow" panose="00000500000000000000" pitchFamily="2" charset="0"/>
              </a:rPr>
              <a:t>, permitindo a captura de relações entre palavras e frases em um texto, bem como contexto e significado.</a:t>
            </a:r>
          </a:p>
          <a:p>
            <a:pPr algn="just"/>
            <a:r>
              <a:rPr lang="pt-BR" sz="3600" dirty="0">
                <a:latin typeface="Barlow" panose="00000500000000000000" pitchFamily="2" charset="0"/>
              </a:rPr>
              <a:t> A vetorização garante ao o modelo LLM a capacidade de gerar tabelas, gráficos, texto descritivo, responder perguntas, bem como fazer comparações, extrair informações.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66FA7C08-760B-FEDC-88A8-7378EAAE78CC}"/>
              </a:ext>
            </a:extLst>
          </p:cNvPr>
          <p:cNvSpPr txBox="1"/>
          <p:nvPr/>
        </p:nvSpPr>
        <p:spPr>
          <a:xfrm>
            <a:off x="14730121" y="37133042"/>
            <a:ext cx="133491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latin typeface="Barlow" panose="00000500000000000000" pitchFamily="2" charset="0"/>
              </a:rPr>
              <a:t>Bibliografia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52A86BB3-574C-EE0A-58C1-D52162DAEB6A}"/>
              </a:ext>
            </a:extLst>
          </p:cNvPr>
          <p:cNvSpPr txBox="1"/>
          <p:nvPr/>
        </p:nvSpPr>
        <p:spPr>
          <a:xfrm>
            <a:off x="14720142" y="37833987"/>
            <a:ext cx="13343150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/>
            </a:lvl1pPr>
          </a:lstStyle>
          <a:p>
            <a:pPr algn="just"/>
            <a:r>
              <a:rPr lang="pt-BR" sz="3500" dirty="0">
                <a:latin typeface="Barlow" panose="00000500000000000000" pitchFamily="2" charset="0"/>
              </a:rPr>
              <a:t>LI, </a:t>
            </a:r>
            <a:r>
              <a:rPr lang="pt-BR" sz="3500" dirty="0" err="1">
                <a:latin typeface="Barlow" panose="00000500000000000000" pitchFamily="2" charset="0"/>
              </a:rPr>
              <a:t>Jiajia</a:t>
            </a:r>
            <a:r>
              <a:rPr lang="pt-BR" sz="3500" dirty="0">
                <a:latin typeface="Barlow" panose="00000500000000000000" pitchFamily="2" charset="0"/>
              </a:rPr>
              <a:t> et al. Foundation models in </a:t>
            </a:r>
            <a:r>
              <a:rPr lang="pt-BR" sz="3500" dirty="0" err="1">
                <a:latin typeface="Barlow" panose="00000500000000000000" pitchFamily="2" charset="0"/>
              </a:rPr>
              <a:t>smart</a:t>
            </a:r>
            <a:r>
              <a:rPr lang="pt-BR" sz="3500" dirty="0">
                <a:latin typeface="Barlow" panose="00000500000000000000" pitchFamily="2" charset="0"/>
              </a:rPr>
              <a:t> </a:t>
            </a:r>
            <a:r>
              <a:rPr lang="pt-BR" sz="3500" dirty="0" err="1">
                <a:latin typeface="Barlow" panose="00000500000000000000" pitchFamily="2" charset="0"/>
              </a:rPr>
              <a:t>agriculture</a:t>
            </a:r>
            <a:r>
              <a:rPr lang="pt-BR" sz="3500" dirty="0">
                <a:latin typeface="Barlow" panose="00000500000000000000" pitchFamily="2" charset="0"/>
              </a:rPr>
              <a:t>: </a:t>
            </a:r>
            <a:r>
              <a:rPr lang="pt-BR" sz="3500" dirty="0" err="1">
                <a:latin typeface="Barlow" panose="00000500000000000000" pitchFamily="2" charset="0"/>
              </a:rPr>
              <a:t>Basics</a:t>
            </a:r>
            <a:r>
              <a:rPr lang="pt-BR" sz="3500" dirty="0">
                <a:latin typeface="Barlow" panose="00000500000000000000" pitchFamily="2" charset="0"/>
              </a:rPr>
              <a:t>, </a:t>
            </a:r>
            <a:r>
              <a:rPr lang="pt-BR" sz="3500" dirty="0" err="1">
                <a:latin typeface="Barlow" panose="00000500000000000000" pitchFamily="2" charset="0"/>
              </a:rPr>
              <a:t>opportunities</a:t>
            </a:r>
            <a:r>
              <a:rPr lang="pt-BR" sz="3500" dirty="0">
                <a:latin typeface="Barlow" panose="00000500000000000000" pitchFamily="2" charset="0"/>
              </a:rPr>
              <a:t>, </a:t>
            </a:r>
            <a:r>
              <a:rPr lang="pt-BR" sz="3500" dirty="0" err="1">
                <a:latin typeface="Barlow" panose="00000500000000000000" pitchFamily="2" charset="0"/>
              </a:rPr>
              <a:t>and</a:t>
            </a:r>
            <a:r>
              <a:rPr lang="pt-BR" sz="3500" dirty="0">
                <a:latin typeface="Barlow" panose="00000500000000000000" pitchFamily="2" charset="0"/>
              </a:rPr>
              <a:t> </a:t>
            </a:r>
            <a:r>
              <a:rPr lang="pt-BR" sz="3500" dirty="0" err="1">
                <a:latin typeface="Barlow" panose="00000500000000000000" pitchFamily="2" charset="0"/>
              </a:rPr>
              <a:t>challenges.arXiv</a:t>
            </a:r>
            <a:r>
              <a:rPr lang="pt-BR" sz="3500" dirty="0">
                <a:latin typeface="Barlow" panose="00000500000000000000" pitchFamily="2" charset="0"/>
              </a:rPr>
              <a:t> </a:t>
            </a:r>
            <a:r>
              <a:rPr lang="pt-BR" sz="3500" dirty="0" err="1">
                <a:latin typeface="Barlow" panose="00000500000000000000" pitchFamily="2" charset="0"/>
              </a:rPr>
              <a:t>preprint</a:t>
            </a:r>
            <a:r>
              <a:rPr lang="pt-BR" sz="3500" dirty="0">
                <a:latin typeface="Barlow" panose="00000500000000000000" pitchFamily="2" charset="0"/>
              </a:rPr>
              <a:t> arXiv:2308.06668, 2023.</a:t>
            </a:r>
          </a:p>
          <a:p>
            <a:pPr algn="just"/>
            <a:r>
              <a:rPr lang="pt-BR" sz="3500" dirty="0">
                <a:latin typeface="Barlow" panose="00000500000000000000" pitchFamily="2" charset="0"/>
              </a:rPr>
              <a:t>SHUTSKE, J. M. </a:t>
            </a:r>
            <a:r>
              <a:rPr lang="pt-BR" sz="3500" dirty="0" err="1">
                <a:latin typeface="Barlow" panose="00000500000000000000" pitchFamily="2" charset="0"/>
              </a:rPr>
              <a:t>Harnessing</a:t>
            </a:r>
            <a:r>
              <a:rPr lang="pt-BR" sz="3500" dirty="0">
                <a:latin typeface="Barlow" panose="00000500000000000000" pitchFamily="2" charset="0"/>
              </a:rPr>
              <a:t> </a:t>
            </a:r>
            <a:r>
              <a:rPr lang="pt-BR" sz="3500" dirty="0" err="1">
                <a:latin typeface="Barlow" panose="00000500000000000000" pitchFamily="2" charset="0"/>
              </a:rPr>
              <a:t>the</a:t>
            </a:r>
            <a:r>
              <a:rPr lang="pt-BR" sz="3500" dirty="0">
                <a:latin typeface="Barlow" panose="00000500000000000000" pitchFamily="2" charset="0"/>
              </a:rPr>
              <a:t> Power </a:t>
            </a:r>
            <a:r>
              <a:rPr lang="pt-BR" sz="3500" dirty="0" err="1">
                <a:latin typeface="Barlow" panose="00000500000000000000" pitchFamily="2" charset="0"/>
              </a:rPr>
              <a:t>of</a:t>
            </a:r>
            <a:r>
              <a:rPr lang="pt-BR" sz="3500" dirty="0">
                <a:latin typeface="Barlow" panose="00000500000000000000" pitchFamily="2" charset="0"/>
              </a:rPr>
              <a:t> Large </a:t>
            </a:r>
            <a:r>
              <a:rPr lang="pt-BR" sz="3500" dirty="0" err="1">
                <a:latin typeface="Barlow" panose="00000500000000000000" pitchFamily="2" charset="0"/>
              </a:rPr>
              <a:t>Language</a:t>
            </a:r>
            <a:r>
              <a:rPr lang="pt-BR" sz="3500" dirty="0">
                <a:latin typeface="Barlow" panose="00000500000000000000" pitchFamily="2" charset="0"/>
              </a:rPr>
              <a:t> Models in </a:t>
            </a:r>
            <a:r>
              <a:rPr lang="pt-BR" sz="3500" dirty="0" err="1">
                <a:latin typeface="Barlow" panose="00000500000000000000" pitchFamily="2" charset="0"/>
              </a:rPr>
              <a:t>Agricultural</a:t>
            </a:r>
            <a:r>
              <a:rPr lang="pt-BR" sz="3500" dirty="0">
                <a:latin typeface="Barlow" panose="00000500000000000000" pitchFamily="2" charset="0"/>
              </a:rPr>
              <a:t> </a:t>
            </a:r>
            <a:r>
              <a:rPr lang="pt-BR" sz="3500" dirty="0" err="1">
                <a:latin typeface="Barlow" panose="00000500000000000000" pitchFamily="2" charset="0"/>
              </a:rPr>
              <a:t>Safety</a:t>
            </a:r>
            <a:r>
              <a:rPr lang="pt-BR" sz="3500" dirty="0">
                <a:latin typeface="Barlow" panose="00000500000000000000" pitchFamily="2" charset="0"/>
              </a:rPr>
              <a:t> &amp; Health. </a:t>
            </a:r>
            <a:r>
              <a:rPr lang="pt-BR" sz="3500" dirty="0" err="1">
                <a:latin typeface="Barlow" panose="00000500000000000000" pitchFamily="2" charset="0"/>
              </a:rPr>
              <a:t>Journal</a:t>
            </a:r>
            <a:r>
              <a:rPr lang="pt-BR" sz="3500" dirty="0">
                <a:latin typeface="Barlow" panose="00000500000000000000" pitchFamily="2" charset="0"/>
              </a:rPr>
              <a:t> </a:t>
            </a:r>
            <a:r>
              <a:rPr lang="pt-BR" sz="3500" dirty="0" err="1">
                <a:latin typeface="Barlow" panose="00000500000000000000" pitchFamily="2" charset="0"/>
              </a:rPr>
              <a:t>of</a:t>
            </a:r>
            <a:r>
              <a:rPr lang="pt-BR" sz="3500" dirty="0">
                <a:latin typeface="Barlow" panose="00000500000000000000" pitchFamily="2" charset="0"/>
              </a:rPr>
              <a:t> </a:t>
            </a:r>
            <a:r>
              <a:rPr lang="pt-BR" sz="3500" dirty="0" err="1">
                <a:latin typeface="Barlow" panose="00000500000000000000" pitchFamily="2" charset="0"/>
              </a:rPr>
              <a:t>Agricultural</a:t>
            </a:r>
            <a:r>
              <a:rPr lang="pt-BR" sz="3500" dirty="0">
                <a:latin typeface="Barlow" panose="00000500000000000000" pitchFamily="2" charset="0"/>
              </a:rPr>
              <a:t> </a:t>
            </a:r>
            <a:r>
              <a:rPr lang="pt-BR" sz="3500" dirty="0" err="1">
                <a:latin typeface="Barlow" panose="00000500000000000000" pitchFamily="2" charset="0"/>
              </a:rPr>
              <a:t>Safety</a:t>
            </a:r>
            <a:r>
              <a:rPr lang="pt-BR" sz="3500" dirty="0">
                <a:latin typeface="Barlow" panose="00000500000000000000" pitchFamily="2" charset="0"/>
              </a:rPr>
              <a:t> </a:t>
            </a:r>
            <a:r>
              <a:rPr lang="pt-BR" sz="3500" dirty="0" err="1">
                <a:latin typeface="Barlow" panose="00000500000000000000" pitchFamily="2" charset="0"/>
              </a:rPr>
              <a:t>and</a:t>
            </a:r>
            <a:r>
              <a:rPr lang="pt-BR" sz="3500" dirty="0">
                <a:latin typeface="Barlow" panose="00000500000000000000" pitchFamily="2" charset="0"/>
              </a:rPr>
              <a:t> Health, p. 0, 2023.</a:t>
            </a:r>
          </a:p>
          <a:p>
            <a:pPr algn="just"/>
            <a:r>
              <a:rPr lang="pt-BR" sz="3600" dirty="0">
                <a:latin typeface="Barlow" panose="00000500000000000000" pitchFamily="2" charset="0"/>
              </a:rPr>
              <a:t>.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ED07E7FD-CF3C-6D5A-F15D-9F6849144B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247813" y="214471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6AF9175-95AA-1446-CA2D-816C88CBC0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400213" y="21599525"/>
            <a:ext cx="7446930" cy="7446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ABA237C3-9F90-117B-863E-604507B58C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5112" y="25294673"/>
            <a:ext cx="8005296" cy="10314191"/>
          </a:xfrm>
          <a:prstGeom prst="rect">
            <a:avLst/>
          </a:prstGeom>
          <a:noFill/>
        </p:spPr>
      </p:pic>
      <p:sp>
        <p:nvSpPr>
          <p:cNvPr id="33" name="CaixaDeTexto 32">
            <a:extLst>
              <a:ext uri="{FF2B5EF4-FFF2-40B4-BE49-F238E27FC236}">
                <a16:creationId xmlns:a16="http://schemas.microsoft.com/office/drawing/2014/main" id="{CBA55DCF-1C7E-5EF3-2C50-6924B4C88C37}"/>
              </a:ext>
            </a:extLst>
          </p:cNvPr>
          <p:cNvSpPr txBox="1"/>
          <p:nvPr/>
        </p:nvSpPr>
        <p:spPr>
          <a:xfrm>
            <a:off x="17861019" y="35798522"/>
            <a:ext cx="86969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>
                <a:latin typeface="Barlow" panose="00000500000000000000" pitchFamily="2" charset="0"/>
                <a:cs typeface="Arial" panose="020B0604020202020204" pitchFamily="34" charset="0"/>
              </a:rPr>
              <a:t>Fig. 1  </a:t>
            </a:r>
            <a:r>
              <a:rPr lang="pt-BR" sz="3600" dirty="0">
                <a:latin typeface="Barlow" panose="00000500000000000000" pitchFamily="2" charset="0"/>
                <a:cs typeface="Arial" panose="020B0604020202020204" pitchFamily="34" charset="0"/>
              </a:rPr>
              <a:t>- Arquitetura do </a:t>
            </a:r>
            <a:r>
              <a:rPr lang="pt-BR" sz="3600" dirty="0" err="1">
                <a:latin typeface="Barlow" panose="00000500000000000000" pitchFamily="2" charset="0"/>
                <a:cs typeface="Arial" panose="020B0604020202020204" pitchFamily="34" charset="0"/>
              </a:rPr>
              <a:t>Transformer</a:t>
            </a:r>
            <a:endParaRPr lang="pt-BR" sz="3600" dirty="0">
              <a:latin typeface="Barlow" panose="000005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646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2874</TotalTime>
  <Words>661</Words>
  <Application>Microsoft Office PowerPoint</Application>
  <PresentationFormat>Personalizar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Barlow</vt:lpstr>
      <vt:lpstr>Office Theme</vt:lpstr>
      <vt:lpstr>Comparação de LLMs aplicados a temas do agronegócio: SB100 no manejo de lavouras e nutrição de plantas.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JOHNE MARCUS JARSKE</dc:creator>
  <cp:lastModifiedBy>Dirceu André Gerardi</cp:lastModifiedBy>
  <cp:revision>10</cp:revision>
  <dcterms:created xsi:type="dcterms:W3CDTF">2024-07-09T18:05:32Z</dcterms:created>
  <dcterms:modified xsi:type="dcterms:W3CDTF">2024-08-23T13:12:23Z</dcterms:modified>
</cp:coreProperties>
</file>