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7" r:id="rId2"/>
  </p:sldIdLst>
  <p:sldSz cx="28800425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6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206"/>
    <a:srgbClr val="156082"/>
    <a:srgbClr val="0604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0465" autoAdjust="0"/>
  </p:normalViewPr>
  <p:slideViewPr>
    <p:cSldViewPr snapToGrid="0">
      <p:cViewPr>
        <p:scale>
          <a:sx n="30" d="100"/>
          <a:sy n="30" d="100"/>
        </p:scale>
        <p:origin x="810" y="-264"/>
      </p:cViewPr>
      <p:guideLst>
        <p:guide orient="horz" pos="13606"/>
        <p:guide pos="9071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C584C-CEA7-4B61-880F-19A1EF9F3154}" type="datetimeFigureOut">
              <a:rPr lang="pt-BR" smtClean="0"/>
              <a:t>08/10/2024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D6A48-4EB8-4B15-8A38-DD4A6EAB37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5760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1pPr>
    <a:lvl2pPr marL="1728012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2pPr>
    <a:lvl3pPr marL="3456023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3pPr>
    <a:lvl4pPr marL="5184035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4pPr>
    <a:lvl5pPr marL="6912047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5pPr>
    <a:lvl6pPr marL="8640059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6pPr>
    <a:lvl7pPr marL="10368070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7pPr>
    <a:lvl8pPr marL="12096082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8pPr>
    <a:lvl9pPr marL="13824094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7070108"/>
            <a:ext cx="24480361" cy="15040222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22690338"/>
            <a:ext cx="21600319" cy="10430151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08/10/2024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307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08/10/2024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834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10770172"/>
            <a:ext cx="24840367" cy="17970262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28910440"/>
            <a:ext cx="24840367" cy="9450136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>
                    <a:tint val="82000"/>
                  </a:schemeClr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08/10/2024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445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11500170"/>
            <a:ext cx="12240181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11500170"/>
            <a:ext cx="12240181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08/10/2024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107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300044"/>
            <a:ext cx="24840367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10590160"/>
            <a:ext cx="12183928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5780233"/>
            <a:ext cx="12183928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10590160"/>
            <a:ext cx="12243932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5780233"/>
            <a:ext cx="12243932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08/10/2024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2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08/10/2024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3302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08/10/2024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2762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6220102"/>
            <a:ext cx="14580215" cy="30700453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08/10/2024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30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6220102"/>
            <a:ext cx="14580215" cy="30700453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08/10/2024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529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08/10/2024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7241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2300034"/>
            <a:ext cx="6210092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2300034"/>
            <a:ext cx="18270270" cy="366105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08/10/2024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3204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2300044"/>
            <a:ext cx="24840367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11500170"/>
            <a:ext cx="24840367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EE6D14-2387-433E-9CCC-CBBF83D1C692}" type="datetimeFigureOut">
              <a:rPr lang="pt-BR" smtClean="0"/>
              <a:t>08/10/2024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259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FBB01-4ACE-5530-2728-7907A1D2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232" y="8661339"/>
            <a:ext cx="27384993" cy="2507930"/>
          </a:xfrm>
          <a:ln w="19050">
            <a:solidFill>
              <a:srgbClr val="150206"/>
            </a:solidFill>
          </a:ln>
        </p:spPr>
        <p:txBody>
          <a:bodyPr>
            <a:noAutofit/>
          </a:bodyPr>
          <a:lstStyle/>
          <a:p>
            <a:pPr algn="ctr"/>
            <a:r>
              <a:rPr lang="pt-BR" sz="8000" dirty="0">
                <a:latin typeface="Barlow" panose="00000500000000000000" pitchFamily="2" charset="0"/>
              </a:rPr>
              <a:t>Agrônomo Virtual: </a:t>
            </a:r>
            <a:br>
              <a:rPr lang="pt-BR" sz="8000" dirty="0">
                <a:latin typeface="Barlow" panose="00000500000000000000" pitchFamily="2" charset="0"/>
              </a:rPr>
            </a:br>
            <a:r>
              <a:rPr lang="pt-BR" sz="8000" dirty="0">
                <a:latin typeface="Barlow" panose="00000500000000000000" pitchFamily="2" charset="0"/>
              </a:rPr>
              <a:t>Avaliação de </a:t>
            </a:r>
            <a:r>
              <a:rPr lang="pt-BR" sz="8000" dirty="0" err="1">
                <a:latin typeface="Barlow" panose="00000500000000000000" pitchFamily="2" charset="0"/>
              </a:rPr>
              <a:t>LLMs</a:t>
            </a:r>
            <a:r>
              <a:rPr lang="pt-BR" sz="8000" dirty="0">
                <a:latin typeface="Barlow" panose="00000500000000000000" pitchFamily="2" charset="0"/>
              </a:rPr>
              <a:t> no Manejo e Nutrição de Citrus</a:t>
            </a:r>
            <a:endParaRPr lang="pt-BR" sz="9000" dirty="0">
              <a:latin typeface="Barlow" panose="00000500000000000000" pitchFamily="2" charset="0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595CA29-5D49-EFD5-D757-E3FAC7A72FB3}"/>
              </a:ext>
            </a:extLst>
          </p:cNvPr>
          <p:cNvSpPr/>
          <p:nvPr/>
        </p:nvSpPr>
        <p:spPr>
          <a:xfrm>
            <a:off x="17175946" y="1992319"/>
            <a:ext cx="10935166" cy="6264000"/>
          </a:xfrm>
          <a:prstGeom prst="rect">
            <a:avLst/>
          </a:prstGeom>
          <a:solidFill>
            <a:srgbClr val="150206"/>
          </a:solidFill>
          <a:ln>
            <a:solidFill>
              <a:srgbClr val="150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ysClr val="windowText" lastClr="000000"/>
                </a:solidFill>
              </a:ln>
              <a:latin typeface="Barlow" panose="00000500000000000000" pitchFamily="2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655B18E-59F6-F0BB-C23E-48EBEFE84563}"/>
              </a:ext>
            </a:extLst>
          </p:cNvPr>
          <p:cNvSpPr txBox="1"/>
          <p:nvPr/>
        </p:nvSpPr>
        <p:spPr>
          <a:xfrm>
            <a:off x="17515113" y="2075445"/>
            <a:ext cx="10080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  <a:latin typeface="Barlow" panose="00000500000000000000" pitchFamily="2" charset="0"/>
              </a:rPr>
              <a:t>Autores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8E61392-A18D-49D9-9BFD-F7F47EEC7FD0}"/>
              </a:ext>
            </a:extLst>
          </p:cNvPr>
          <p:cNvSpPr txBox="1"/>
          <p:nvPr/>
        </p:nvSpPr>
        <p:spPr>
          <a:xfrm>
            <a:off x="17784819" y="6353324"/>
            <a:ext cx="10080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  <a:latin typeface="Barlow" panose="00000500000000000000" pitchFamily="2" charset="0"/>
              </a:rPr>
              <a:t>Filiação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BE9A174-8BC2-8E0E-0C84-88640E7DB921}"/>
              </a:ext>
            </a:extLst>
          </p:cNvPr>
          <p:cNvSpPr txBox="1"/>
          <p:nvPr/>
        </p:nvSpPr>
        <p:spPr>
          <a:xfrm>
            <a:off x="17861019" y="2985516"/>
            <a:ext cx="9810465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latin typeface="Barlow" panose="00000500000000000000" pitchFamily="2" charset="0"/>
              </a:rPr>
              <a:t>Gerardi, Dirceu </a:t>
            </a:r>
            <a:r>
              <a:rPr lang="pt-BR" sz="4000" baseline="30000" dirty="0">
                <a:solidFill>
                  <a:schemeClr val="bg1"/>
                </a:solidFill>
                <a:latin typeface="Barlow" panose="00000500000000000000" pitchFamily="2" charset="0"/>
              </a:rPr>
              <a:t>1</a:t>
            </a:r>
          </a:p>
          <a:p>
            <a:r>
              <a:rPr lang="pt-BR" sz="4000" dirty="0">
                <a:solidFill>
                  <a:schemeClr val="bg1"/>
                </a:solidFill>
                <a:latin typeface="Barlow" panose="00000500000000000000" pitchFamily="2" charset="0"/>
              </a:rPr>
              <a:t>Acedo, Jean </a:t>
            </a:r>
            <a:r>
              <a:rPr lang="pt-BR" sz="4000" baseline="30000" dirty="0">
                <a:solidFill>
                  <a:schemeClr val="bg1"/>
                </a:solidFill>
                <a:latin typeface="Barlow" panose="00000500000000000000" pitchFamily="2" charset="0"/>
              </a:rPr>
              <a:t>1</a:t>
            </a:r>
            <a:endParaRPr lang="pt-BR" sz="40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pt-BR" sz="4000" dirty="0">
                <a:solidFill>
                  <a:schemeClr val="bg1"/>
                </a:solidFill>
                <a:latin typeface="Barlow" panose="00000500000000000000" pitchFamily="2" charset="0"/>
              </a:rPr>
              <a:t>Cassitas</a:t>
            </a:r>
            <a:r>
              <a:rPr lang="pt-BR" sz="4000">
                <a:solidFill>
                  <a:schemeClr val="bg1"/>
                </a:solidFill>
                <a:latin typeface="Barlow" panose="00000500000000000000" pitchFamily="2" charset="0"/>
              </a:rPr>
              <a:t>, Júlia dos Santos</a:t>
            </a:r>
            <a:r>
              <a:rPr lang="pt-BR" sz="4000" baseline="30000">
                <a:solidFill>
                  <a:schemeClr val="bg1"/>
                </a:solidFill>
                <a:latin typeface="Barlow" panose="00000500000000000000" pitchFamily="2" charset="0"/>
              </a:rPr>
              <a:t> </a:t>
            </a:r>
            <a:r>
              <a:rPr lang="pt-BR" sz="4000" baseline="30000" dirty="0">
                <a:solidFill>
                  <a:schemeClr val="bg1"/>
                </a:solidFill>
                <a:latin typeface="Barlow" panose="00000500000000000000" pitchFamily="2" charset="0"/>
              </a:rPr>
              <a:t>1</a:t>
            </a:r>
            <a:endParaRPr lang="pt-BR" sz="40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pt-BR" sz="4000" dirty="0">
                <a:solidFill>
                  <a:schemeClr val="bg1"/>
                </a:solidFill>
                <a:latin typeface="Barlow" panose="00000500000000000000" pitchFamily="2" charset="0"/>
              </a:rPr>
              <a:t>Velloso, André Nascimento</a:t>
            </a:r>
            <a:r>
              <a:rPr lang="pt-BR" sz="4000" baseline="30000" dirty="0">
                <a:solidFill>
                  <a:schemeClr val="bg1"/>
                </a:solidFill>
                <a:latin typeface="Barlow" panose="00000500000000000000" pitchFamily="2" charset="0"/>
              </a:rPr>
              <a:t> 1</a:t>
            </a:r>
          </a:p>
          <a:p>
            <a:r>
              <a:rPr lang="pt-BR" sz="4000" dirty="0">
                <a:solidFill>
                  <a:schemeClr val="bg1"/>
                </a:solidFill>
                <a:latin typeface="Barlow" panose="00000500000000000000" pitchFamily="2" charset="0"/>
              </a:rPr>
              <a:t>Silva Junior, Braz Izaias</a:t>
            </a:r>
            <a:r>
              <a:rPr lang="pt-BR" sz="4000" baseline="30000" dirty="0">
                <a:solidFill>
                  <a:schemeClr val="bg1"/>
                </a:solidFill>
                <a:latin typeface="Barlow" panose="00000500000000000000" pitchFamily="2" charset="0"/>
              </a:rPr>
              <a:t> 1 </a:t>
            </a:r>
            <a:endParaRPr lang="pt-BR" sz="40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endParaRPr lang="pt-BR" sz="4000" baseline="300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endParaRPr lang="pt-BR" sz="4000" dirty="0">
              <a:solidFill>
                <a:schemeClr val="bg1"/>
              </a:solidFill>
              <a:latin typeface="Barlow" panose="00000500000000000000" pitchFamily="2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351A6FF-D1CF-0A57-FE6B-5D3DE8791144}"/>
              </a:ext>
            </a:extLst>
          </p:cNvPr>
          <p:cNvSpPr txBox="1"/>
          <p:nvPr/>
        </p:nvSpPr>
        <p:spPr>
          <a:xfrm>
            <a:off x="18054525" y="7262274"/>
            <a:ext cx="98104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latin typeface="Barlow" panose="00000500000000000000" pitchFamily="2" charset="0"/>
              </a:rPr>
              <a:t>1: Fatec Cotia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CF32EFD8-2344-69AD-E613-AD24EBF86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50" y="1613581"/>
            <a:ext cx="16637426" cy="7084101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79E087F0-2BDE-F8B1-A27B-BB602CC9008E}"/>
              </a:ext>
            </a:extLst>
          </p:cNvPr>
          <p:cNvSpPr/>
          <p:nvPr/>
        </p:nvSpPr>
        <p:spPr>
          <a:xfrm>
            <a:off x="721193" y="11510309"/>
            <a:ext cx="13343150" cy="6235341"/>
          </a:xfrm>
          <a:prstGeom prst="rect">
            <a:avLst/>
          </a:prstGeom>
          <a:noFill/>
          <a:ln>
            <a:solidFill>
              <a:srgbClr val="150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>
              <a:ln>
                <a:solidFill>
                  <a:sysClr val="windowText" lastClr="000000"/>
                </a:solidFill>
              </a:ln>
              <a:latin typeface="Barlow" panose="00000500000000000000" pitchFamily="2" charset="0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D58D6D0-0A03-A592-C6A9-37FD79AC54DD}"/>
              </a:ext>
            </a:extLst>
          </p:cNvPr>
          <p:cNvSpPr/>
          <p:nvPr/>
        </p:nvSpPr>
        <p:spPr>
          <a:xfrm>
            <a:off x="14736082" y="11510309"/>
            <a:ext cx="13343150" cy="6235341"/>
          </a:xfrm>
          <a:prstGeom prst="rect">
            <a:avLst/>
          </a:prstGeom>
          <a:noFill/>
          <a:ln>
            <a:solidFill>
              <a:srgbClr val="150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>
              <a:ln>
                <a:solidFill>
                  <a:sysClr val="windowText" lastClr="000000"/>
                </a:solidFill>
              </a:ln>
              <a:latin typeface="Barlow" panose="000005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44ED44D-71F6-C173-B9C2-0F00303DDEBE}"/>
              </a:ext>
            </a:extLst>
          </p:cNvPr>
          <p:cNvSpPr txBox="1"/>
          <p:nvPr/>
        </p:nvSpPr>
        <p:spPr>
          <a:xfrm>
            <a:off x="715232" y="11554696"/>
            <a:ext cx="133491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Barlow" panose="00000500000000000000" pitchFamily="2" charset="0"/>
              </a:rPr>
              <a:t>Introdução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4E04645-D445-D0B2-B7DC-112492DB4D7C}"/>
              </a:ext>
            </a:extLst>
          </p:cNvPr>
          <p:cNvSpPr txBox="1"/>
          <p:nvPr/>
        </p:nvSpPr>
        <p:spPr>
          <a:xfrm>
            <a:off x="1063797" y="12246845"/>
            <a:ext cx="129844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/>
            </a:lvl1pPr>
          </a:lstStyle>
          <a:p>
            <a:pPr algn="just"/>
            <a:r>
              <a:rPr lang="pt-BR" sz="3600" dirty="0">
                <a:latin typeface="Barlow" panose="00000500000000000000" pitchFamily="2" charset="0"/>
              </a:rPr>
              <a:t>O desenvolvimento de algoritmos de IA generativos avançou com a introdução da arquitetura </a:t>
            </a:r>
            <a:r>
              <a:rPr lang="pt-BR" sz="3600" dirty="0" err="1">
                <a:latin typeface="Barlow" panose="00000500000000000000" pitchFamily="2" charset="0"/>
              </a:rPr>
              <a:t>Transformer</a:t>
            </a:r>
            <a:r>
              <a:rPr lang="pt-BR" sz="3600" dirty="0">
                <a:latin typeface="Barlow" panose="00000500000000000000" pitchFamily="2" charset="0"/>
              </a:rPr>
              <a:t> em 2017. A introdução de mecanismos de atenção focado no significado semântico das palavras constitui uma das principais inovações. A pesquisa compara os resultados de modelos de LLM na análise de um </a:t>
            </a:r>
            <a:r>
              <a:rPr lang="pt-BR" sz="3600" i="1" dirty="0" err="1">
                <a:latin typeface="Barlow" panose="00000500000000000000" pitchFamily="2" charset="0"/>
              </a:rPr>
              <a:t>dataset</a:t>
            </a:r>
            <a:r>
              <a:rPr lang="pt-BR" sz="3600" dirty="0">
                <a:latin typeface="Barlow" panose="00000500000000000000" pitchFamily="2" charset="0"/>
              </a:rPr>
              <a:t> sobre manejo de lavouras e nutrição de plantas do gênero Citrus spp. A principal novidade da pesquisa está em comparar Redes Neurais Recorrentes - </a:t>
            </a:r>
            <a:r>
              <a:rPr lang="pt-BR" sz="3600" dirty="0" err="1">
                <a:latin typeface="Barlow" panose="00000500000000000000" pitchFamily="2" charset="0"/>
              </a:rPr>
              <a:t>RNNs</a:t>
            </a:r>
            <a:r>
              <a:rPr lang="pt-BR" sz="3600" dirty="0">
                <a:latin typeface="Barlow" panose="00000500000000000000" pitchFamily="2" charset="0"/>
              </a:rPr>
              <a:t> e Transformers buscando determinar qual modelo oferece o melhor desempenho na interpretação do manejo da cultura de Citrus.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5282A1E-06FB-3D67-DED1-730FC012106A}"/>
              </a:ext>
            </a:extLst>
          </p:cNvPr>
          <p:cNvSpPr txBox="1"/>
          <p:nvPr/>
        </p:nvSpPr>
        <p:spPr>
          <a:xfrm>
            <a:off x="14762001" y="11545900"/>
            <a:ext cx="133491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Barlow" panose="00000500000000000000" pitchFamily="2" charset="0"/>
              </a:rPr>
              <a:t>Objetivo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7E873D3-8166-9EEF-5CE1-03989AD1947D}"/>
              </a:ext>
            </a:extLst>
          </p:cNvPr>
          <p:cNvSpPr txBox="1"/>
          <p:nvPr/>
        </p:nvSpPr>
        <p:spPr>
          <a:xfrm>
            <a:off x="15126632" y="13568197"/>
            <a:ext cx="129844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/>
            </a:lvl1pPr>
          </a:lstStyle>
          <a:p>
            <a:r>
              <a:rPr lang="pt-BR" sz="3600" dirty="0">
                <a:latin typeface="Barlow" panose="00000500000000000000" pitchFamily="2" charset="0"/>
              </a:rPr>
              <a:t>O objetivo do projeto é comparar o desempenho de modelos LLM baseados em RNN e </a:t>
            </a:r>
            <a:r>
              <a:rPr lang="pt-BR" sz="3600" dirty="0" err="1">
                <a:latin typeface="Barlow" panose="00000500000000000000" pitchFamily="2" charset="0"/>
              </a:rPr>
              <a:t>Transformer</a:t>
            </a:r>
            <a:r>
              <a:rPr lang="pt-BR" sz="3600" dirty="0">
                <a:latin typeface="Barlow" panose="00000500000000000000" pitchFamily="2" charset="0"/>
              </a:rPr>
              <a:t> na análise de dados sobre manejo de lavouras e nutrição de plantas do gênero Citrus, que incluem  laranjas, tangerinas, mexericas, limões entre outras.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67DC8C7-E402-A963-AC18-A03E1140E75B}"/>
              </a:ext>
            </a:extLst>
          </p:cNvPr>
          <p:cNvSpPr/>
          <p:nvPr/>
        </p:nvSpPr>
        <p:spPr>
          <a:xfrm>
            <a:off x="689313" y="18246521"/>
            <a:ext cx="13343150" cy="6235341"/>
          </a:xfrm>
          <a:prstGeom prst="rect">
            <a:avLst/>
          </a:prstGeom>
          <a:noFill/>
          <a:ln>
            <a:solidFill>
              <a:srgbClr val="150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>
              <a:ln>
                <a:solidFill>
                  <a:sysClr val="windowText" lastClr="000000"/>
                </a:solidFill>
              </a:ln>
              <a:latin typeface="Barlow" panose="00000500000000000000" pitchFamily="2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CFE249D-7A8D-8064-E4EC-B051912C45DE}"/>
              </a:ext>
            </a:extLst>
          </p:cNvPr>
          <p:cNvSpPr/>
          <p:nvPr/>
        </p:nvSpPr>
        <p:spPr>
          <a:xfrm>
            <a:off x="14704202" y="18246521"/>
            <a:ext cx="13343150" cy="6235341"/>
          </a:xfrm>
          <a:prstGeom prst="rect">
            <a:avLst/>
          </a:prstGeom>
          <a:noFill/>
          <a:ln>
            <a:solidFill>
              <a:srgbClr val="150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>
              <a:ln>
                <a:solidFill>
                  <a:sysClr val="windowText" lastClr="000000"/>
                </a:solidFill>
              </a:ln>
              <a:latin typeface="Barlow" panose="00000500000000000000" pitchFamily="2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935E36C-028F-D2DB-0EB4-6195D32ABE02}"/>
              </a:ext>
            </a:extLst>
          </p:cNvPr>
          <p:cNvSpPr txBox="1"/>
          <p:nvPr/>
        </p:nvSpPr>
        <p:spPr>
          <a:xfrm>
            <a:off x="683352" y="18290908"/>
            <a:ext cx="133491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Barlow" panose="00000500000000000000" pitchFamily="2" charset="0"/>
              </a:rPr>
              <a:t>Contexto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E8059D2-00A1-329C-00D8-D0CE5992E81A}"/>
              </a:ext>
            </a:extLst>
          </p:cNvPr>
          <p:cNvSpPr txBox="1"/>
          <p:nvPr/>
        </p:nvSpPr>
        <p:spPr>
          <a:xfrm>
            <a:off x="1031917" y="18983057"/>
            <a:ext cx="1298448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/>
            </a:lvl1pPr>
          </a:lstStyle>
          <a:p>
            <a:pPr algn="just"/>
            <a:r>
              <a:rPr lang="pt-BR" sz="3600" dirty="0" err="1">
                <a:latin typeface="Barlow" panose="00000500000000000000" pitchFamily="2" charset="0"/>
              </a:rPr>
              <a:t>RNNs</a:t>
            </a:r>
            <a:r>
              <a:rPr lang="pt-BR" sz="3600" dirty="0">
                <a:latin typeface="Barlow" panose="00000500000000000000" pitchFamily="2" charset="0"/>
              </a:rPr>
              <a:t> utilizadas no passado enfrentavam limitações na geração efetiva de linguagem devido a restrições computacionais. A introdução da arquitetura </a:t>
            </a:r>
            <a:r>
              <a:rPr lang="pt-BR" sz="3600" dirty="0" err="1">
                <a:latin typeface="Barlow" panose="00000500000000000000" pitchFamily="2" charset="0"/>
              </a:rPr>
              <a:t>Transformer</a:t>
            </a:r>
            <a:r>
              <a:rPr lang="pt-BR" sz="3600" dirty="0">
                <a:latin typeface="Barlow" panose="00000500000000000000" pitchFamily="2" charset="0"/>
              </a:rPr>
              <a:t> possibilitou processamento paralelo e escalonamento mais eficientes revolucionando as capacidades generativas (</a:t>
            </a:r>
            <a:r>
              <a:rPr lang="pt-BR" sz="3600" dirty="0" err="1">
                <a:latin typeface="Barlow" panose="00000500000000000000" pitchFamily="2" charset="0"/>
              </a:rPr>
              <a:t>Vaswani</a:t>
            </a:r>
            <a:r>
              <a:rPr lang="pt-BR" sz="3600" dirty="0">
                <a:latin typeface="Barlow" panose="00000500000000000000" pitchFamily="2" charset="0"/>
              </a:rPr>
              <a:t> et al., 2017; Karita et al., 2019). A inovação chave foi o estabelecimento de mecanismos de atenção para que o modelo focasse no significado semântico de sentenças ao invés de apenas prever a próxima palavra.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3C4BAD4-5CDA-AB15-0F94-937BC459F391}"/>
              </a:ext>
            </a:extLst>
          </p:cNvPr>
          <p:cNvSpPr txBox="1"/>
          <p:nvPr/>
        </p:nvSpPr>
        <p:spPr>
          <a:xfrm>
            <a:off x="14730121" y="18282112"/>
            <a:ext cx="133491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Barlow" panose="00000500000000000000" pitchFamily="2" charset="0"/>
              </a:rPr>
              <a:t>Materiais e Métodos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855F3BF-B195-417D-25C6-A04305922B80}"/>
              </a:ext>
            </a:extLst>
          </p:cNvPr>
          <p:cNvSpPr txBox="1"/>
          <p:nvPr/>
        </p:nvSpPr>
        <p:spPr>
          <a:xfrm>
            <a:off x="15049977" y="18969207"/>
            <a:ext cx="129844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/>
            </a:lvl1pPr>
          </a:lstStyle>
          <a:p>
            <a:pPr algn="just"/>
            <a:r>
              <a:rPr lang="pt-BR" sz="3600" dirty="0">
                <a:latin typeface="Barlow" panose="00000500000000000000" pitchFamily="2" charset="0"/>
              </a:rPr>
              <a:t>A preparação do Sistema SB100 é dividida em 4 fases. 1) A pesquisa cria um </a:t>
            </a:r>
            <a:r>
              <a:rPr lang="pt-BR" sz="3600" dirty="0" err="1">
                <a:latin typeface="Barlow" panose="00000500000000000000" pitchFamily="2" charset="0"/>
              </a:rPr>
              <a:t>dataset</a:t>
            </a:r>
            <a:r>
              <a:rPr lang="pt-BR" sz="3600" dirty="0">
                <a:latin typeface="Barlow" panose="00000500000000000000" pitchFamily="2" charset="0"/>
              </a:rPr>
              <a:t> com informações sobre a produção de Citrus spp. 2) Os dados são selecionados e anotados, incluindo segmentação e a adição de metadados. 3) Os dados estruturados passam por vetorização, </a:t>
            </a:r>
            <a:r>
              <a:rPr lang="pt-BR" sz="3600" i="1" dirty="0" err="1">
                <a:latin typeface="Barlow" panose="00000500000000000000" pitchFamily="2" charset="0"/>
              </a:rPr>
              <a:t>embedding</a:t>
            </a:r>
            <a:r>
              <a:rPr lang="pt-BR" sz="3600" dirty="0">
                <a:latin typeface="Barlow" panose="00000500000000000000" pitchFamily="2" charset="0"/>
              </a:rPr>
              <a:t> e indexação vetorial para garantir consultas eficientes. 4) Essa fase envolve consultas por similaridade, onde perguntas são integradas ao espaço vetorial para recuperar e apresentar dados relevantes ao modelo LLM. Por fim, na fase de mineração de dados, o LLM gera respostas contextualizadas e informativas.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91893CA-FFC5-0CDD-CA0F-6563F6F9F874}"/>
              </a:ext>
            </a:extLst>
          </p:cNvPr>
          <p:cNvSpPr/>
          <p:nvPr/>
        </p:nvSpPr>
        <p:spPr>
          <a:xfrm>
            <a:off x="721193" y="25173686"/>
            <a:ext cx="27313264" cy="11502067"/>
          </a:xfrm>
          <a:prstGeom prst="rect">
            <a:avLst/>
          </a:prstGeom>
          <a:noFill/>
          <a:ln>
            <a:solidFill>
              <a:srgbClr val="150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>
              <a:ln>
                <a:solidFill>
                  <a:sysClr val="windowText" lastClr="000000"/>
                </a:solidFill>
              </a:ln>
              <a:latin typeface="Barlow" panose="00000500000000000000" pitchFamily="2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363F23F-E01F-034D-132C-FAA75EB76028}"/>
              </a:ext>
            </a:extLst>
          </p:cNvPr>
          <p:cNvSpPr txBox="1"/>
          <p:nvPr/>
        </p:nvSpPr>
        <p:spPr>
          <a:xfrm>
            <a:off x="715232" y="25218073"/>
            <a:ext cx="133491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Barlow" panose="00000500000000000000" pitchFamily="2" charset="0"/>
              </a:rPr>
              <a:t>Análise e Discussão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8C55EAF-DE1E-690B-9BE2-F17D67A7DB3D}"/>
              </a:ext>
            </a:extLst>
          </p:cNvPr>
          <p:cNvSpPr txBox="1"/>
          <p:nvPr/>
        </p:nvSpPr>
        <p:spPr>
          <a:xfrm>
            <a:off x="1111743" y="25902968"/>
            <a:ext cx="12952600" cy="10618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/>
            </a:lvl1pPr>
          </a:lstStyle>
          <a:p>
            <a:pPr algn="just"/>
            <a:r>
              <a:rPr lang="pt-BR" sz="3600" dirty="0">
                <a:latin typeface="Barlow" panose="00000500000000000000" pitchFamily="2" charset="0"/>
              </a:rPr>
              <a:t>O nosso estudo experimental está em desenvolvimento. Ele observa o comportamento dos modelos de LLM utilizando RNN e </a:t>
            </a:r>
            <a:r>
              <a:rPr lang="pt-BR" sz="3600" dirty="0" err="1">
                <a:latin typeface="Barlow" panose="00000500000000000000" pitchFamily="2" charset="0"/>
              </a:rPr>
              <a:t>Transformer</a:t>
            </a:r>
            <a:r>
              <a:rPr lang="pt-BR" sz="3600" dirty="0">
                <a:latin typeface="Barlow" panose="00000500000000000000" pitchFamily="2" charset="0"/>
              </a:rPr>
              <a:t> utilizando um </a:t>
            </a:r>
            <a:r>
              <a:rPr lang="pt-BR" sz="3600" dirty="0" err="1">
                <a:latin typeface="Barlow" panose="00000500000000000000" pitchFamily="2" charset="0"/>
              </a:rPr>
              <a:t>dataset</a:t>
            </a:r>
            <a:r>
              <a:rPr lang="pt-BR" sz="3600" dirty="0">
                <a:latin typeface="Barlow" panose="00000500000000000000" pitchFamily="2" charset="0"/>
              </a:rPr>
              <a:t> relacionado ao manejo de lavouras e nutrição de plantas do gênero Citrus spp. Utilizaremos boletins do Instituto Agronômico Paulista para a construção da base de dados inicial.</a:t>
            </a:r>
          </a:p>
          <a:p>
            <a:pPr algn="just"/>
            <a:r>
              <a:rPr lang="pt-BR" sz="3600" dirty="0">
                <a:latin typeface="Barlow" panose="00000500000000000000" pitchFamily="2" charset="0"/>
              </a:rPr>
              <a:t>Nossa hipótese de trabalho é que os resultados do </a:t>
            </a:r>
            <a:r>
              <a:rPr lang="pt-BR" sz="3600" dirty="0" err="1">
                <a:latin typeface="Barlow" panose="00000500000000000000" pitchFamily="2" charset="0"/>
              </a:rPr>
              <a:t>Transformer</a:t>
            </a:r>
            <a:r>
              <a:rPr lang="pt-BR" sz="3600" dirty="0">
                <a:latin typeface="Barlow" panose="00000500000000000000" pitchFamily="2" charset="0"/>
              </a:rPr>
              <a:t> superarão os das </a:t>
            </a:r>
            <a:r>
              <a:rPr lang="pt-BR" sz="3600" dirty="0" err="1">
                <a:latin typeface="Barlow" panose="00000500000000000000" pitchFamily="2" charset="0"/>
              </a:rPr>
              <a:t>RNNs</a:t>
            </a:r>
            <a:r>
              <a:rPr lang="pt-BR" sz="3600" dirty="0">
                <a:latin typeface="Barlow" panose="00000500000000000000" pitchFamily="2" charset="0"/>
              </a:rPr>
              <a:t>, mas será fundamental uma comprovação prática neste estágio do projeto. </a:t>
            </a:r>
          </a:p>
          <a:p>
            <a:pPr algn="just"/>
            <a:r>
              <a:rPr lang="pt-BR" sz="3600" dirty="0">
                <a:latin typeface="Barlow" panose="00000500000000000000" pitchFamily="2" charset="0"/>
              </a:rPr>
              <a:t>Comprovada a hipótese, o modelo LLM a ser adotado para o SB100 será baseado na arquitetura </a:t>
            </a:r>
            <a:r>
              <a:rPr lang="pt-BR" sz="3600" dirty="0" err="1">
                <a:latin typeface="Barlow" panose="00000500000000000000" pitchFamily="2" charset="0"/>
              </a:rPr>
              <a:t>Transformer</a:t>
            </a:r>
            <a:r>
              <a:rPr lang="pt-BR" sz="3600" dirty="0">
                <a:latin typeface="Barlow" panose="00000500000000000000" pitchFamily="2" charset="0"/>
              </a:rPr>
              <a:t>.</a:t>
            </a:r>
          </a:p>
          <a:p>
            <a:pPr algn="just"/>
            <a:r>
              <a:rPr lang="pt-BR" sz="3600" dirty="0">
                <a:latin typeface="Barlow" panose="00000500000000000000" pitchFamily="2" charset="0"/>
              </a:rPr>
              <a:t>O modelo selecionado utilizará mecanismos de atenção </a:t>
            </a:r>
            <a:r>
              <a:rPr lang="pt-BR" sz="3600" dirty="0" err="1">
                <a:latin typeface="Barlow" panose="00000500000000000000" pitchFamily="2" charset="0"/>
              </a:rPr>
              <a:t>auto-regressivos</a:t>
            </a:r>
            <a:r>
              <a:rPr lang="pt-BR" sz="3600" dirty="0">
                <a:latin typeface="Barlow" panose="00000500000000000000" pitchFamily="2" charset="0"/>
              </a:rPr>
              <a:t>, permitindo a captura de relações entre palavras e frases em um texto, bem como do contexto e significado. </a:t>
            </a:r>
          </a:p>
          <a:p>
            <a:pPr algn="just"/>
            <a:r>
              <a:rPr lang="pt-BR" sz="3600" dirty="0">
                <a:latin typeface="Barlow" panose="00000500000000000000" pitchFamily="2" charset="0"/>
              </a:rPr>
              <a:t>A arquitetura </a:t>
            </a:r>
            <a:r>
              <a:rPr lang="pt-BR" sz="3600" dirty="0" err="1">
                <a:latin typeface="Barlow" panose="00000500000000000000" pitchFamily="2" charset="0"/>
              </a:rPr>
              <a:t>Transformer</a:t>
            </a:r>
            <a:r>
              <a:rPr lang="pt-BR" sz="3600" dirty="0">
                <a:latin typeface="Barlow" panose="00000500000000000000" pitchFamily="2" charset="0"/>
              </a:rPr>
              <a:t> é dividida em duas partes: o codificador, que converte um texto em tokens para uma representação vetorial (</a:t>
            </a:r>
            <a:r>
              <a:rPr lang="pt-BR" sz="3600" i="1" dirty="0" err="1">
                <a:latin typeface="Barlow" panose="00000500000000000000" pitchFamily="2" charset="0"/>
              </a:rPr>
              <a:t>embedding</a:t>
            </a:r>
            <a:r>
              <a:rPr lang="pt-BR" sz="3600" dirty="0">
                <a:latin typeface="Barlow" panose="00000500000000000000" pitchFamily="2" charset="0"/>
              </a:rPr>
              <a:t>), e o decodificador, que usa esse </a:t>
            </a:r>
            <a:r>
              <a:rPr lang="pt-BR" sz="3600" i="1" dirty="0" err="1">
                <a:latin typeface="Barlow" panose="00000500000000000000" pitchFamily="2" charset="0"/>
              </a:rPr>
              <a:t>embedding</a:t>
            </a:r>
            <a:r>
              <a:rPr lang="pt-BR" sz="3600" dirty="0">
                <a:latin typeface="Barlow" panose="00000500000000000000" pitchFamily="2" charset="0"/>
              </a:rPr>
              <a:t> para gerar um novo texto. O modelo será </a:t>
            </a:r>
            <a:r>
              <a:rPr lang="pt-BR" sz="3600" dirty="0" err="1">
                <a:latin typeface="Barlow" panose="00000500000000000000" pitchFamily="2" charset="0"/>
              </a:rPr>
              <a:t>pré</a:t>
            </a:r>
            <a:r>
              <a:rPr lang="pt-BR" sz="3600" dirty="0">
                <a:latin typeface="Barlow" panose="00000500000000000000" pitchFamily="2" charset="0"/>
              </a:rPr>
              <a:t>-treinado em um extenso corpus de textos agronômicos.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ABC57CB4-7E66-AF4C-6017-7C86570D43BD}"/>
              </a:ext>
            </a:extLst>
          </p:cNvPr>
          <p:cNvSpPr/>
          <p:nvPr/>
        </p:nvSpPr>
        <p:spPr>
          <a:xfrm>
            <a:off x="689313" y="37097451"/>
            <a:ext cx="13343150" cy="5447087"/>
          </a:xfrm>
          <a:prstGeom prst="rect">
            <a:avLst/>
          </a:prstGeom>
          <a:noFill/>
          <a:ln>
            <a:solidFill>
              <a:srgbClr val="150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>
              <a:ln>
                <a:solidFill>
                  <a:sysClr val="windowText" lastClr="000000"/>
                </a:solidFill>
              </a:ln>
              <a:latin typeface="Barlow" panose="00000500000000000000" pitchFamily="2" charset="0"/>
            </a:endParaRP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F8EAD64F-3427-B275-6042-8B421BC707F9}"/>
              </a:ext>
            </a:extLst>
          </p:cNvPr>
          <p:cNvSpPr/>
          <p:nvPr/>
        </p:nvSpPr>
        <p:spPr>
          <a:xfrm>
            <a:off x="14704202" y="37097451"/>
            <a:ext cx="13343150" cy="5447087"/>
          </a:xfrm>
          <a:prstGeom prst="rect">
            <a:avLst/>
          </a:prstGeom>
          <a:noFill/>
          <a:ln>
            <a:solidFill>
              <a:srgbClr val="150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>
              <a:ln>
                <a:solidFill>
                  <a:sysClr val="windowText" lastClr="000000"/>
                </a:solidFill>
              </a:ln>
              <a:latin typeface="Barlow" panose="00000500000000000000" pitchFamily="2" charset="0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E8DE806-C130-B60E-4D28-F3A8BB44D781}"/>
              </a:ext>
            </a:extLst>
          </p:cNvPr>
          <p:cNvSpPr txBox="1"/>
          <p:nvPr/>
        </p:nvSpPr>
        <p:spPr>
          <a:xfrm>
            <a:off x="683352" y="37141838"/>
            <a:ext cx="133491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Barlow" panose="00000500000000000000" pitchFamily="2" charset="0"/>
              </a:rPr>
              <a:t>Conclusão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25BF802-42CC-9E83-3A19-360229BE9058}"/>
              </a:ext>
            </a:extLst>
          </p:cNvPr>
          <p:cNvSpPr txBox="1"/>
          <p:nvPr/>
        </p:nvSpPr>
        <p:spPr>
          <a:xfrm>
            <a:off x="1031917" y="37833987"/>
            <a:ext cx="129844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/>
            </a:lvl1pPr>
          </a:lstStyle>
          <a:p>
            <a:pPr algn="just"/>
            <a:r>
              <a:rPr lang="pt-BR" sz="3600" dirty="0">
                <a:latin typeface="Barlow" panose="00000500000000000000" pitchFamily="2" charset="0"/>
              </a:rPr>
              <a:t>O modelo LLM a ser adotado para o SB100 será baseado na arquitetura </a:t>
            </a:r>
            <a:r>
              <a:rPr lang="pt-BR" sz="3600" dirty="0" err="1">
                <a:latin typeface="Barlow" panose="00000500000000000000" pitchFamily="2" charset="0"/>
              </a:rPr>
              <a:t>Transformer</a:t>
            </a:r>
            <a:r>
              <a:rPr lang="pt-BR" sz="3600" dirty="0">
                <a:latin typeface="Barlow" panose="00000500000000000000" pitchFamily="2" charset="0"/>
              </a:rPr>
              <a:t>, que utiliza mecanismos de atenção </a:t>
            </a:r>
            <a:r>
              <a:rPr lang="pt-BR" sz="3600" dirty="0" err="1">
                <a:latin typeface="Barlow" panose="00000500000000000000" pitchFamily="2" charset="0"/>
              </a:rPr>
              <a:t>auto-regressivas</a:t>
            </a:r>
            <a:r>
              <a:rPr lang="pt-BR" sz="3600" dirty="0">
                <a:latin typeface="Barlow" panose="00000500000000000000" pitchFamily="2" charset="0"/>
              </a:rPr>
              <a:t>, permitindo a captura de relações entre palavras e frases em um texto, bem como contexto e significado.</a:t>
            </a:r>
          </a:p>
          <a:p>
            <a:pPr algn="just"/>
            <a:r>
              <a:rPr lang="pt-BR" sz="3600" dirty="0">
                <a:latin typeface="Barlow" panose="00000500000000000000" pitchFamily="2" charset="0"/>
              </a:rPr>
              <a:t> A vetorização garante ao o modelo LLM a capacidade de gerar tabelas, gráficos, texto descritivo, responder perguntas, bem como fazer comparações, extrair informações.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66FA7C08-760B-FEDC-88A8-7378EAAE78CC}"/>
              </a:ext>
            </a:extLst>
          </p:cNvPr>
          <p:cNvSpPr txBox="1"/>
          <p:nvPr/>
        </p:nvSpPr>
        <p:spPr>
          <a:xfrm>
            <a:off x="14730121" y="37133042"/>
            <a:ext cx="133491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Barlow" panose="00000500000000000000" pitchFamily="2" charset="0"/>
              </a:rPr>
              <a:t>Bibliografia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2A86BB3-574C-EE0A-58C1-D52162DAEB6A}"/>
              </a:ext>
            </a:extLst>
          </p:cNvPr>
          <p:cNvSpPr txBox="1"/>
          <p:nvPr/>
        </p:nvSpPr>
        <p:spPr>
          <a:xfrm>
            <a:off x="14720142" y="37833987"/>
            <a:ext cx="1334315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/>
            </a:lvl1pPr>
          </a:lstStyle>
          <a:p>
            <a:pPr algn="just"/>
            <a:r>
              <a:rPr lang="pt-BR" sz="3500" dirty="0">
                <a:latin typeface="Barlow" panose="00000500000000000000" pitchFamily="2" charset="0"/>
              </a:rPr>
              <a:t>QUAGGIO, JOSÉ A. ; MATTOS, DIRCEU ; BOARETTO, R.M. ; ZAMBROSI, FERNANDO C. BACHIEGA ; Cantarella, Heitor. 3.4. Citros. Em: Cantarella, H; </a:t>
            </a:r>
            <a:r>
              <a:rPr lang="pt-BR" sz="3500" dirty="0" err="1">
                <a:latin typeface="Barlow" panose="00000500000000000000" pitchFamily="2" charset="0"/>
              </a:rPr>
              <a:t>Quaggio</a:t>
            </a:r>
            <a:r>
              <a:rPr lang="pt-BR" sz="3500" dirty="0">
                <a:latin typeface="Barlow" panose="00000500000000000000" pitchFamily="2" charset="0"/>
              </a:rPr>
              <a:t>, J.A.; Mattos Jr, D, Boaretto, R.M.; </a:t>
            </a:r>
            <a:r>
              <a:rPr lang="pt-BR" sz="3500" dirty="0" err="1">
                <a:latin typeface="Barlow" panose="00000500000000000000" pitchFamily="2" charset="0"/>
              </a:rPr>
              <a:t>Raij</a:t>
            </a:r>
            <a:r>
              <a:rPr lang="pt-BR" sz="3500" dirty="0">
                <a:latin typeface="Barlow" panose="00000500000000000000" pitchFamily="2" charset="0"/>
              </a:rPr>
              <a:t>, B. van. (Org.). Recomendações de adubação e calagem para o estado de São Paulo - B100. 3ed.Campinas. : Instituto Agronômico de Campinas. 2022.v. 1, p. 187-198.</a:t>
            </a:r>
          </a:p>
          <a:p>
            <a:pPr algn="just"/>
            <a:r>
              <a:rPr lang="pt-BR" sz="3500" dirty="0">
                <a:latin typeface="Barlow" panose="00000500000000000000" pitchFamily="2" charset="0"/>
              </a:rPr>
              <a:t>SHUTSKE, J. M. </a:t>
            </a:r>
            <a:r>
              <a:rPr lang="pt-BR" sz="3500" dirty="0" err="1">
                <a:latin typeface="Barlow" panose="00000500000000000000" pitchFamily="2" charset="0"/>
              </a:rPr>
              <a:t>Harnessing</a:t>
            </a:r>
            <a:r>
              <a:rPr lang="pt-BR" sz="3500" dirty="0">
                <a:latin typeface="Barlow" panose="00000500000000000000" pitchFamily="2" charset="0"/>
              </a:rPr>
              <a:t> </a:t>
            </a:r>
            <a:r>
              <a:rPr lang="pt-BR" sz="3500" dirty="0" err="1">
                <a:latin typeface="Barlow" panose="00000500000000000000" pitchFamily="2" charset="0"/>
              </a:rPr>
              <a:t>the</a:t>
            </a:r>
            <a:r>
              <a:rPr lang="pt-BR" sz="3500" dirty="0">
                <a:latin typeface="Barlow" panose="00000500000000000000" pitchFamily="2" charset="0"/>
              </a:rPr>
              <a:t> Power </a:t>
            </a:r>
            <a:r>
              <a:rPr lang="pt-BR" sz="3500" dirty="0" err="1">
                <a:latin typeface="Barlow" panose="00000500000000000000" pitchFamily="2" charset="0"/>
              </a:rPr>
              <a:t>of</a:t>
            </a:r>
            <a:r>
              <a:rPr lang="pt-BR" sz="3500" dirty="0">
                <a:latin typeface="Barlow" panose="00000500000000000000" pitchFamily="2" charset="0"/>
              </a:rPr>
              <a:t> Large </a:t>
            </a:r>
            <a:r>
              <a:rPr lang="pt-BR" sz="3500" dirty="0" err="1">
                <a:latin typeface="Barlow" panose="00000500000000000000" pitchFamily="2" charset="0"/>
              </a:rPr>
              <a:t>Language</a:t>
            </a:r>
            <a:r>
              <a:rPr lang="pt-BR" sz="3500" dirty="0">
                <a:latin typeface="Barlow" panose="00000500000000000000" pitchFamily="2" charset="0"/>
              </a:rPr>
              <a:t> Models in </a:t>
            </a:r>
            <a:r>
              <a:rPr lang="pt-BR" sz="3500" dirty="0" err="1">
                <a:latin typeface="Barlow" panose="00000500000000000000" pitchFamily="2" charset="0"/>
              </a:rPr>
              <a:t>Agricultural</a:t>
            </a:r>
            <a:r>
              <a:rPr lang="pt-BR" sz="3500" dirty="0">
                <a:latin typeface="Barlow" panose="00000500000000000000" pitchFamily="2" charset="0"/>
              </a:rPr>
              <a:t> </a:t>
            </a:r>
            <a:r>
              <a:rPr lang="pt-BR" sz="3500" dirty="0" err="1">
                <a:latin typeface="Barlow" panose="00000500000000000000" pitchFamily="2" charset="0"/>
              </a:rPr>
              <a:t>Safety</a:t>
            </a:r>
            <a:r>
              <a:rPr lang="pt-BR" sz="3500" dirty="0">
                <a:latin typeface="Barlow" panose="00000500000000000000" pitchFamily="2" charset="0"/>
              </a:rPr>
              <a:t> &amp; Health. </a:t>
            </a:r>
            <a:r>
              <a:rPr lang="pt-BR" sz="3500" dirty="0" err="1">
                <a:latin typeface="Barlow" panose="00000500000000000000" pitchFamily="2" charset="0"/>
              </a:rPr>
              <a:t>Journal</a:t>
            </a:r>
            <a:r>
              <a:rPr lang="pt-BR" sz="3500" dirty="0">
                <a:latin typeface="Barlow" panose="00000500000000000000" pitchFamily="2" charset="0"/>
              </a:rPr>
              <a:t> </a:t>
            </a:r>
            <a:r>
              <a:rPr lang="pt-BR" sz="3500" dirty="0" err="1">
                <a:latin typeface="Barlow" panose="00000500000000000000" pitchFamily="2" charset="0"/>
              </a:rPr>
              <a:t>of</a:t>
            </a:r>
            <a:r>
              <a:rPr lang="pt-BR" sz="3500" dirty="0">
                <a:latin typeface="Barlow" panose="00000500000000000000" pitchFamily="2" charset="0"/>
              </a:rPr>
              <a:t> </a:t>
            </a:r>
            <a:r>
              <a:rPr lang="pt-BR" sz="3500" dirty="0" err="1">
                <a:latin typeface="Barlow" panose="00000500000000000000" pitchFamily="2" charset="0"/>
              </a:rPr>
              <a:t>Agricultural</a:t>
            </a:r>
            <a:r>
              <a:rPr lang="pt-BR" sz="3500" dirty="0">
                <a:latin typeface="Barlow" panose="00000500000000000000" pitchFamily="2" charset="0"/>
              </a:rPr>
              <a:t> </a:t>
            </a:r>
            <a:r>
              <a:rPr lang="pt-BR" sz="3500" dirty="0" err="1">
                <a:latin typeface="Barlow" panose="00000500000000000000" pitchFamily="2" charset="0"/>
              </a:rPr>
              <a:t>Safety</a:t>
            </a:r>
            <a:r>
              <a:rPr lang="pt-BR" sz="3500" dirty="0">
                <a:latin typeface="Barlow" panose="00000500000000000000" pitchFamily="2" charset="0"/>
              </a:rPr>
              <a:t> </a:t>
            </a:r>
            <a:r>
              <a:rPr lang="pt-BR" sz="3500" dirty="0" err="1">
                <a:latin typeface="Barlow" panose="00000500000000000000" pitchFamily="2" charset="0"/>
              </a:rPr>
              <a:t>and</a:t>
            </a:r>
            <a:r>
              <a:rPr lang="pt-BR" sz="3500" dirty="0">
                <a:latin typeface="Barlow" panose="00000500000000000000" pitchFamily="2" charset="0"/>
              </a:rPr>
              <a:t> Health, p. 0, 2023.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ED07E7FD-CF3C-6D5A-F15D-9F6849144B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247813" y="214471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6AF9175-95AA-1446-CA2D-816C88CBC0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00213" y="21599525"/>
            <a:ext cx="7446930" cy="7446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CBA55DCF-1C7E-5EF3-2C50-6924B4C88C37}"/>
              </a:ext>
            </a:extLst>
          </p:cNvPr>
          <p:cNvSpPr txBox="1"/>
          <p:nvPr/>
        </p:nvSpPr>
        <p:spPr>
          <a:xfrm>
            <a:off x="17784819" y="35205750"/>
            <a:ext cx="8696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>
                <a:latin typeface="Barlow" panose="00000500000000000000" pitchFamily="2" charset="0"/>
                <a:cs typeface="Arial" panose="020B0604020202020204" pitchFamily="34" charset="0"/>
              </a:rPr>
              <a:t>Fig. 1  </a:t>
            </a:r>
            <a:r>
              <a:rPr lang="pt-BR" sz="3600" dirty="0">
                <a:latin typeface="Barlow" panose="00000500000000000000" pitchFamily="2" charset="0"/>
                <a:cs typeface="Arial" panose="020B0604020202020204" pitchFamily="34" charset="0"/>
              </a:rPr>
              <a:t>- Arquitetura da Pesquisa</a:t>
            </a: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49BA81F4-3EBB-12B1-B32A-014779348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4202" y="26411582"/>
            <a:ext cx="13216898" cy="797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46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3692</TotalTime>
  <Words>758</Words>
  <Application>Microsoft Office PowerPoint</Application>
  <PresentationFormat>Personalizar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Barlow</vt:lpstr>
      <vt:lpstr>Office Theme</vt:lpstr>
      <vt:lpstr>Agrônomo Virtual:  Avaliação de LLMs no Manejo e Nutrição de Citrus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JOHNE MARCUS JARSKE</dc:creator>
  <cp:lastModifiedBy>Dirceu André Gerardi</cp:lastModifiedBy>
  <cp:revision>20</cp:revision>
  <dcterms:created xsi:type="dcterms:W3CDTF">2024-07-09T18:05:32Z</dcterms:created>
  <dcterms:modified xsi:type="dcterms:W3CDTF">2024-10-08T11:30:55Z</dcterms:modified>
</cp:coreProperties>
</file>