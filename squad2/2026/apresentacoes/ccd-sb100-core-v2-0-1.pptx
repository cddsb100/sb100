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7"/>
  </p:notesMasterIdLst>
  <p:sldIdLst>
    <p:sldId id="262" r:id="rId2"/>
    <p:sldId id="296" r:id="rId3"/>
    <p:sldId id="1414" r:id="rId4"/>
    <p:sldId id="1417" r:id="rId5"/>
    <p:sldId id="1419" r:id="rId6"/>
    <p:sldId id="1452" r:id="rId7"/>
    <p:sldId id="1436" r:id="rId8"/>
    <p:sldId id="1475" r:id="rId9"/>
    <p:sldId id="1476" r:id="rId10"/>
    <p:sldId id="1478" r:id="rId11"/>
    <p:sldId id="1477" r:id="rId12"/>
    <p:sldId id="1479" r:id="rId13"/>
    <p:sldId id="1480" r:id="rId14"/>
    <p:sldId id="1481" r:id="rId15"/>
    <p:sldId id="1486" r:id="rId16"/>
    <p:sldId id="1482" r:id="rId17"/>
    <p:sldId id="1483" r:id="rId18"/>
    <p:sldId id="1487" r:id="rId19"/>
    <p:sldId id="1491" r:id="rId20"/>
    <p:sldId id="1492" r:id="rId21"/>
    <p:sldId id="1493" r:id="rId22"/>
    <p:sldId id="1490" r:id="rId23"/>
    <p:sldId id="1495" r:id="rId24"/>
    <p:sldId id="1496" r:id="rId25"/>
    <p:sldId id="1499" r:id="rId26"/>
    <p:sldId id="1494" r:id="rId27"/>
    <p:sldId id="1497" r:id="rId28"/>
    <p:sldId id="1498" r:id="rId29"/>
    <p:sldId id="1500" r:id="rId30"/>
    <p:sldId id="1501" r:id="rId31"/>
    <p:sldId id="1502" r:id="rId32"/>
    <p:sldId id="1503" r:id="rId33"/>
    <p:sldId id="1504" r:id="rId34"/>
    <p:sldId id="1488" r:id="rId35"/>
    <p:sldId id="1453" r:id="rId36"/>
    <p:sldId id="1456" r:id="rId37"/>
    <p:sldId id="1457" r:id="rId38"/>
    <p:sldId id="1455" r:id="rId39"/>
    <p:sldId id="1458" r:id="rId40"/>
    <p:sldId id="1459" r:id="rId41"/>
    <p:sldId id="1460" r:id="rId42"/>
    <p:sldId id="1461" r:id="rId43"/>
    <p:sldId id="1462" r:id="rId44"/>
    <p:sldId id="1463" r:id="rId45"/>
    <p:sldId id="1464" r:id="rId46"/>
    <p:sldId id="1465" r:id="rId47"/>
    <p:sldId id="1466" r:id="rId48"/>
    <p:sldId id="1467" r:id="rId49"/>
    <p:sldId id="1468" r:id="rId50"/>
    <p:sldId id="1469" r:id="rId51"/>
    <p:sldId id="1470" r:id="rId52"/>
    <p:sldId id="1471" r:id="rId53"/>
    <p:sldId id="1472" r:id="rId54"/>
    <p:sldId id="1473" r:id="rId55"/>
    <p:sldId id="1474" r:id="rId56"/>
    <p:sldId id="1451" r:id="rId57"/>
    <p:sldId id="265" r:id="rId58"/>
    <p:sldId id="1420" r:id="rId59"/>
    <p:sldId id="1441" r:id="rId60"/>
    <p:sldId id="1438" r:id="rId61"/>
    <p:sldId id="1447" r:id="rId62"/>
    <p:sldId id="1448" r:id="rId63"/>
    <p:sldId id="1449" r:id="rId64"/>
    <p:sldId id="1450" r:id="rId65"/>
    <p:sldId id="1418" r:id="rId66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4E8"/>
    <a:srgbClr val="FFFFFF"/>
    <a:srgbClr val="DBE9CD"/>
    <a:srgbClr val="5B9BD5"/>
    <a:srgbClr val="90C22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182" autoAdjust="0"/>
  </p:normalViewPr>
  <p:slideViewPr>
    <p:cSldViewPr snapToGrid="0">
      <p:cViewPr>
        <p:scale>
          <a:sx n="42" d="100"/>
          <a:sy n="42" d="100"/>
        </p:scale>
        <p:origin x="1532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1213125-F3BF-4389-AFC2-5BB08F6EB00A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F02AF44-9B77-4BEE-A288-6F0584FD56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434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983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0FC94-0CCE-B927-1D08-AD80AB970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5F001F5-794C-7CBB-B9C7-65FB1A171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0D5AC11-B3AC-B5D6-4442-AD3D21AE5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0DC2FB-E8B3-26A9-20AA-F88551E9E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802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336F8-F2E9-59B3-AFFE-846241F9E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DDB7861-02FA-C6CD-9C30-E5D244F2B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222A311-8157-DD3D-B8C4-F71EADC0B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36AF13-A75A-E6CE-D1D3-8DFEB43D0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5864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9721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42CE5-5891-17E0-60B3-853C6A382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83B2378-9456-918F-25D7-ED5E84D31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3E9181F-2F4E-F86F-4729-99C856B96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EB0D20-8C8B-7A15-F452-C453A39AC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7659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79200-9859-04F6-B74C-FE3A0B4F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2606D5-735B-4A3A-953D-6B51E8C59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365250C-157D-AD39-A8BA-ECD0C24BD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2AC5A0-27A3-BF69-13B4-EE796D588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026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FC625-8673-1F53-856A-4D8A78BC0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5867B3F-87E1-7C18-6E61-F4E0ED73D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012949D-1DBC-6B1A-384C-3E88D8436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BDFAC2-5088-504C-1443-8BB008784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2591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EF03E-1BE0-FF54-BFD8-43FEE0E1E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6E28DCD-C577-D094-DBE3-FF4617897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6F230F-0EEA-A47C-EE8A-3A568F98B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5BC8D4-F87F-13B2-078A-5CB645161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0769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6AC9A-D91E-45B8-7E95-63DC82A4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2E841E-62B6-938D-E6D0-65369E7EB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3CC3B6-65AE-055A-6E16-33FB6B999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CF03F2-EB91-2711-70F7-8A04EB803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040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60484-5928-1140-17EC-4FCEBB3F6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2DA6A8D-FE09-D6AC-C8C2-32001E424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EE900F4-E39F-7D6A-0956-DD8AFCE8F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7FD4A0-73CE-23BA-59F0-429DE85E7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6515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B2626-A987-6AC7-489B-F0B9E74A9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193BD87-F176-2C20-07A2-884C4CABD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30CCDC-1FC1-C7CF-C8B9-E07B01566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2B00C1-237F-FB1E-E639-1FA907AF6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0252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9D343-7CCC-26BC-BD31-ACD4543D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040AB22-5F5B-7031-9B28-B63423552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5303CB-A1E1-8847-CCA0-6C365780E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2B3B02-9F7E-AD9B-503B-9A2BAD394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0943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B61EB-C7DC-E72E-D412-258EF6EE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5DB41C6-5BAC-DF6A-D7D6-C3D18E093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84534A5-1D09-19AA-DB9B-71A0700E2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B3ACDC-582A-0796-AA3A-899B72068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42379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7300C-998E-C16A-3F08-7709F5C1C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5A6F0DB-A574-0C24-8FC2-C62C3B078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4F01B03-B372-EE2A-CF46-161D6F42F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82BAB8-7DD3-12A5-EF14-D113F001E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7030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FA13B-B0EC-B3D6-C8D5-F66092FB2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D85288-1DA9-C5DB-2418-36469A644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E1DAC9C-A4FF-2F0A-A714-DCA477CA2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C2A662-AD7E-45C8-3094-941636A6E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5962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841E-1859-6F0F-FD1E-C42F1401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62DDF4C-B3F7-4461-4839-43B1C60F1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57F76C-623F-14AF-0185-5C1D88F44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9D4A00-2599-52E8-A0A5-D13B13450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7400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A6B80-C27D-1D56-A210-497F9115A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279C17-73F9-2357-79A2-FB1CC486D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0FD9564-2332-D338-64B3-2E685313C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5CF850A-B659-E02F-4D21-6CAEB7DCB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961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4E4CD-13FE-A388-9E9B-ED93E865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D29BA83-4918-E8CE-DF97-AFE9F3038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D2EB5E-7176-D3B6-AFCA-3B4DC1484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A593A8-9C17-BE2F-7E82-61F1D3C1D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86665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B6769-ABCE-41A7-A94E-4EEA4425A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092E9F-74F1-CD28-D2B0-2E8C545F6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81C853-2F24-A14C-0BF1-B9BF962BE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CC8078-1FCE-E4B8-70D8-0E8F9EF6E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0209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09C35-FB91-592B-474D-700E1234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FFF7CDB-E40C-BDC4-CD29-71701F802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59B92DA-18E1-F030-F3CD-9F1B32F95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695335-DC21-A0C2-8C5D-45B2A4D10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13995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35B82-65AF-7585-02F8-002C620A6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DB5360-B175-39EC-D587-51730D6EE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4A8B66-9631-484D-56D3-AAEB71B6F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66E0F0-B74B-3168-C265-BF9E624D3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5798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57D8C-27B5-8BBE-49DC-A7EF37EC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E4AE03-FD5B-2C2F-6AF9-F102E0147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3B9585A-1D49-82DE-CEDA-1811B275C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567020-9B51-F182-6B34-4501294A2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19443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94CA2-4084-8416-0F53-13299CAA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D68244-847E-8530-1A25-DE10A6011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7F89E89-CD56-70CF-E9A8-B6D509B71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48A1B7-0FBE-D927-A382-913F260C5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487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FB99-C9D6-3210-7339-2AE8DE52F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7D33CB3-B45F-0AE9-099B-11A3D113A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05A2C08-B8C6-EB2E-DB56-0EFDEED32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8A17BE-B413-00CC-A57A-6DC5C3C50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97139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76CF0-EC5B-E46B-267D-194777A5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9EA6783-F91C-F4F2-022B-3D53FF305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BB055A-9C99-C07C-FF8D-7F4959E4B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B3F685-8C32-A5A9-A05F-FAE4AED11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4438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0880-49F4-1EE0-C439-F47E02879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3B7729-8E80-A595-CFCF-44153BF3D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C81E021-C379-BA44-B31B-FA8B2A0EA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075448-CE99-38DC-4CE7-CED2C02CA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96380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60F9C-5115-5EAB-C152-1B74AD3D6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349DA27-D112-B041-9A1A-E577FB20C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EAB0A20-6E84-DCAB-E6AE-924BD5D25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32ADBC-32B8-38AF-AA6E-A0FB59610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37432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167B0-6597-88C1-C0CE-7B0CFBBC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3F8A01F-A553-68F0-31C1-6022B0F01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CC94637-736B-648C-17E0-7F2FE8648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B239ED-3C37-BD86-9919-1934F5900B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09879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9B77-F9A8-5AD8-2FE8-32C1461C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3C6F290-1240-FE1D-8A1A-161E5F427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68963E-1D8E-28DF-A310-C082D2BE8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4D1C82-7206-B528-36A2-9C3F9C62D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90316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04952-F01B-204C-D59D-46DC2C2C4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F7B5F46-6A46-9E40-0326-95A0201AB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75D3C4-B36A-46E1-EC37-D25F28E5E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C683D6-D396-EA02-04E3-0840862AC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47398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2AF44-9B77-4BEE-A288-6F0584FD569E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6077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9B8234FE-7A32-2ED2-0C03-3E3C0570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7d5600b68_3_26:notes">
            <a:extLst>
              <a:ext uri="{FF2B5EF4-FFF2-40B4-BE49-F238E27FC236}">
                <a16:creationId xmlns:a16="http://schemas.microsoft.com/office/drawing/2014/main" id="{7AFC63DE-255A-05F6-BAE6-FD18396BF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7d5600b68_3_26:notes">
            <a:extLst>
              <a:ext uri="{FF2B5EF4-FFF2-40B4-BE49-F238E27FC236}">
                <a16:creationId xmlns:a16="http://schemas.microsoft.com/office/drawing/2014/main" id="{0D35E3A1-3960-3541-821D-8B556790DB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6301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973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6214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027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9106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1872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776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038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7594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5671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1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0197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6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2462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7546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1330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5723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0E61C-7E23-4B6B-918D-BDB157843EDE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88AACFA-B390-43FE-96D0-AE35B79246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65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JKUA6J1rAdbjy5ic7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7So9uNG3Tv27ozZbA" TargetMode="External"/><Relationship Id="rId2" Type="http://schemas.openxmlformats.org/officeDocument/2006/relationships/hyperlink" Target="https://forms.gle/JKUA6J1rAdbjy5ic7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forms.gle/RAKTujvhg7PceGPo6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9382" y="901694"/>
            <a:ext cx="11378045" cy="1529779"/>
          </a:xfrm>
        </p:spPr>
        <p:txBody>
          <a:bodyPr>
            <a:noAutofit/>
          </a:bodyPr>
          <a:lstStyle/>
          <a:p>
            <a:pPr algn="ctr"/>
            <a:r>
              <a:rPr lang="pt-BR" sz="4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CCD-SB100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382D1804-87B0-C8CF-A41E-5EF3041EA8EF}"/>
              </a:ext>
            </a:extLst>
          </p:cNvPr>
          <p:cNvSpPr txBox="1">
            <a:spLocks/>
          </p:cNvSpPr>
          <p:nvPr/>
        </p:nvSpPr>
        <p:spPr>
          <a:xfrm>
            <a:off x="4009271" y="5956306"/>
            <a:ext cx="4609221" cy="6904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01. 10.2025</a:t>
            </a:r>
            <a:endParaRPr lang="pt-B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D6FC5C1-DECE-B802-73A4-B97CFA8F0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88115"/>
              </p:ext>
            </p:extLst>
          </p:nvPr>
        </p:nvGraphicFramePr>
        <p:xfrm>
          <a:off x="435014" y="3749040"/>
          <a:ext cx="4011255" cy="21541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4698">
                  <a:extLst>
                    <a:ext uri="{9D8B030D-6E8A-4147-A177-3AD203B41FA5}">
                      <a16:colId xmlns:a16="http://schemas.microsoft.com/office/drawing/2014/main" val="630743629"/>
                    </a:ext>
                  </a:extLst>
                </a:gridCol>
                <a:gridCol w="1246557">
                  <a:extLst>
                    <a:ext uri="{9D8B030D-6E8A-4147-A177-3AD203B41FA5}">
                      <a16:colId xmlns:a16="http://schemas.microsoft.com/office/drawing/2014/main" val="478182788"/>
                    </a:ext>
                  </a:extLst>
                </a:gridCol>
              </a:tblGrid>
              <a:tr h="239089">
                <a:tc>
                  <a:txBody>
                    <a:bodyPr/>
                    <a:lstStyle/>
                    <a:p>
                      <a:pPr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Braz Izaias da Silva Junior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FATEC Cotia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213404"/>
                  </a:ext>
                </a:extLst>
              </a:tr>
              <a:tr h="239089">
                <a:tc>
                  <a:txBody>
                    <a:bodyPr/>
                    <a:lstStyle/>
                    <a:p>
                      <a:pPr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Fernanda Pereira Gomes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FATEC Cotia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078792"/>
                  </a:ext>
                </a:extLst>
              </a:tr>
              <a:tr h="239089">
                <a:tc>
                  <a:txBody>
                    <a:bodyPr/>
                    <a:lstStyle/>
                    <a:p>
                      <a:pPr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Sílvio Fernando Barbieri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FATEC Cotia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816293"/>
                  </a:ext>
                </a:extLst>
              </a:tr>
              <a:tr h="239089">
                <a:tc>
                  <a:txBody>
                    <a:bodyPr/>
                    <a:lstStyle/>
                    <a:p>
                      <a:pPr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Dionisio Gava Junior</a:t>
                      </a:r>
                      <a:endParaRPr lang="pt-BR" sz="1200" b="0" kern="15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FATEC Cotia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419031"/>
                  </a:ext>
                </a:extLst>
              </a:tr>
              <a:tr h="239089">
                <a:tc>
                  <a:txBody>
                    <a:bodyPr/>
                    <a:lstStyle/>
                    <a:p>
                      <a:pPr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João Ricardo Favam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FATEC Pompeia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37294"/>
                  </a:ext>
                </a:extLst>
              </a:tr>
              <a:tr h="239089">
                <a:tc>
                  <a:txBody>
                    <a:bodyPr/>
                    <a:lstStyle/>
                    <a:p>
                      <a:pPr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Luís Hilário Garcia </a:t>
                      </a:r>
                      <a:r>
                        <a:rPr lang="pt-BR" sz="1100" b="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Tobler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FATEC Pompeia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917215"/>
                  </a:ext>
                </a:extLst>
              </a:tr>
              <a:tr h="239089">
                <a:tc>
                  <a:txBody>
                    <a:bodyPr/>
                    <a:lstStyle/>
                    <a:p>
                      <a:pPr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Luiz Eduardo </a:t>
                      </a:r>
                      <a:r>
                        <a:rPr lang="pt-BR" sz="1100" b="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Zamariolli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FATEC Pompeia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30415"/>
                  </a:ext>
                </a:extLst>
              </a:tr>
              <a:tr h="239089">
                <a:tc>
                  <a:txBody>
                    <a:bodyPr/>
                    <a:lstStyle/>
                    <a:p>
                      <a:pPr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Sérgio Negro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1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FATEC Pompeia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807393"/>
                  </a:ext>
                </a:extLst>
              </a:tr>
              <a:tr h="239089">
                <a:tc>
                  <a:txBody>
                    <a:bodyPr/>
                    <a:lstStyle/>
                    <a:p>
                      <a:pPr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200" b="0" kern="1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Allan </a:t>
                      </a:r>
                      <a:r>
                        <a:rPr lang="pt-BR" sz="1200" b="0" kern="15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Siriani</a:t>
                      </a:r>
                      <a:endParaRPr lang="pt-BR" sz="1200" b="0" kern="1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ct val="150000"/>
                        </a:lnSpc>
                        <a:buNone/>
                      </a:pPr>
                      <a:r>
                        <a:rPr lang="pt-BR" sz="1200" b="0" kern="1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FATEC Pompeia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539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44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B62AA-15E9-BB38-1E7E-457B35A6E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879D246B-9EBA-8776-7B8E-077F323FD6EE}"/>
              </a:ext>
            </a:extLst>
          </p:cNvPr>
          <p:cNvSpPr txBox="1"/>
          <p:nvPr/>
        </p:nvSpPr>
        <p:spPr>
          <a:xfrm>
            <a:off x="1105467" y="357356"/>
            <a:ext cx="2898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CCD SB100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C59EF29-A4DF-8B15-2A22-94CEDC21258F}"/>
              </a:ext>
            </a:extLst>
          </p:cNvPr>
          <p:cNvSpPr txBox="1"/>
          <p:nvPr/>
        </p:nvSpPr>
        <p:spPr>
          <a:xfrm>
            <a:off x="4824069" y="388133"/>
            <a:ext cx="2961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Visão geral do ecossistema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64B5970-32E5-C5CF-C1C7-883D6344F80B}"/>
              </a:ext>
            </a:extLst>
          </p:cNvPr>
          <p:cNvSpPr/>
          <p:nvPr/>
        </p:nvSpPr>
        <p:spPr>
          <a:xfrm>
            <a:off x="935181" y="2234047"/>
            <a:ext cx="1756063" cy="316922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45029E2-AE9B-95A5-6B9A-A50CB47657F9}"/>
              </a:ext>
            </a:extLst>
          </p:cNvPr>
          <p:cNvSpPr/>
          <p:nvPr/>
        </p:nvSpPr>
        <p:spPr>
          <a:xfrm>
            <a:off x="3422282" y="2234047"/>
            <a:ext cx="1756063" cy="316922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E566EC3-8251-46B9-9FDF-F1881CCC205C}"/>
              </a:ext>
            </a:extLst>
          </p:cNvPr>
          <p:cNvSpPr/>
          <p:nvPr/>
        </p:nvSpPr>
        <p:spPr>
          <a:xfrm>
            <a:off x="5985372" y="2223164"/>
            <a:ext cx="1756063" cy="316922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CED8478-D874-D320-568B-DD09839A97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4781" b="20833" l="71532" r="90640">
                        <a14:foregroundMark x1="76110" y1="14780" x2="75804" y2="17296"/>
                        <a14:foregroundMark x1="78560" y1="15094" x2="77795" y2="18553"/>
                        <a14:foregroundMark x1="83308" y1="14151" x2="81317" y2="16667"/>
                        <a14:foregroundMark x1="84380" y1="9277" x2="84380" y2="9277"/>
                        <a14:foregroundMark x1="76876" y1="7075" x2="77489" y2="7075"/>
                      </a14:backgroundRemoval>
                    </a14:imgEffect>
                  </a14:imgLayer>
                </a14:imgProps>
              </a:ext>
            </a:extLst>
          </a:blip>
          <a:srcRect l="69143" t="2774" r="6971" b="77160"/>
          <a:stretch/>
        </p:blipFill>
        <p:spPr>
          <a:xfrm>
            <a:off x="8443864" y="-26454"/>
            <a:ext cx="1909684" cy="156247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BC808D1-C794-E4E7-EA8D-40EAF51A40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28571" y1="30108" x2="26190" y2="63441"/>
                        <a14:foregroundMark x1="26190" y1="63441" x2="59524" y2="72043"/>
                        <a14:foregroundMark x1="59524" y1="72043" x2="76190" y2="55914"/>
                        <a14:foregroundMark x1="76190" y1="55914" x2="60714" y2="33333"/>
                        <a14:foregroundMark x1="60714" y1="33333" x2="28571" y2="33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88635" y="1048350"/>
            <a:ext cx="1248248" cy="138198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D64C75C-07EE-BAC6-B3E7-3C825DED3D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08817" y="2647881"/>
            <a:ext cx="1007883" cy="145734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FB955796-0991-2E04-F186-E511956D00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57009" y1="22772" x2="61682" y2="80198"/>
                        <a14:foregroundMark x1="25234" y1="74257" x2="43925" y2="69307"/>
                        <a14:foregroundMark x1="73832" y1="67327" x2="81308" y2="7524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44983" y="3429000"/>
            <a:ext cx="1432796" cy="135245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C8578834-DDB1-B948-3275-A5EE3B656C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20952" y1="50467" x2="27619" y2="68224"/>
                        <a14:foregroundMark x1="73333" y1="46729" x2="79048" y2="70093"/>
                        <a14:foregroundMark x1="81905" y1="30841" x2="81905" y2="30841"/>
                        <a14:foregroundMark x1="54286" y1="24299" x2="54286" y2="24299"/>
                        <a14:foregroundMark x1="26667" y1="30841" x2="26667" y2="308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97676" y="1630792"/>
            <a:ext cx="1489211" cy="1517576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F7355262-4D67-0C82-7C97-A3F0A3588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40496" y1="34188" x2="62810" y2="41880"/>
                        <a14:foregroundMark x1="65289" y1="29915" x2="65289" y2="42735"/>
                        <a14:foregroundMark x1="34711" y1="29915" x2="54545" y2="29915"/>
                        <a14:foregroundMark x1="27273" y1="61538" x2="34711" y2="62393"/>
                        <a14:foregroundMark x1="37190" y1="65812" x2="37190" y2="65812"/>
                        <a14:foregroundMark x1="48760" y1="54701" x2="48760" y2="54701"/>
                        <a14:foregroundMark x1="43802" y1="52991" x2="52066" y2="76068"/>
                        <a14:foregroundMark x1="58678" y1="52991" x2="58678" y2="52991"/>
                        <a14:foregroundMark x1="60331" y1="52991" x2="60331" y2="52991"/>
                        <a14:foregroundMark x1="60331" y1="56410" x2="60331" y2="56410"/>
                        <a14:backgroundMark x1="34711" y1="70085" x2="34711" y2="700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9668" y="4876228"/>
            <a:ext cx="1398689" cy="1352452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EF3E532-AFA3-4830-DEEF-51056A7D8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989" b="95506" l="2988" r="92794">
                        <a14:foregroundMark x1="7557" y1="36758" x2="7206" y2="50080"/>
                        <a14:foregroundMark x1="7206" y1="50080" x2="7206" y2="49759"/>
                        <a14:foregroundMark x1="39367" y1="9149" x2="44288" y2="9149"/>
                        <a14:foregroundMark x1="91037" y1="39807" x2="92619" y2="50080"/>
                        <a14:foregroundMark x1="4218" y1="82343" x2="4569" y2="84109"/>
                        <a14:foregroundMark x1="46397" y1="67737" x2="46397" y2="71750"/>
                        <a14:foregroundMark x1="62214" y1="64366" x2="62214" y2="72552"/>
                        <a14:foregroundMark x1="61511" y1="92616" x2="62214" y2="95666"/>
                        <a14:foregroundMark x1="60105" y1="94222" x2="61160" y2="91493"/>
                        <a14:foregroundMark x1="60984" y1="92616" x2="61863" y2="94864"/>
                        <a14:foregroundMark x1="92970" y1="91653" x2="92794" y2="92295"/>
                        <a14:foregroundMark x1="33919" y1="66613" x2="33919" y2="66613"/>
                        <a14:foregroundMark x1="34095" y1="72231" x2="34095" y2="72231"/>
                        <a14:foregroundMark x1="33919" y1="77528" x2="33919" y2="77528"/>
                        <a14:foregroundMark x1="34095" y1="82986" x2="34095" y2="82986"/>
                        <a14:foregroundMark x1="34095" y1="88283" x2="34095" y2="88283"/>
                        <a14:foregroundMark x1="30756" y1="92135" x2="30756" y2="92135"/>
                        <a14:foregroundMark x1="15641" y1="72071" x2="15641" y2="72071"/>
                        <a14:foregroundMark x1="2988" y1="85393" x2="2988" y2="85393"/>
                        <a14:foregroundMark x1="75395" y1="63082" x2="75395" y2="63082"/>
                        <a14:foregroundMark x1="75571" y1="68379" x2="75571" y2="68379"/>
                        <a14:foregroundMark x1="75923" y1="74318" x2="75923" y2="74318"/>
                        <a14:foregroundMark x1="78735" y1="78491" x2="78735" y2="78491"/>
                        <a14:foregroundMark x1="84534" y1="79615" x2="84534" y2="79615"/>
                        <a14:foregroundMark x1="90510" y1="82986" x2="90510" y2="82986"/>
                        <a14:foregroundMark x1="21968" y1="92135" x2="21968" y2="92135"/>
                        <a14:foregroundMark x1="33743" y1="60995" x2="33743" y2="60995"/>
                        <a14:foregroundMark x1="22671" y1="88443" x2="24077" y2="92135"/>
                        <a14:backgroundMark x1="61336" y1="99358" x2="61511" y2="98716"/>
                        <a14:backgroundMark x1="62214" y1="98555" x2="62214" y2="97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53548" y="4511289"/>
            <a:ext cx="1109672" cy="1214983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035C00F2-49DC-E6F2-6369-3C9FB6F3860F}"/>
              </a:ext>
            </a:extLst>
          </p:cNvPr>
          <p:cNvSpPr txBox="1"/>
          <p:nvPr/>
        </p:nvSpPr>
        <p:spPr>
          <a:xfrm>
            <a:off x="315304" y="5395262"/>
            <a:ext cx="14053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Geração &amp; curadoria de conhecimento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D224A8D-8F0E-5208-93E3-C0ABA5727FF6}"/>
              </a:ext>
            </a:extLst>
          </p:cNvPr>
          <p:cNvSpPr txBox="1"/>
          <p:nvPr/>
        </p:nvSpPr>
        <p:spPr>
          <a:xfrm>
            <a:off x="3814439" y="1915081"/>
            <a:ext cx="2481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Plataforma LLM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F0BB509-C56A-C0D4-8716-25427644AAEB}"/>
              </a:ext>
            </a:extLst>
          </p:cNvPr>
          <p:cNvSpPr/>
          <p:nvPr/>
        </p:nvSpPr>
        <p:spPr>
          <a:xfrm>
            <a:off x="8443864" y="124691"/>
            <a:ext cx="3391381" cy="656705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6B731B96-9C67-3D92-E9F6-03BC4988E18B}"/>
              </a:ext>
            </a:extLst>
          </p:cNvPr>
          <p:cNvSpPr/>
          <p:nvPr/>
        </p:nvSpPr>
        <p:spPr>
          <a:xfrm>
            <a:off x="2763489" y="3728399"/>
            <a:ext cx="621930" cy="280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D9859FE6-0B7D-5637-0447-FF3AE84218C5}"/>
              </a:ext>
            </a:extLst>
          </p:cNvPr>
          <p:cNvSpPr/>
          <p:nvPr/>
        </p:nvSpPr>
        <p:spPr>
          <a:xfrm>
            <a:off x="5258844" y="3728399"/>
            <a:ext cx="621930" cy="280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eta: para a Direita 29">
            <a:extLst>
              <a:ext uri="{FF2B5EF4-FFF2-40B4-BE49-F238E27FC236}">
                <a16:creationId xmlns:a16="http://schemas.microsoft.com/office/drawing/2014/main" id="{078EEC16-1117-D78E-C2B4-BACA75738ED1}"/>
              </a:ext>
            </a:extLst>
          </p:cNvPr>
          <p:cNvSpPr/>
          <p:nvPr/>
        </p:nvSpPr>
        <p:spPr>
          <a:xfrm>
            <a:off x="7798840" y="2815609"/>
            <a:ext cx="621930" cy="280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eta: Dobrada para Cima 33">
            <a:extLst>
              <a:ext uri="{FF2B5EF4-FFF2-40B4-BE49-F238E27FC236}">
                <a16:creationId xmlns:a16="http://schemas.microsoft.com/office/drawing/2014/main" id="{1635EF76-A62A-9F74-965F-E45FA0955CB8}"/>
              </a:ext>
            </a:extLst>
          </p:cNvPr>
          <p:cNvSpPr/>
          <p:nvPr/>
        </p:nvSpPr>
        <p:spPr>
          <a:xfrm rot="10800000">
            <a:off x="6931027" y="950552"/>
            <a:ext cx="1512834" cy="1257085"/>
          </a:xfrm>
          <a:prstGeom prst="bentUpArrow">
            <a:avLst>
              <a:gd name="adj1" fmla="val 16024"/>
              <a:gd name="adj2" fmla="val 18054"/>
              <a:gd name="adj3" fmla="val 2753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eta: para a Direita 34">
            <a:extLst>
              <a:ext uri="{FF2B5EF4-FFF2-40B4-BE49-F238E27FC236}">
                <a16:creationId xmlns:a16="http://schemas.microsoft.com/office/drawing/2014/main" id="{1748E201-1215-6D58-7582-332E56F49807}"/>
              </a:ext>
            </a:extLst>
          </p:cNvPr>
          <p:cNvSpPr/>
          <p:nvPr/>
        </p:nvSpPr>
        <p:spPr>
          <a:xfrm rot="10800000">
            <a:off x="5255950" y="3246794"/>
            <a:ext cx="621930" cy="280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eta: para a Direita 35">
            <a:extLst>
              <a:ext uri="{FF2B5EF4-FFF2-40B4-BE49-F238E27FC236}">
                <a16:creationId xmlns:a16="http://schemas.microsoft.com/office/drawing/2014/main" id="{167DECE1-54A4-0C9C-6474-9411C716D07F}"/>
              </a:ext>
            </a:extLst>
          </p:cNvPr>
          <p:cNvSpPr/>
          <p:nvPr/>
        </p:nvSpPr>
        <p:spPr>
          <a:xfrm rot="10800000">
            <a:off x="2707804" y="3243522"/>
            <a:ext cx="621930" cy="280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0D6A14AE-B47A-9B17-417B-9F5F5EEC92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3" t="8203" r="37092" b="15217"/>
          <a:stretch/>
        </p:blipFill>
        <p:spPr bwMode="auto">
          <a:xfrm>
            <a:off x="1387163" y="3314045"/>
            <a:ext cx="772778" cy="74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>
            <a:extLst>
              <a:ext uri="{FF2B5EF4-FFF2-40B4-BE49-F238E27FC236}">
                <a16:creationId xmlns:a16="http://schemas.microsoft.com/office/drawing/2014/main" id="{A262E915-EF15-907C-9461-0F31DC97CB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72" b="10127"/>
          <a:stretch/>
        </p:blipFill>
        <p:spPr bwMode="auto">
          <a:xfrm>
            <a:off x="1278725" y="4751071"/>
            <a:ext cx="1120477" cy="50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>
            <a:extLst>
              <a:ext uri="{FF2B5EF4-FFF2-40B4-BE49-F238E27FC236}">
                <a16:creationId xmlns:a16="http://schemas.microsoft.com/office/drawing/2014/main" id="{6365319B-538A-D876-AD59-A6AC3931885C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292" y="2409189"/>
            <a:ext cx="670793" cy="74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4">
            <a:extLst>
              <a:ext uri="{FF2B5EF4-FFF2-40B4-BE49-F238E27FC236}">
                <a16:creationId xmlns:a16="http://schemas.microsoft.com/office/drawing/2014/main" id="{50612D16-4287-4379-2C56-957F5144494D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475" y="4156641"/>
            <a:ext cx="1507667" cy="356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>
            <a:extLst>
              <a:ext uri="{FF2B5EF4-FFF2-40B4-BE49-F238E27FC236}">
                <a16:creationId xmlns:a16="http://schemas.microsoft.com/office/drawing/2014/main" id="{20F262ED-EB89-74DA-A2CB-60EB62F71F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55" b="25566"/>
          <a:stretch/>
        </p:blipFill>
        <p:spPr bwMode="auto">
          <a:xfrm>
            <a:off x="3619836" y="2781372"/>
            <a:ext cx="1360954" cy="69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6">
            <a:extLst>
              <a:ext uri="{FF2B5EF4-FFF2-40B4-BE49-F238E27FC236}">
                <a16:creationId xmlns:a16="http://schemas.microsoft.com/office/drawing/2014/main" id="{7C2726D2-8395-3A31-C396-33E70686866C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780" y="4009031"/>
            <a:ext cx="1361180" cy="60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4">
            <a:extLst>
              <a:ext uri="{FF2B5EF4-FFF2-40B4-BE49-F238E27FC236}">
                <a16:creationId xmlns:a16="http://schemas.microsoft.com/office/drawing/2014/main" id="{DC7446A3-9630-4264-160A-440C666561D7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27" y="975944"/>
            <a:ext cx="1183264" cy="25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550005DA-3D62-629B-682A-93FDFD1685E2}"/>
              </a:ext>
            </a:extLst>
          </p:cNvPr>
          <p:cNvCxnSpPr>
            <a:cxnSpLocks/>
            <a:stCxn id="55" idx="2"/>
            <a:endCxn id="2" idx="0"/>
          </p:cNvCxnSpPr>
          <p:nvPr/>
        </p:nvCxnSpPr>
        <p:spPr>
          <a:xfrm>
            <a:off x="1813213" y="1572057"/>
            <a:ext cx="0" cy="6619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2D334AA8-71A4-648B-26E9-9FBF8C30A769}"/>
              </a:ext>
            </a:extLst>
          </p:cNvPr>
          <p:cNvCxnSpPr>
            <a:cxnSpLocks/>
            <a:stCxn id="55" idx="3"/>
            <a:endCxn id="4" idx="0"/>
          </p:cNvCxnSpPr>
          <p:nvPr/>
        </p:nvCxnSpPr>
        <p:spPr>
          <a:xfrm>
            <a:off x="2123552" y="1274924"/>
            <a:ext cx="2176762" cy="959123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18">
            <a:extLst>
              <a:ext uri="{FF2B5EF4-FFF2-40B4-BE49-F238E27FC236}">
                <a16:creationId xmlns:a16="http://schemas.microsoft.com/office/drawing/2014/main" id="{B1FB073A-471A-6C1E-3CBE-4885FC9D88A2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873" y="977790"/>
            <a:ext cx="620679" cy="59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F82B82F0-D2AA-708D-D464-86EAB459911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1855" y="1289264"/>
            <a:ext cx="549428" cy="429458"/>
          </a:xfrm>
          <a:prstGeom prst="rect">
            <a:avLst/>
          </a:prstGeom>
        </p:spPr>
      </p:pic>
      <p:sp>
        <p:nvSpPr>
          <p:cNvPr id="68" name="Colchete Esquerdo 67">
            <a:extLst>
              <a:ext uri="{FF2B5EF4-FFF2-40B4-BE49-F238E27FC236}">
                <a16:creationId xmlns:a16="http://schemas.microsoft.com/office/drawing/2014/main" id="{FA33C091-6E4F-6FDF-5B9C-1E1473F910B1}"/>
              </a:ext>
            </a:extLst>
          </p:cNvPr>
          <p:cNvSpPr/>
          <p:nvPr/>
        </p:nvSpPr>
        <p:spPr>
          <a:xfrm flipH="1">
            <a:off x="1311463" y="917251"/>
            <a:ext cx="153829" cy="1218566"/>
          </a:xfrm>
          <a:prstGeom prst="leftBracke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Conector: Angulado 68">
            <a:extLst>
              <a:ext uri="{FF2B5EF4-FFF2-40B4-BE49-F238E27FC236}">
                <a16:creationId xmlns:a16="http://schemas.microsoft.com/office/drawing/2014/main" id="{5F907AE2-C2C9-D601-B640-B9EA5ED027B1}"/>
              </a:ext>
            </a:extLst>
          </p:cNvPr>
          <p:cNvCxnSpPr>
            <a:cxnSpLocks/>
            <a:stCxn id="55" idx="3"/>
            <a:endCxn id="5" idx="0"/>
          </p:cNvCxnSpPr>
          <p:nvPr/>
        </p:nvCxnSpPr>
        <p:spPr>
          <a:xfrm>
            <a:off x="2123552" y="1274924"/>
            <a:ext cx="4739852" cy="94824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Imagem 72">
            <a:extLst>
              <a:ext uri="{FF2B5EF4-FFF2-40B4-BE49-F238E27FC236}">
                <a16:creationId xmlns:a16="http://schemas.microsoft.com/office/drawing/2014/main" id="{5D201B7C-75EB-7D31-B4F6-CAB0B36454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4624" r="41620">
                        <a14:foregroundMark x1="28986" y1="42478" x2="28502" y2="67257"/>
                        <a14:foregroundMark x1="37198" y1="41593" x2="35266" y2="63717"/>
                        <a14:foregroundMark x1="19324" y1="45133" x2="20290" y2="76991"/>
                        <a14:foregroundMark x1="11594" y1="39823" x2="13527" y2="56637"/>
                      </a14:backgroundRemoval>
                    </a14:imgEffect>
                  </a14:imgLayer>
                </a14:imgProps>
              </a:ext>
            </a:extLst>
          </a:blip>
          <a:srcRect r="53756"/>
          <a:stretch/>
        </p:blipFill>
        <p:spPr>
          <a:xfrm>
            <a:off x="6249281" y="2996223"/>
            <a:ext cx="1234802" cy="1457638"/>
          </a:xfrm>
          <a:prstGeom prst="rect">
            <a:avLst/>
          </a:prstGeom>
        </p:spPr>
      </p:pic>
      <p:sp>
        <p:nvSpPr>
          <p:cNvPr id="74" name="CaixaDeTexto 73">
            <a:extLst>
              <a:ext uri="{FF2B5EF4-FFF2-40B4-BE49-F238E27FC236}">
                <a16:creationId xmlns:a16="http://schemas.microsoft.com/office/drawing/2014/main" id="{1CDD4F02-1DBD-7C70-62F2-CD4547563DB8}"/>
              </a:ext>
            </a:extLst>
          </p:cNvPr>
          <p:cNvSpPr txBox="1"/>
          <p:nvPr/>
        </p:nvSpPr>
        <p:spPr>
          <a:xfrm>
            <a:off x="8511484" y="1228866"/>
            <a:ext cx="1769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Fabricantes equipamentos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D48A8313-6018-4427-2897-AE59F32DAAE7}"/>
              </a:ext>
            </a:extLst>
          </p:cNvPr>
          <p:cNvSpPr txBox="1"/>
          <p:nvPr/>
        </p:nvSpPr>
        <p:spPr>
          <a:xfrm>
            <a:off x="8344983" y="2989691"/>
            <a:ext cx="1769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Grandes lavouras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062BB3D0-C487-EA63-2353-04A1AD446AD8}"/>
              </a:ext>
            </a:extLst>
          </p:cNvPr>
          <p:cNvSpPr txBox="1"/>
          <p:nvPr/>
        </p:nvSpPr>
        <p:spPr>
          <a:xfrm>
            <a:off x="8338812" y="4587095"/>
            <a:ext cx="1769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Mão-de-obra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53EB2140-9035-25FF-A8E8-E2E88E5ADAB9}"/>
              </a:ext>
            </a:extLst>
          </p:cNvPr>
          <p:cNvSpPr txBox="1"/>
          <p:nvPr/>
        </p:nvSpPr>
        <p:spPr>
          <a:xfrm>
            <a:off x="10071950" y="2318069"/>
            <a:ext cx="1769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Produção alimentos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2ED27F88-91F7-BD65-E011-B8A6B4882059}"/>
              </a:ext>
            </a:extLst>
          </p:cNvPr>
          <p:cNvSpPr txBox="1"/>
          <p:nvPr/>
        </p:nvSpPr>
        <p:spPr>
          <a:xfrm>
            <a:off x="10158265" y="3985934"/>
            <a:ext cx="1769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Agricultura familiar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CD425BDD-12C6-269B-0F9B-56A22909C721}"/>
              </a:ext>
            </a:extLst>
          </p:cNvPr>
          <p:cNvSpPr txBox="1"/>
          <p:nvPr/>
        </p:nvSpPr>
        <p:spPr>
          <a:xfrm>
            <a:off x="10023632" y="5877417"/>
            <a:ext cx="1769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Plataformas IoT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A7EDAC82-4C07-8EBF-C37E-E889C345630A}"/>
              </a:ext>
            </a:extLst>
          </p:cNvPr>
          <p:cNvSpPr txBox="1"/>
          <p:nvPr/>
        </p:nvSpPr>
        <p:spPr>
          <a:xfrm>
            <a:off x="8368077" y="6068178"/>
            <a:ext cx="1769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Nutrição de plantas</a:t>
            </a:r>
          </a:p>
        </p:txBody>
      </p:sp>
      <p:cxnSp>
        <p:nvCxnSpPr>
          <p:cNvPr id="82" name="Conector: Angulado 81">
            <a:extLst>
              <a:ext uri="{FF2B5EF4-FFF2-40B4-BE49-F238E27FC236}">
                <a16:creationId xmlns:a16="http://schemas.microsoft.com/office/drawing/2014/main" id="{F25AB952-50DB-3A02-6FC9-E6FCA7507D9A}"/>
              </a:ext>
            </a:extLst>
          </p:cNvPr>
          <p:cNvCxnSpPr>
            <a:cxnSpLocks/>
            <a:stCxn id="5" idx="2"/>
            <a:endCxn id="2" idx="2"/>
          </p:cNvCxnSpPr>
          <p:nvPr/>
        </p:nvCxnSpPr>
        <p:spPr>
          <a:xfrm rot="5400000">
            <a:off x="4332868" y="2872737"/>
            <a:ext cx="10883" cy="5050191"/>
          </a:xfrm>
          <a:prstGeom prst="bentConnector3">
            <a:avLst>
              <a:gd name="adj1" fmla="val 4682964"/>
            </a:avLst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: Angulado 84">
            <a:extLst>
              <a:ext uri="{FF2B5EF4-FFF2-40B4-BE49-F238E27FC236}">
                <a16:creationId xmlns:a16="http://schemas.microsoft.com/office/drawing/2014/main" id="{1A153AAF-AC7A-AFA2-6DD9-F0B096A65396}"/>
              </a:ext>
            </a:extLst>
          </p:cNvPr>
          <p:cNvCxnSpPr>
            <a:cxnSpLocks/>
            <a:stCxn id="5" idx="2"/>
            <a:endCxn id="4" idx="2"/>
          </p:cNvCxnSpPr>
          <p:nvPr/>
        </p:nvCxnSpPr>
        <p:spPr>
          <a:xfrm rot="5400000">
            <a:off x="5576418" y="4116287"/>
            <a:ext cx="10883" cy="2563090"/>
          </a:xfrm>
          <a:prstGeom prst="bentConnector3">
            <a:avLst>
              <a:gd name="adj1" fmla="val 4587513"/>
            </a:avLst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F6AF4099-7EE7-637C-5FC0-AFE7B59251AC}"/>
              </a:ext>
            </a:extLst>
          </p:cNvPr>
          <p:cNvSpPr txBox="1"/>
          <p:nvPr/>
        </p:nvSpPr>
        <p:spPr>
          <a:xfrm>
            <a:off x="5423578" y="5370325"/>
            <a:ext cx="159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integrada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DA3B4BA-E263-BFDB-EAB0-BF64E1612DE1}"/>
              </a:ext>
            </a:extLst>
          </p:cNvPr>
          <p:cNvSpPr txBox="1"/>
          <p:nvPr/>
        </p:nvSpPr>
        <p:spPr>
          <a:xfrm>
            <a:off x="128058" y="1713305"/>
            <a:ext cx="1291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1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empresas parceiras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5933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24" grpId="0"/>
      <p:bldP spid="25" grpId="0"/>
      <p:bldP spid="27" grpId="0" animBg="1"/>
      <p:bldP spid="28" grpId="0" animBg="1"/>
      <p:bldP spid="29" grpId="0" animBg="1"/>
      <p:bldP spid="30" grpId="0" animBg="1"/>
      <p:bldP spid="34" grpId="0" animBg="1"/>
      <p:bldP spid="35" grpId="0" animBg="1"/>
      <p:bldP spid="36" grpId="0" animBg="1"/>
      <p:bldP spid="68" grpId="0" animBg="1"/>
      <p:bldP spid="74" grpId="0"/>
      <p:bldP spid="75" grpId="0"/>
      <p:bldP spid="76" grpId="0"/>
      <p:bldP spid="77" grpId="0"/>
      <p:bldP spid="78" grpId="0"/>
      <p:bldP spid="79" grpId="0"/>
      <p:bldP spid="80" grpId="0"/>
      <p:bldP spid="90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13A9A94-AAC3-50AA-03FA-CB9128009FC3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Etapas dos processos da Plataforma SB100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37F1635-D413-F6B9-F740-E707501B6CFD}"/>
              </a:ext>
            </a:extLst>
          </p:cNvPr>
          <p:cNvSpPr txBox="1"/>
          <p:nvPr/>
        </p:nvSpPr>
        <p:spPr>
          <a:xfrm>
            <a:off x="4567814" y="614549"/>
            <a:ext cx="185611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Curadoria de Informações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7EDEA58-1794-E9A8-2DAA-DE637648BAFA}"/>
              </a:ext>
            </a:extLst>
          </p:cNvPr>
          <p:cNvSpPr txBox="1"/>
          <p:nvPr/>
        </p:nvSpPr>
        <p:spPr>
          <a:xfrm>
            <a:off x="5399324" y="4933731"/>
            <a:ext cx="245375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Comunicação e Gestão   Integrada </a:t>
            </a:r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AA0DD887-2358-991F-4A37-E062CE85CEC5}"/>
              </a:ext>
            </a:extLst>
          </p:cNvPr>
          <p:cNvCxnSpPr>
            <a:cxnSpLocks/>
            <a:stCxn id="83" idx="0"/>
            <a:endCxn id="75" idx="1"/>
          </p:cNvCxnSpPr>
          <p:nvPr/>
        </p:nvCxnSpPr>
        <p:spPr>
          <a:xfrm rot="5400000" flipH="1" flipV="1">
            <a:off x="3744368" y="694772"/>
            <a:ext cx="656915" cy="2365601"/>
          </a:xfrm>
          <a:prstGeom prst="bentConnector2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41458FA4-283C-8273-237D-9E243A79636D}"/>
              </a:ext>
            </a:extLst>
          </p:cNvPr>
          <p:cNvCxnSpPr>
            <a:cxnSpLocks/>
            <a:stCxn id="75" idx="3"/>
            <a:endCxn id="44" idx="0"/>
          </p:cNvCxnSpPr>
          <p:nvPr/>
        </p:nvCxnSpPr>
        <p:spPr>
          <a:xfrm>
            <a:off x="5698349" y="1549114"/>
            <a:ext cx="3969529" cy="988362"/>
          </a:xfrm>
          <a:prstGeom prst="bentConnector2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6B19C1E4-3D88-F50D-84E4-C629A63CDAA7}"/>
              </a:ext>
            </a:extLst>
          </p:cNvPr>
          <p:cNvCxnSpPr>
            <a:cxnSpLocks/>
            <a:stCxn id="44" idx="2"/>
            <a:endCxn id="136" idx="3"/>
          </p:cNvCxnSpPr>
          <p:nvPr/>
        </p:nvCxnSpPr>
        <p:spPr>
          <a:xfrm rot="5400000">
            <a:off x="7308106" y="3620436"/>
            <a:ext cx="984878" cy="3734666"/>
          </a:xfrm>
          <a:prstGeom prst="bentConnector2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id="{F86F9E73-B1A0-C799-748C-E879DAD7CBFE}"/>
              </a:ext>
            </a:extLst>
          </p:cNvPr>
          <p:cNvCxnSpPr>
            <a:cxnSpLocks/>
            <a:stCxn id="136" idx="1"/>
            <a:endCxn id="147" idx="2"/>
          </p:cNvCxnSpPr>
          <p:nvPr/>
        </p:nvCxnSpPr>
        <p:spPr>
          <a:xfrm rot="10800000">
            <a:off x="2808287" y="5413272"/>
            <a:ext cx="2250247" cy="566937"/>
          </a:xfrm>
          <a:prstGeom prst="bentConnector2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5A16D846-0BA4-0A55-3004-415B4BC64927}"/>
              </a:ext>
            </a:extLst>
          </p:cNvPr>
          <p:cNvCxnSpPr>
            <a:cxnSpLocks/>
            <a:stCxn id="75" idx="2"/>
            <a:endCxn id="59" idx="3"/>
          </p:cNvCxnSpPr>
          <p:nvPr/>
        </p:nvCxnSpPr>
        <p:spPr>
          <a:xfrm>
            <a:off x="5476988" y="1854016"/>
            <a:ext cx="18885" cy="702384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190C488E-1A99-F572-2FDA-4922E788A33E}"/>
              </a:ext>
            </a:extLst>
          </p:cNvPr>
          <p:cNvCxnSpPr>
            <a:cxnSpLocks/>
          </p:cNvCxnSpPr>
          <p:nvPr/>
        </p:nvCxnSpPr>
        <p:spPr>
          <a:xfrm flipH="1" flipV="1">
            <a:off x="6608455" y="3747308"/>
            <a:ext cx="1381757" cy="13050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32C56F0D-E625-ED69-401E-FEAD90419933}"/>
              </a:ext>
            </a:extLst>
          </p:cNvPr>
          <p:cNvCxnSpPr>
            <a:cxnSpLocks/>
            <a:stCxn id="136" idx="0"/>
            <a:endCxn id="59" idx="0"/>
          </p:cNvCxnSpPr>
          <p:nvPr/>
        </p:nvCxnSpPr>
        <p:spPr>
          <a:xfrm flipV="1">
            <a:off x="5495873" y="4976406"/>
            <a:ext cx="0" cy="626860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BFBB0C09-7679-4024-64FD-89DDD39C1EB7}"/>
              </a:ext>
            </a:extLst>
          </p:cNvPr>
          <p:cNvCxnSpPr>
            <a:cxnSpLocks/>
            <a:stCxn id="147" idx="3"/>
            <a:endCxn id="59" idx="1"/>
          </p:cNvCxnSpPr>
          <p:nvPr/>
        </p:nvCxnSpPr>
        <p:spPr>
          <a:xfrm flipV="1">
            <a:off x="3353658" y="4424552"/>
            <a:ext cx="1038508" cy="445378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9BE5A6AC-59BA-836E-C012-7AA8F816F397}"/>
              </a:ext>
            </a:extLst>
          </p:cNvPr>
          <p:cNvCxnSpPr>
            <a:cxnSpLocks/>
            <a:stCxn id="83" idx="3"/>
            <a:endCxn id="59" idx="2"/>
          </p:cNvCxnSpPr>
          <p:nvPr/>
        </p:nvCxnSpPr>
        <p:spPr>
          <a:xfrm>
            <a:off x="3185125" y="2501130"/>
            <a:ext cx="1207041" cy="607124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Hexágono 58">
            <a:extLst>
              <a:ext uri="{FF2B5EF4-FFF2-40B4-BE49-F238E27FC236}">
                <a16:creationId xmlns:a16="http://schemas.microsoft.com/office/drawing/2014/main" id="{9C8CAC00-7A76-5549-81EB-E37649A94205}"/>
              </a:ext>
            </a:extLst>
          </p:cNvPr>
          <p:cNvSpPr/>
          <p:nvPr/>
        </p:nvSpPr>
        <p:spPr>
          <a:xfrm rot="5400000">
            <a:off x="4285870" y="2662695"/>
            <a:ext cx="2420006" cy="2207416"/>
          </a:xfrm>
          <a:prstGeom prst="hexagon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5" name="Imagem 74">
            <a:extLst>
              <a:ext uri="{FF2B5EF4-FFF2-40B4-BE49-F238E27FC236}">
                <a16:creationId xmlns:a16="http://schemas.microsoft.com/office/drawing/2014/main" id="{E0E69B3C-5080-ECD7-AFA1-425E7FC95B2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255626" y="1244212"/>
            <a:ext cx="442723" cy="609804"/>
          </a:xfrm>
          <a:prstGeom prst="rect">
            <a:avLst/>
          </a:prstGeom>
        </p:spPr>
      </p:pic>
      <p:sp>
        <p:nvSpPr>
          <p:cNvPr id="82" name="CaixaDeTexto 81">
            <a:extLst>
              <a:ext uri="{FF2B5EF4-FFF2-40B4-BE49-F238E27FC236}">
                <a16:creationId xmlns:a16="http://schemas.microsoft.com/office/drawing/2014/main" id="{6AD69490-3828-F3FF-DBED-9BE73A41C138}"/>
              </a:ext>
            </a:extLst>
          </p:cNvPr>
          <p:cNvSpPr txBox="1"/>
          <p:nvPr/>
        </p:nvSpPr>
        <p:spPr>
          <a:xfrm>
            <a:off x="220466" y="2165967"/>
            <a:ext cx="24481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Conhecimentos Agronômicos </a:t>
            </a:r>
          </a:p>
        </p:txBody>
      </p:sp>
      <p:pic>
        <p:nvPicPr>
          <p:cNvPr id="83" name="Imagem 82">
            <a:extLst>
              <a:ext uri="{FF2B5EF4-FFF2-40B4-BE49-F238E27FC236}">
                <a16:creationId xmlns:a16="http://schemas.microsoft.com/office/drawing/2014/main" id="{C9E1E8A1-8E10-B1BE-67D6-6410534D89A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594924" y="2206029"/>
            <a:ext cx="590201" cy="590201"/>
          </a:xfrm>
          <a:prstGeom prst="rect">
            <a:avLst/>
          </a:prstGeom>
        </p:spPr>
      </p:pic>
      <p:sp>
        <p:nvSpPr>
          <p:cNvPr id="90" name="CaixaDeTexto 89">
            <a:extLst>
              <a:ext uri="{FF2B5EF4-FFF2-40B4-BE49-F238E27FC236}">
                <a16:creationId xmlns:a16="http://schemas.microsoft.com/office/drawing/2014/main" id="{C75CF9E0-8400-2FB5-8E31-3C55E540D4FE}"/>
              </a:ext>
            </a:extLst>
          </p:cNvPr>
          <p:cNvSpPr txBox="1"/>
          <p:nvPr/>
        </p:nvSpPr>
        <p:spPr>
          <a:xfrm>
            <a:off x="9714085" y="1430875"/>
            <a:ext cx="21474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Preparação para LLM e Sistema </a:t>
            </a:r>
          </a:p>
          <a:p>
            <a:pPr algn="ctr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Computacional SB100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6" name="Imagem 135">
            <a:extLst>
              <a:ext uri="{FF2B5EF4-FFF2-40B4-BE49-F238E27FC236}">
                <a16:creationId xmlns:a16="http://schemas.microsoft.com/office/drawing/2014/main" id="{ADB2BB69-ABA1-B47F-F095-59B00DD5790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058533" y="5603266"/>
            <a:ext cx="874679" cy="753883"/>
          </a:xfrm>
          <a:prstGeom prst="rect">
            <a:avLst/>
          </a:prstGeom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E0442192-645C-E2DE-2BB9-6F8B3F6B33A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62913" y="4326588"/>
            <a:ext cx="1090745" cy="1086683"/>
          </a:xfrm>
          <a:prstGeom prst="rect">
            <a:avLst/>
          </a:prstGeom>
        </p:spPr>
      </p:pic>
      <p:sp>
        <p:nvSpPr>
          <p:cNvPr id="149" name="CaixaDeTexto 148">
            <a:extLst>
              <a:ext uri="{FF2B5EF4-FFF2-40B4-BE49-F238E27FC236}">
                <a16:creationId xmlns:a16="http://schemas.microsoft.com/office/drawing/2014/main" id="{8535639F-B9CE-B019-7C83-ACBDA2B63410}"/>
              </a:ext>
            </a:extLst>
          </p:cNvPr>
          <p:cNvSpPr txBox="1"/>
          <p:nvPr/>
        </p:nvSpPr>
        <p:spPr>
          <a:xfrm>
            <a:off x="623390" y="4791892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Produtização</a:t>
            </a:r>
            <a:r>
              <a:rPr lang="pt-BR" sz="1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pic>
        <p:nvPicPr>
          <p:cNvPr id="155" name="Imagem 154">
            <a:extLst>
              <a:ext uri="{FF2B5EF4-FFF2-40B4-BE49-F238E27FC236}">
                <a16:creationId xmlns:a16="http://schemas.microsoft.com/office/drawing/2014/main" id="{F5A76DBF-DD08-81F1-2E7F-ED118B402C8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81414" y="3216933"/>
            <a:ext cx="1689077" cy="1027360"/>
          </a:xfrm>
          <a:prstGeom prst="rect">
            <a:avLst/>
          </a:prstGeom>
        </p:spPr>
      </p:pic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0A632A46-E782-20D6-127F-A7FDE4439F38}"/>
              </a:ext>
            </a:extLst>
          </p:cNvPr>
          <p:cNvSpPr txBox="1"/>
          <p:nvPr/>
        </p:nvSpPr>
        <p:spPr>
          <a:xfrm>
            <a:off x="4372598" y="6292704"/>
            <a:ext cx="2386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Mobilização SB100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A74BDEA-DD4B-876D-7532-EDBA3CACBE9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52190" y="3184620"/>
            <a:ext cx="892594" cy="75357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4A8B21C-43CA-48F0-2560-BE1D1FC8313F}"/>
              </a:ext>
            </a:extLst>
          </p:cNvPr>
          <p:cNvSpPr txBox="1"/>
          <p:nvPr/>
        </p:nvSpPr>
        <p:spPr>
          <a:xfrm>
            <a:off x="573748" y="3277602"/>
            <a:ext cx="16621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 Modelagem de Living </a:t>
            </a: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CA590B35-0C99-07A9-F6DB-E3F8E349F173}"/>
              </a:ext>
            </a:extLst>
          </p:cNvPr>
          <p:cNvCxnSpPr>
            <a:cxnSpLocks/>
          </p:cNvCxnSpPr>
          <p:nvPr/>
        </p:nvCxnSpPr>
        <p:spPr>
          <a:xfrm>
            <a:off x="3400046" y="3760358"/>
            <a:ext cx="983245" cy="15913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E43864BA-BBD3-2A58-954B-5D380467EE96}"/>
              </a:ext>
            </a:extLst>
          </p:cNvPr>
          <p:cNvCxnSpPr/>
          <p:nvPr/>
        </p:nvCxnSpPr>
        <p:spPr>
          <a:xfrm>
            <a:off x="657713" y="893179"/>
            <a:ext cx="86061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60D460C0-CC16-2616-A9E3-4848DB9236DC}"/>
              </a:ext>
            </a:extLst>
          </p:cNvPr>
          <p:cNvCxnSpPr>
            <a:cxnSpLocks/>
          </p:cNvCxnSpPr>
          <p:nvPr/>
        </p:nvCxnSpPr>
        <p:spPr>
          <a:xfrm>
            <a:off x="658699" y="1231506"/>
            <a:ext cx="769979" cy="0"/>
          </a:xfrm>
          <a:prstGeom prst="straightConnector1">
            <a:avLst/>
          </a:prstGeom>
          <a:ln w="38100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B720E94-9B68-7886-5B9C-09374417DDEB}"/>
              </a:ext>
            </a:extLst>
          </p:cNvPr>
          <p:cNvSpPr txBox="1"/>
          <p:nvPr/>
        </p:nvSpPr>
        <p:spPr>
          <a:xfrm>
            <a:off x="1481497" y="739290"/>
            <a:ext cx="1508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Processos produtivos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0747812-40E3-91AD-B51A-AD0C2D0BCC4F}"/>
              </a:ext>
            </a:extLst>
          </p:cNvPr>
          <p:cNvSpPr txBox="1"/>
          <p:nvPr/>
        </p:nvSpPr>
        <p:spPr>
          <a:xfrm>
            <a:off x="1481497" y="1096818"/>
            <a:ext cx="1443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Processos de gestão</a:t>
            </a:r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304BDAEB-6A27-C5F1-0130-D428FBBCDFE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652437" y="2537476"/>
            <a:ext cx="4030881" cy="2457854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EA12BF5E-B0F5-B361-F10B-1A59DD0B5AD7}"/>
              </a:ext>
            </a:extLst>
          </p:cNvPr>
          <p:cNvSpPr/>
          <p:nvPr/>
        </p:nvSpPr>
        <p:spPr>
          <a:xfrm>
            <a:off x="7474259" y="614549"/>
            <a:ext cx="4599977" cy="5087401"/>
          </a:xfrm>
          <a:prstGeom prst="ellipse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FD9BC38A-5849-2A57-C836-FD5E884B230D}"/>
              </a:ext>
            </a:extLst>
          </p:cNvPr>
          <p:cNvSpPr/>
          <p:nvPr/>
        </p:nvSpPr>
        <p:spPr>
          <a:xfrm rot="16200000">
            <a:off x="9627904" y="5892113"/>
            <a:ext cx="607005" cy="434643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6DAF0BE-C094-C39B-0EC1-CCEFC37534D5}"/>
              </a:ext>
            </a:extLst>
          </p:cNvPr>
          <p:cNvSpPr txBox="1"/>
          <p:nvPr/>
        </p:nvSpPr>
        <p:spPr>
          <a:xfrm>
            <a:off x="9040090" y="6369003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OPEN</a:t>
            </a:r>
          </a:p>
        </p:txBody>
      </p:sp>
    </p:spTree>
    <p:extLst>
      <p:ext uri="{BB962C8B-B14F-4D97-AF65-F5344CB8AC3E}">
        <p14:creationId xmlns:p14="http://schemas.microsoft.com/office/powerpoint/2010/main" val="387598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9" grpId="0" animBg="1"/>
      <p:bldP spid="82" grpId="0"/>
      <p:bldP spid="90" grpId="0"/>
      <p:bldP spid="149" grpId="0"/>
      <p:bldP spid="157" grpId="0"/>
      <p:bldP spid="5" grpId="0"/>
      <p:bldP spid="16" grpId="0"/>
      <p:bldP spid="17" grpId="0"/>
      <p:bldP spid="8" grpId="0" animBg="1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AB4B7-010C-F74B-9012-5C11C781D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C9DB6469-825E-FCDC-FC6A-BE27E55158B1}"/>
              </a:ext>
            </a:extLst>
          </p:cNvPr>
          <p:cNvSpPr txBox="1"/>
          <p:nvPr/>
        </p:nvSpPr>
        <p:spPr>
          <a:xfrm>
            <a:off x="1105467" y="357356"/>
            <a:ext cx="2898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CCD SB100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02BB27B-495A-9E09-9315-44F414EE43EB}"/>
              </a:ext>
            </a:extLst>
          </p:cNvPr>
          <p:cNvSpPr txBox="1"/>
          <p:nvPr/>
        </p:nvSpPr>
        <p:spPr>
          <a:xfrm>
            <a:off x="4824069" y="388133"/>
            <a:ext cx="3264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de pesquisadores – LLM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78A876F-B8F5-7BDA-930A-438D5E84919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88747" y="1200240"/>
            <a:ext cx="907852" cy="79765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879E9D0-9A5A-F926-35AD-42FC4776523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57519" y="2146972"/>
            <a:ext cx="955072" cy="10308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717A897-6294-0429-3EFD-45B4D1A08EF5}"/>
              </a:ext>
            </a:extLst>
          </p:cNvPr>
          <p:cNvPicPr>
            <a:picLocks noChangeAspect="1"/>
          </p:cNvPicPr>
          <p:nvPr/>
        </p:nvPicPr>
        <p:blipFill>
          <a:blip/>
          <a:srcRect b="19795"/>
          <a:stretch/>
        </p:blipFill>
        <p:spPr>
          <a:xfrm>
            <a:off x="1490970" y="4466103"/>
            <a:ext cx="921621" cy="79984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AAD00BE-8AB0-815C-CCE9-62B43B21EA5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90970" y="5435627"/>
            <a:ext cx="917443" cy="98106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5827E28-EEED-3BE4-187F-7268F4D8551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956258" y="2537580"/>
            <a:ext cx="1012211" cy="1042799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1F0CD05-62C3-1D0E-728A-74829BF0D035}"/>
              </a:ext>
            </a:extLst>
          </p:cNvPr>
          <p:cNvPicPr>
            <a:picLocks noChangeAspect="1"/>
          </p:cNvPicPr>
          <p:nvPr/>
        </p:nvPicPr>
        <p:blipFill>
          <a:blip/>
          <a:srcRect t="6913" b="17521"/>
          <a:stretch/>
        </p:blipFill>
        <p:spPr>
          <a:xfrm>
            <a:off x="3919596" y="4003716"/>
            <a:ext cx="1012211" cy="1000878"/>
          </a:xfrm>
          <a:prstGeom prst="rect">
            <a:avLst/>
          </a:prstGeom>
        </p:spPr>
      </p:pic>
      <p:pic>
        <p:nvPicPr>
          <p:cNvPr id="18" name="Imagem 17" descr="Homem de terno e gravata ao lado de janela&#10;&#10;O conteúdo gerado por IA pode estar incorreto.">
            <a:extLst>
              <a:ext uri="{FF2B5EF4-FFF2-40B4-BE49-F238E27FC236}">
                <a16:creationId xmlns:a16="http://schemas.microsoft.com/office/drawing/2014/main" id="{FC615BAD-AF46-54B2-C9A5-A4D743B2F97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195"/>
          <a:stretch/>
        </p:blipFill>
        <p:spPr>
          <a:xfrm>
            <a:off x="4043949" y="5270737"/>
            <a:ext cx="917443" cy="963808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D7FD5BDA-D654-1AEA-F3DF-367A94BCF93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23017" y="2157150"/>
            <a:ext cx="647521" cy="82586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0546CCA-B981-730D-7242-39524A63380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23017" y="3223885"/>
            <a:ext cx="659367" cy="775913"/>
          </a:xfrm>
          <a:prstGeom prst="rect">
            <a:avLst/>
          </a:prstGeom>
        </p:spPr>
      </p:pic>
      <p:pic>
        <p:nvPicPr>
          <p:cNvPr id="11" name="Imagem 10" descr="Homem de óculos e camisa verde&#10;&#10;O conteúdo gerado por IA pode estar incorreto.">
            <a:extLst>
              <a:ext uri="{FF2B5EF4-FFF2-40B4-BE49-F238E27FC236}">
                <a16:creationId xmlns:a16="http://schemas.microsoft.com/office/drawing/2014/main" id="{2B7BB9F8-80F5-C8F0-B5C7-3694EB26DC3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58" b="19545"/>
          <a:stretch/>
        </p:blipFill>
        <p:spPr>
          <a:xfrm>
            <a:off x="9426448" y="3266136"/>
            <a:ext cx="731112" cy="775914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33B92725-B73A-4C7C-0901-4A182C92368B}"/>
              </a:ext>
            </a:extLst>
          </p:cNvPr>
          <p:cNvSpPr txBox="1"/>
          <p:nvPr/>
        </p:nvSpPr>
        <p:spPr>
          <a:xfrm>
            <a:off x="2554742" y="1480282"/>
            <a:ext cx="1291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Luís Hilário </a:t>
            </a:r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Tobler</a:t>
            </a:r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Garcia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0267F83-E537-E3B7-F773-43DE158FEABF}"/>
              </a:ext>
            </a:extLst>
          </p:cNvPr>
          <p:cNvSpPr txBox="1"/>
          <p:nvPr/>
        </p:nvSpPr>
        <p:spPr>
          <a:xfrm>
            <a:off x="2554741" y="2132098"/>
            <a:ext cx="1291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Luís Eduardo R. </a:t>
            </a:r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Zamariolli</a:t>
            </a:r>
            <a:endParaRPr lang="pt-B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FB26C09-D341-7ACA-A20A-4625B35A776D}"/>
              </a:ext>
            </a:extLst>
          </p:cNvPr>
          <p:cNvSpPr txBox="1"/>
          <p:nvPr/>
        </p:nvSpPr>
        <p:spPr>
          <a:xfrm>
            <a:off x="2484413" y="4466103"/>
            <a:ext cx="1291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João Ricardo </a:t>
            </a:r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1919E5F-3A00-CAE5-84A5-4077F5383B2F}"/>
              </a:ext>
            </a:extLst>
          </p:cNvPr>
          <p:cNvSpPr txBox="1"/>
          <p:nvPr/>
        </p:nvSpPr>
        <p:spPr>
          <a:xfrm>
            <a:off x="2484412" y="5658260"/>
            <a:ext cx="129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Allan </a:t>
            </a:r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Siriani</a:t>
            </a:r>
            <a:endParaRPr lang="pt-B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AD5DAEB-4C5E-770B-47DA-B75B078F07E9}"/>
              </a:ext>
            </a:extLst>
          </p:cNvPr>
          <p:cNvSpPr txBox="1"/>
          <p:nvPr/>
        </p:nvSpPr>
        <p:spPr>
          <a:xfrm>
            <a:off x="5106446" y="1581263"/>
            <a:ext cx="1291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Pereira Gomes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8374D3B-0D7C-21AA-E910-43A14FFD36EE}"/>
              </a:ext>
            </a:extLst>
          </p:cNvPr>
          <p:cNvSpPr txBox="1"/>
          <p:nvPr/>
        </p:nvSpPr>
        <p:spPr>
          <a:xfrm>
            <a:off x="5106445" y="2637809"/>
            <a:ext cx="129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Silvio Barbieri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5B4E4AC-A425-4645-5B2E-6FC856E3BFDF}"/>
              </a:ext>
            </a:extLst>
          </p:cNvPr>
          <p:cNvSpPr txBox="1"/>
          <p:nvPr/>
        </p:nvSpPr>
        <p:spPr>
          <a:xfrm>
            <a:off x="5036117" y="4237304"/>
            <a:ext cx="1291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Dionísio Gava Junior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3B9CDBA-E344-15DA-29D6-39F9BAF9EA98}"/>
              </a:ext>
            </a:extLst>
          </p:cNvPr>
          <p:cNvSpPr txBox="1"/>
          <p:nvPr/>
        </p:nvSpPr>
        <p:spPr>
          <a:xfrm>
            <a:off x="5036116" y="5594351"/>
            <a:ext cx="1291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Braz Izaias da Silva Junior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7EA2894-9AE0-1CA8-5EE4-E8671ACC3AB2}"/>
              </a:ext>
            </a:extLst>
          </p:cNvPr>
          <p:cNvSpPr txBox="1"/>
          <p:nvPr/>
        </p:nvSpPr>
        <p:spPr>
          <a:xfrm>
            <a:off x="7837839" y="1399050"/>
            <a:ext cx="1541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 da Cruz Camargo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CE04A2C-05FA-E63F-CD48-B43EFFFE0AE2}"/>
              </a:ext>
            </a:extLst>
          </p:cNvPr>
          <p:cNvSpPr txBox="1"/>
          <p:nvPr/>
        </p:nvSpPr>
        <p:spPr>
          <a:xfrm>
            <a:off x="7866088" y="2427267"/>
            <a:ext cx="129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Dirceu Gerardi  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225CD06-01F1-790F-9437-B487A847075F}"/>
              </a:ext>
            </a:extLst>
          </p:cNvPr>
          <p:cNvSpPr txBox="1"/>
          <p:nvPr/>
        </p:nvSpPr>
        <p:spPr>
          <a:xfrm>
            <a:off x="6763302" y="3969068"/>
            <a:ext cx="129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Jean Acedo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3662D3A-6EBB-05E1-7377-0B0C1A39E7AD}"/>
              </a:ext>
            </a:extLst>
          </p:cNvPr>
          <p:cNvSpPr txBox="1"/>
          <p:nvPr/>
        </p:nvSpPr>
        <p:spPr>
          <a:xfrm>
            <a:off x="10279568" y="1355825"/>
            <a:ext cx="12911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Gustavo Bonfim </a:t>
            </a:r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Ciaramicoli</a:t>
            </a:r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DA30DE7-32F4-BA30-E072-70A7D2EB3A7A}"/>
              </a:ext>
            </a:extLst>
          </p:cNvPr>
          <p:cNvSpPr txBox="1"/>
          <p:nvPr/>
        </p:nvSpPr>
        <p:spPr>
          <a:xfrm>
            <a:off x="10279567" y="2319545"/>
            <a:ext cx="1291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Leonardo Ricci Santos Oliveira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7DD947C-9379-1268-86C6-7D16FEBCD9AA}"/>
              </a:ext>
            </a:extLst>
          </p:cNvPr>
          <p:cNvSpPr txBox="1"/>
          <p:nvPr/>
        </p:nvSpPr>
        <p:spPr>
          <a:xfrm>
            <a:off x="9379061" y="4057881"/>
            <a:ext cx="129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A50FAEE6-494A-840D-FA14-736A865CECC3}"/>
              </a:ext>
            </a:extLst>
          </p:cNvPr>
          <p:cNvSpPr/>
          <p:nvPr/>
        </p:nvSpPr>
        <p:spPr>
          <a:xfrm>
            <a:off x="1105467" y="935182"/>
            <a:ext cx="2682249" cy="572704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1688038C-00BE-2776-A957-BF921F412FDF}"/>
              </a:ext>
            </a:extLst>
          </p:cNvPr>
          <p:cNvSpPr/>
          <p:nvPr/>
        </p:nvSpPr>
        <p:spPr>
          <a:xfrm>
            <a:off x="3866467" y="907928"/>
            <a:ext cx="2682249" cy="572704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8A1E8F11-9E19-9DAF-6307-BAD9511FA6E7}"/>
              </a:ext>
            </a:extLst>
          </p:cNvPr>
          <p:cNvSpPr/>
          <p:nvPr/>
        </p:nvSpPr>
        <p:spPr>
          <a:xfrm>
            <a:off x="6627467" y="857241"/>
            <a:ext cx="5311385" cy="360886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4">
            <a:extLst>
              <a:ext uri="{FF2B5EF4-FFF2-40B4-BE49-F238E27FC236}">
                <a16:creationId xmlns:a16="http://schemas.microsoft.com/office/drawing/2014/main" id="{A43F8A95-8DE3-EE6D-9012-471D617BB3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55" b="25566"/>
          <a:stretch/>
        </p:blipFill>
        <p:spPr bwMode="auto">
          <a:xfrm>
            <a:off x="2554741" y="6155696"/>
            <a:ext cx="932826" cy="47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>
            <a:extLst>
              <a:ext uri="{FF2B5EF4-FFF2-40B4-BE49-F238E27FC236}">
                <a16:creationId xmlns:a16="http://schemas.microsoft.com/office/drawing/2014/main" id="{78D3D195-7FF3-C15E-25BC-6FA95A84FDA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586" y="6206478"/>
            <a:ext cx="917443" cy="41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aixaDeTexto 40">
            <a:extLst>
              <a:ext uri="{FF2B5EF4-FFF2-40B4-BE49-F238E27FC236}">
                <a16:creationId xmlns:a16="http://schemas.microsoft.com/office/drawing/2014/main" id="{1603A091-A446-D16B-9F23-0672E5EE9C7A}"/>
              </a:ext>
            </a:extLst>
          </p:cNvPr>
          <p:cNvSpPr txBox="1"/>
          <p:nvPr/>
        </p:nvSpPr>
        <p:spPr>
          <a:xfrm>
            <a:off x="10589432" y="331340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Alunos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9772207-4516-2407-5F70-E7BBD7CB335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57519" y="3223885"/>
            <a:ext cx="986300" cy="1184138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E27B1028-5345-8B37-CC7B-ADF40D2F4CE1}"/>
              </a:ext>
            </a:extLst>
          </p:cNvPr>
          <p:cNvSpPr txBox="1"/>
          <p:nvPr/>
        </p:nvSpPr>
        <p:spPr>
          <a:xfrm>
            <a:off x="2443819" y="3480829"/>
            <a:ext cx="129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Sérgio Negro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13F3E706-2378-D938-EA7D-2CA937F0538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944253" y="1228638"/>
            <a:ext cx="1011056" cy="1042798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15A2573C-C87A-D671-D6E1-DD01E3C8445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426448" y="1356184"/>
            <a:ext cx="774369" cy="775914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CAED06A2-1A7C-C81C-8711-801496ABC27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23017" y="1228638"/>
            <a:ext cx="821667" cy="77591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CCE2179B-0BB1-8160-C6EC-7536A3E25303}"/>
              </a:ext>
            </a:extLst>
          </p:cNvPr>
          <p:cNvSpPr txBox="1"/>
          <p:nvPr/>
        </p:nvSpPr>
        <p:spPr>
          <a:xfrm>
            <a:off x="8056563" y="4050411"/>
            <a:ext cx="136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 </a:t>
            </a: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4C68D42F-A128-9384-9E59-B1CA187DB80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247381" y="3193099"/>
            <a:ext cx="722137" cy="865629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48683AD2-D3CC-8D29-664F-C3AD021868D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426449" y="2255997"/>
            <a:ext cx="658094" cy="825860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B4F238C-1F2D-F27B-0E44-3059D6BA32DF}"/>
              </a:ext>
            </a:extLst>
          </p:cNvPr>
          <p:cNvSpPr/>
          <p:nvPr/>
        </p:nvSpPr>
        <p:spPr>
          <a:xfrm>
            <a:off x="6653026" y="4584478"/>
            <a:ext cx="5285825" cy="205049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A42F645-1EDA-91DE-6C1E-9B60A0DFA5E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33722" y="4701987"/>
            <a:ext cx="872560" cy="965861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07F47928-3DE0-5B66-32B6-145BD667036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054435" y="4714057"/>
            <a:ext cx="824924" cy="965862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44E8FA5B-A442-27C5-195C-70F9A8774AD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250892" y="4716468"/>
            <a:ext cx="792857" cy="97508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1807BF2D-A579-08FF-46A3-AD3B84506860}"/>
              </a:ext>
            </a:extLst>
          </p:cNvPr>
          <p:cNvSpPr txBox="1"/>
          <p:nvPr/>
        </p:nvSpPr>
        <p:spPr>
          <a:xfrm>
            <a:off x="6675951" y="5815946"/>
            <a:ext cx="129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Julia Cassitas 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C2719F3-C246-CF08-5893-286D8DCC23BA}"/>
              </a:ext>
            </a:extLst>
          </p:cNvPr>
          <p:cNvSpPr txBox="1"/>
          <p:nvPr/>
        </p:nvSpPr>
        <p:spPr>
          <a:xfrm>
            <a:off x="8004805" y="5750790"/>
            <a:ext cx="1291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Guilherme Valentim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2AD79D5D-C0BD-0F7C-A3B2-2C6B4209622F}"/>
              </a:ext>
            </a:extLst>
          </p:cNvPr>
          <p:cNvSpPr txBox="1"/>
          <p:nvPr/>
        </p:nvSpPr>
        <p:spPr>
          <a:xfrm>
            <a:off x="8939334" y="5858512"/>
            <a:ext cx="129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André Velloso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EDE7E165-80C6-4746-0EB4-7507D5FBAD8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589432" y="4716468"/>
            <a:ext cx="802537" cy="975088"/>
          </a:xfrm>
          <a:prstGeom prst="rect">
            <a:avLst/>
          </a:prstGeom>
        </p:spPr>
      </p:pic>
      <p:sp>
        <p:nvSpPr>
          <p:cNvPr id="50" name="CaixaDeTexto 49">
            <a:extLst>
              <a:ext uri="{FF2B5EF4-FFF2-40B4-BE49-F238E27FC236}">
                <a16:creationId xmlns:a16="http://schemas.microsoft.com/office/drawing/2014/main" id="{1C4A67A3-7D4E-9BCA-C9C9-749F9186314C}"/>
              </a:ext>
            </a:extLst>
          </p:cNvPr>
          <p:cNvSpPr txBox="1"/>
          <p:nvPr/>
        </p:nvSpPr>
        <p:spPr>
          <a:xfrm>
            <a:off x="10440966" y="5886438"/>
            <a:ext cx="129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Meg Andrade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BF8E9574-015A-F31C-4457-DFDE7F91A1EE}"/>
              </a:ext>
            </a:extLst>
          </p:cNvPr>
          <p:cNvSpPr txBox="1"/>
          <p:nvPr/>
        </p:nvSpPr>
        <p:spPr>
          <a:xfrm>
            <a:off x="9949608" y="6233726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participantibus</a:t>
            </a:r>
            <a:endParaRPr lang="pt-B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12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/>
      <p:bldP spid="21" grpId="0"/>
      <p:bldP spid="23" grpId="0"/>
      <p:bldP spid="25" grpId="0"/>
      <p:bldP spid="27" grpId="0"/>
      <p:bldP spid="28" grpId="0"/>
      <p:bldP spid="29" grpId="0"/>
      <p:bldP spid="30" grpId="0"/>
      <p:bldP spid="32" grpId="0"/>
      <p:bldP spid="33" grpId="0"/>
      <p:bldP spid="34" grpId="0"/>
      <p:bldP spid="35" grpId="0" animBg="1"/>
      <p:bldP spid="36" grpId="0" animBg="1"/>
      <p:bldP spid="37" grpId="0" animBg="1"/>
      <p:bldP spid="41" grpId="0"/>
      <p:bldP spid="31" grpId="0"/>
      <p:bldP spid="49" grpId="0"/>
      <p:bldP spid="2" grpId="0" animBg="1"/>
      <p:bldP spid="38" grpId="0"/>
      <p:bldP spid="45" grpId="0"/>
      <p:bldP spid="47" grpId="0"/>
      <p:bldP spid="50" grpId="0"/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8F261-172A-831E-484F-84C35BD8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C003E3B-5208-B9D4-8D4C-6E2B4E64BA00}"/>
              </a:ext>
            </a:extLst>
          </p:cNvPr>
          <p:cNvSpPr/>
          <p:nvPr/>
        </p:nvSpPr>
        <p:spPr>
          <a:xfrm>
            <a:off x="322117" y="1194955"/>
            <a:ext cx="2159997" cy="5562035"/>
          </a:xfrm>
          <a:prstGeom prst="roundRect">
            <a:avLst/>
          </a:prstGeom>
          <a:solidFill>
            <a:srgbClr val="90C226">
              <a:alpha val="30196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A657316-3D8F-BA14-48AB-0B1607E3FD26}"/>
              </a:ext>
            </a:extLst>
          </p:cNvPr>
          <p:cNvSpPr/>
          <p:nvPr/>
        </p:nvSpPr>
        <p:spPr>
          <a:xfrm>
            <a:off x="2578178" y="1194954"/>
            <a:ext cx="2159997" cy="5562035"/>
          </a:xfrm>
          <a:prstGeom prst="roundRect">
            <a:avLst/>
          </a:prstGeom>
          <a:solidFill>
            <a:srgbClr val="00B0F0">
              <a:alpha val="30196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5D8F9AC2-A636-28E4-A919-0D9F00E9B608}"/>
              </a:ext>
            </a:extLst>
          </p:cNvPr>
          <p:cNvSpPr/>
          <p:nvPr/>
        </p:nvSpPr>
        <p:spPr>
          <a:xfrm>
            <a:off x="4834239" y="1165630"/>
            <a:ext cx="2159997" cy="556203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8E4272D8-12CC-C8EE-E07B-F37B1E5D0C5C}"/>
              </a:ext>
            </a:extLst>
          </p:cNvPr>
          <p:cNvSpPr/>
          <p:nvPr/>
        </p:nvSpPr>
        <p:spPr>
          <a:xfrm>
            <a:off x="7079909" y="1185836"/>
            <a:ext cx="2159997" cy="5562035"/>
          </a:xfrm>
          <a:prstGeom prst="roundRect">
            <a:avLst/>
          </a:prstGeom>
          <a:solidFill>
            <a:srgbClr val="FFFF00">
              <a:alpha val="3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4ECB2169-C67D-D398-2ACF-078E561DD11F}"/>
              </a:ext>
            </a:extLst>
          </p:cNvPr>
          <p:cNvSpPr/>
          <p:nvPr/>
        </p:nvSpPr>
        <p:spPr>
          <a:xfrm>
            <a:off x="9346361" y="117544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5AA3117-AFF8-C793-753C-6BD366A4D2B0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Divisão do trabalho em </a:t>
            </a:r>
            <a:r>
              <a:rPr lang="pt-BR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SQUADs</a:t>
            </a:r>
            <a:endParaRPr lang="pt-BR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60D015A-8631-31AD-383D-4C60544E9A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CD1AEB8-39C0-8881-7B3D-7E27CA9D5B4C}"/>
              </a:ext>
            </a:extLst>
          </p:cNvPr>
          <p:cNvSpPr txBox="1"/>
          <p:nvPr/>
        </p:nvSpPr>
        <p:spPr>
          <a:xfrm>
            <a:off x="309103" y="2042886"/>
            <a:ext cx="2159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Captaçao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qualtificação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triagem de conhecimento agronômico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505C1B7-3E2E-C76C-2DD7-2DEC380B8CD4}"/>
              </a:ext>
            </a:extLst>
          </p:cNvPr>
          <p:cNvSpPr txBox="1"/>
          <p:nvPr/>
        </p:nvSpPr>
        <p:spPr>
          <a:xfrm>
            <a:off x="875925" y="1291693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EFA3573-8F5E-A2BA-43A3-5450FD8D2B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575" y="3273453"/>
            <a:ext cx="1351785" cy="139239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5E220C0-6BB9-4940-C94F-E8EEE619A442}"/>
              </a:ext>
            </a:extLst>
          </p:cNvPr>
          <p:cNvSpPr txBox="1"/>
          <p:nvPr/>
        </p:nvSpPr>
        <p:spPr>
          <a:xfrm>
            <a:off x="2578178" y="2219786"/>
            <a:ext cx="2159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Conversão de formatos e estruturação de dados, vetorização e EBR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E69ABC4-94D3-A185-706A-A2E37F84EC28}"/>
              </a:ext>
            </a:extLst>
          </p:cNvPr>
          <p:cNvSpPr txBox="1"/>
          <p:nvPr/>
        </p:nvSpPr>
        <p:spPr>
          <a:xfrm>
            <a:off x="3088064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02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973833F9-6907-F32F-616C-C5A599C5CD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2327" y="3554362"/>
            <a:ext cx="1191698" cy="1111488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DC7D4A5-8514-AE0E-027F-FDBB9D3C0847}"/>
              </a:ext>
            </a:extLst>
          </p:cNvPr>
          <p:cNvSpPr txBox="1"/>
          <p:nvPr/>
        </p:nvSpPr>
        <p:spPr>
          <a:xfrm>
            <a:off x="5285699" y="127056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03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B8A8E67-434C-1E85-3EBA-438B143BF536}"/>
              </a:ext>
            </a:extLst>
          </p:cNvPr>
          <p:cNvSpPr txBox="1"/>
          <p:nvPr/>
        </p:nvSpPr>
        <p:spPr>
          <a:xfrm>
            <a:off x="763581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04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F1A823AB-32F7-07E0-7752-DFFFB5EC21B4}"/>
              </a:ext>
            </a:extLst>
          </p:cNvPr>
          <p:cNvSpPr txBox="1"/>
          <p:nvPr/>
        </p:nvSpPr>
        <p:spPr>
          <a:xfrm>
            <a:off x="978878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05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781EF21E-D345-57C9-E51C-E44D79D460F7}"/>
              </a:ext>
            </a:extLst>
          </p:cNvPr>
          <p:cNvSpPr txBox="1"/>
          <p:nvPr/>
        </p:nvSpPr>
        <p:spPr>
          <a:xfrm>
            <a:off x="4823848" y="1711414"/>
            <a:ext cx="21599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NR, Infraestrutura computacional para o LLM em agronegócios</a:t>
            </a:r>
          </a:p>
          <a:p>
            <a:pPr algn="ctr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Imagem 82">
            <a:extLst>
              <a:ext uri="{FF2B5EF4-FFF2-40B4-BE49-F238E27FC236}">
                <a16:creationId xmlns:a16="http://schemas.microsoft.com/office/drawing/2014/main" id="{3509E028-921C-7370-8FD4-57A5637777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7387" y="3649398"/>
            <a:ext cx="1139727" cy="1337596"/>
          </a:xfrm>
          <a:prstGeom prst="rect">
            <a:avLst/>
          </a:prstGeom>
        </p:spPr>
      </p:pic>
      <p:sp>
        <p:nvSpPr>
          <p:cNvPr id="90" name="CaixaDeTexto 89">
            <a:extLst>
              <a:ext uri="{FF2B5EF4-FFF2-40B4-BE49-F238E27FC236}">
                <a16:creationId xmlns:a16="http://schemas.microsoft.com/office/drawing/2014/main" id="{1FEBA072-EA21-9816-1D51-89D304D018D8}"/>
              </a:ext>
            </a:extLst>
          </p:cNvPr>
          <p:cNvSpPr txBox="1"/>
          <p:nvPr/>
        </p:nvSpPr>
        <p:spPr>
          <a:xfrm>
            <a:off x="7138332" y="2289108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agronegócio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50037DB6-A5CE-7F17-8281-BB3FCAB9C1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57384" y="3649398"/>
            <a:ext cx="1130803" cy="1079286"/>
          </a:xfrm>
          <a:prstGeom prst="rect">
            <a:avLst/>
          </a:prstGeom>
        </p:spPr>
      </p:pic>
      <p:sp>
        <p:nvSpPr>
          <p:cNvPr id="99" name="CaixaDeTexto 98">
            <a:extLst>
              <a:ext uri="{FF2B5EF4-FFF2-40B4-BE49-F238E27FC236}">
                <a16:creationId xmlns:a16="http://schemas.microsoft.com/office/drawing/2014/main" id="{001B7219-BA39-45C0-A2BA-270438F80910}"/>
              </a:ext>
            </a:extLst>
          </p:cNvPr>
          <p:cNvSpPr txBox="1"/>
          <p:nvPr/>
        </p:nvSpPr>
        <p:spPr>
          <a:xfrm>
            <a:off x="9371887" y="2271136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agentes inteligentes</a:t>
            </a:r>
          </a:p>
        </p:txBody>
      </p:sp>
      <p:pic>
        <p:nvPicPr>
          <p:cNvPr id="101" name="Imagem 100">
            <a:extLst>
              <a:ext uri="{FF2B5EF4-FFF2-40B4-BE49-F238E27FC236}">
                <a16:creationId xmlns:a16="http://schemas.microsoft.com/office/drawing/2014/main" id="{BC76035A-5603-BE5F-01F8-D53C5655E4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9839570" y="3429000"/>
            <a:ext cx="1224629" cy="1533162"/>
          </a:xfrm>
          <a:prstGeom prst="rect">
            <a:avLst/>
          </a:prstGeom>
        </p:spPr>
      </p:pic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1BB856D3-1B1B-F1C6-739B-AE58B6976713}"/>
              </a:ext>
            </a:extLst>
          </p:cNvPr>
          <p:cNvSpPr txBox="1"/>
          <p:nvPr/>
        </p:nvSpPr>
        <p:spPr>
          <a:xfrm>
            <a:off x="9613822" y="5480488"/>
            <a:ext cx="1625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Hilário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Izaias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3A6E0E81-DCA4-189D-ECF2-FAEA41E236CE}"/>
              </a:ext>
            </a:extLst>
          </p:cNvPr>
          <p:cNvSpPr txBox="1"/>
          <p:nvPr/>
        </p:nvSpPr>
        <p:spPr>
          <a:xfrm>
            <a:off x="7451505" y="5480488"/>
            <a:ext cx="16962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Ricardo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Gomes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CED1F8A1-4C62-0898-504E-5A8449F79107}"/>
              </a:ext>
            </a:extLst>
          </p:cNvPr>
          <p:cNvSpPr txBox="1"/>
          <p:nvPr/>
        </p:nvSpPr>
        <p:spPr>
          <a:xfrm>
            <a:off x="5005636" y="5477307"/>
            <a:ext cx="15343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Sílvio Barbieri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Jean Acedo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Allan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Siriani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41721F05-3DC2-0A5D-D79C-C1D206332091}"/>
              </a:ext>
            </a:extLst>
          </p:cNvPr>
          <p:cNvSpPr txBox="1"/>
          <p:nvPr/>
        </p:nvSpPr>
        <p:spPr>
          <a:xfrm>
            <a:off x="2749575" y="5459706"/>
            <a:ext cx="17940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Dionísio Junior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Leonardo Oliveira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Dirceu Gerardi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68407C9D-1F99-5362-5EE2-E2F193DD6068}"/>
              </a:ext>
            </a:extLst>
          </p:cNvPr>
          <p:cNvSpPr txBox="1"/>
          <p:nvPr/>
        </p:nvSpPr>
        <p:spPr>
          <a:xfrm>
            <a:off x="397450" y="5241662"/>
            <a:ext cx="16385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Luís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Zamariolli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Sérgio Negro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Gustavo </a:t>
            </a:r>
          </a:p>
        </p:txBody>
      </p:sp>
    </p:spTree>
    <p:extLst>
      <p:ext uri="{BB962C8B-B14F-4D97-AF65-F5344CB8AC3E}">
        <p14:creationId xmlns:p14="http://schemas.microsoft.com/office/powerpoint/2010/main" val="392912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  <p:bldP spid="37" grpId="0" animBg="1"/>
      <p:bldP spid="39" grpId="0" animBg="1"/>
      <p:bldP spid="44" grpId="0" animBg="1"/>
      <p:bldP spid="5" grpId="0"/>
      <p:bldP spid="6" grpId="0"/>
      <p:bldP spid="9" grpId="0"/>
      <p:bldP spid="10" grpId="0"/>
      <p:bldP spid="45" grpId="0"/>
      <p:bldP spid="48" grpId="0"/>
      <p:bldP spid="59" grpId="0"/>
      <p:bldP spid="75" grpId="0"/>
      <p:bldP spid="90" grpId="0"/>
      <p:bldP spid="99" grpId="0"/>
      <p:bldP spid="102" grpId="0"/>
      <p:bldP spid="103" grpId="0"/>
      <p:bldP spid="104" grpId="0"/>
      <p:bldP spid="105" grpId="0"/>
      <p:bldP spid="10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04D7202-419E-3290-8D7C-485B83412749}"/>
              </a:ext>
            </a:extLst>
          </p:cNvPr>
          <p:cNvSpPr/>
          <p:nvPr/>
        </p:nvSpPr>
        <p:spPr>
          <a:xfrm>
            <a:off x="2137028" y="1674689"/>
            <a:ext cx="492891" cy="2133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BEEDFC2-6B7C-A378-71F4-5D31E9CEB164}"/>
              </a:ext>
            </a:extLst>
          </p:cNvPr>
          <p:cNvSpPr/>
          <p:nvPr/>
        </p:nvSpPr>
        <p:spPr>
          <a:xfrm>
            <a:off x="359593" y="15822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396092D-95C7-7D13-3311-0AB0BA8D5EC0}"/>
              </a:ext>
            </a:extLst>
          </p:cNvPr>
          <p:cNvSpPr/>
          <p:nvPr/>
        </p:nvSpPr>
        <p:spPr>
          <a:xfrm>
            <a:off x="359592" y="17346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F990323-2D45-0D6E-5C3A-0218FB900CF3}"/>
              </a:ext>
            </a:extLst>
          </p:cNvPr>
          <p:cNvSpPr/>
          <p:nvPr/>
        </p:nvSpPr>
        <p:spPr>
          <a:xfrm>
            <a:off x="359592" y="18870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C6862C8-6BDB-0516-CA33-E2152CDCF3D2}"/>
              </a:ext>
            </a:extLst>
          </p:cNvPr>
          <p:cNvSpPr/>
          <p:nvPr/>
        </p:nvSpPr>
        <p:spPr>
          <a:xfrm>
            <a:off x="359591" y="20394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5E4988B-8AEA-D064-25A5-277749C9A915}"/>
              </a:ext>
            </a:extLst>
          </p:cNvPr>
          <p:cNvSpPr/>
          <p:nvPr/>
        </p:nvSpPr>
        <p:spPr>
          <a:xfrm>
            <a:off x="359593" y="21918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7E4D71A-CE78-EFB3-32A4-51B53C6DC60C}"/>
              </a:ext>
            </a:extLst>
          </p:cNvPr>
          <p:cNvSpPr/>
          <p:nvPr/>
        </p:nvSpPr>
        <p:spPr>
          <a:xfrm>
            <a:off x="359592" y="23442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8C0B645-000D-C4DE-766A-ACFB37DDDD8B}"/>
              </a:ext>
            </a:extLst>
          </p:cNvPr>
          <p:cNvSpPr/>
          <p:nvPr/>
        </p:nvSpPr>
        <p:spPr>
          <a:xfrm>
            <a:off x="359592" y="24966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7403F0D-5973-DDC3-D6B2-734122B2C5A9}"/>
              </a:ext>
            </a:extLst>
          </p:cNvPr>
          <p:cNvSpPr/>
          <p:nvPr/>
        </p:nvSpPr>
        <p:spPr>
          <a:xfrm>
            <a:off x="359591" y="26490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1754A4E-C8A9-017C-8E20-73837C5E377B}"/>
              </a:ext>
            </a:extLst>
          </p:cNvPr>
          <p:cNvSpPr/>
          <p:nvPr/>
        </p:nvSpPr>
        <p:spPr>
          <a:xfrm>
            <a:off x="359593" y="28014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9BC491D-D58C-BEAF-2CE8-0F07484171DC}"/>
              </a:ext>
            </a:extLst>
          </p:cNvPr>
          <p:cNvSpPr/>
          <p:nvPr/>
        </p:nvSpPr>
        <p:spPr>
          <a:xfrm>
            <a:off x="359592" y="29538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786167C-77F1-0CC6-8978-8D03C7C6BFC8}"/>
              </a:ext>
            </a:extLst>
          </p:cNvPr>
          <p:cNvSpPr/>
          <p:nvPr/>
        </p:nvSpPr>
        <p:spPr>
          <a:xfrm>
            <a:off x="359592" y="31062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831F8C3-B995-42F7-3F1C-DF900DD0B8C2}"/>
              </a:ext>
            </a:extLst>
          </p:cNvPr>
          <p:cNvSpPr/>
          <p:nvPr/>
        </p:nvSpPr>
        <p:spPr>
          <a:xfrm>
            <a:off x="359591" y="32586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7E2D64B-4892-E065-D607-342158C0E44C}"/>
              </a:ext>
            </a:extLst>
          </p:cNvPr>
          <p:cNvSpPr/>
          <p:nvPr/>
        </p:nvSpPr>
        <p:spPr>
          <a:xfrm>
            <a:off x="359593" y="34110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1C9F795-7347-B6CA-6F0C-E0EEC2255707}"/>
              </a:ext>
            </a:extLst>
          </p:cNvPr>
          <p:cNvSpPr/>
          <p:nvPr/>
        </p:nvSpPr>
        <p:spPr>
          <a:xfrm>
            <a:off x="359592" y="35634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6FD5652-88E3-91B9-14BF-73EB1BE03EC5}"/>
              </a:ext>
            </a:extLst>
          </p:cNvPr>
          <p:cNvSpPr/>
          <p:nvPr/>
        </p:nvSpPr>
        <p:spPr>
          <a:xfrm>
            <a:off x="359592" y="37158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6DAD567-1A44-CBE8-DFA5-25D8064C05CD}"/>
              </a:ext>
            </a:extLst>
          </p:cNvPr>
          <p:cNvSpPr/>
          <p:nvPr/>
        </p:nvSpPr>
        <p:spPr>
          <a:xfrm>
            <a:off x="359591" y="386822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BFFCDEC-DD33-3D5E-B44A-5BCE58670025}"/>
              </a:ext>
            </a:extLst>
          </p:cNvPr>
          <p:cNvSpPr txBox="1"/>
          <p:nvPr/>
        </p:nvSpPr>
        <p:spPr>
          <a:xfrm>
            <a:off x="66776" y="4173021"/>
            <a:ext cx="1726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Conhecimento agronômico</a:t>
            </a:r>
          </a:p>
        </p:txBody>
      </p:sp>
      <p:pic>
        <p:nvPicPr>
          <p:cNvPr id="20" name="Picture 14">
            <a:extLst>
              <a:ext uri="{FF2B5EF4-FFF2-40B4-BE49-F238E27FC236}">
                <a16:creationId xmlns:a16="http://schemas.microsoft.com/office/drawing/2014/main" id="{501B915F-9B85-EF72-CC6D-411AA9E20883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91" y="458508"/>
            <a:ext cx="1401889" cy="3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>
            <a:extLst>
              <a:ext uri="{FF2B5EF4-FFF2-40B4-BE49-F238E27FC236}">
                <a16:creationId xmlns:a16="http://schemas.microsoft.com/office/drawing/2014/main" id="{BBCF568E-D207-E5EF-ACD8-9358B735D6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72" b="10127"/>
          <a:stretch/>
        </p:blipFill>
        <p:spPr bwMode="auto">
          <a:xfrm>
            <a:off x="922215" y="1005631"/>
            <a:ext cx="742205" cy="3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A514D270-D174-7F79-AAF2-B6A03FB9FB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3" t="8203" r="37092" b="15217"/>
          <a:stretch/>
        </p:blipFill>
        <p:spPr bwMode="auto">
          <a:xfrm>
            <a:off x="359591" y="892880"/>
            <a:ext cx="492605" cy="47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>
            <a:extLst>
              <a:ext uri="{FF2B5EF4-FFF2-40B4-BE49-F238E27FC236}">
                <a16:creationId xmlns:a16="http://schemas.microsoft.com/office/drawing/2014/main" id="{6BBFF60A-1BB0-FB8F-7EA1-546C69C53509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032" y="931984"/>
            <a:ext cx="533412" cy="59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26894BFB-14DA-C53E-218E-D81E2D781FB9}"/>
              </a:ext>
            </a:extLst>
          </p:cNvPr>
          <p:cNvSpPr txBox="1"/>
          <p:nvPr/>
        </p:nvSpPr>
        <p:spPr>
          <a:xfrm rot="5400000">
            <a:off x="1582613" y="2610195"/>
            <a:ext cx="1725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cap="all" dirty="0" err="1">
                <a:solidFill>
                  <a:schemeClr val="bg1"/>
                </a:solidFill>
              </a:rPr>
              <a:t>cientometria</a:t>
            </a:r>
            <a:endParaRPr lang="pt-BR" cap="all" dirty="0">
              <a:solidFill>
                <a:schemeClr val="bg1"/>
              </a:solidFill>
            </a:endParaRPr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68A4F54E-0D9D-FC9E-1229-F30AE6C808B9}"/>
              </a:ext>
            </a:extLst>
          </p:cNvPr>
          <p:cNvSpPr/>
          <p:nvPr/>
        </p:nvSpPr>
        <p:spPr>
          <a:xfrm>
            <a:off x="1552244" y="2542855"/>
            <a:ext cx="533412" cy="503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246365D-87C3-E164-9F6F-4560AC9A60F5}"/>
              </a:ext>
            </a:extLst>
          </p:cNvPr>
          <p:cNvSpPr/>
          <p:nvPr/>
        </p:nvSpPr>
        <p:spPr>
          <a:xfrm>
            <a:off x="3286024" y="15514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26D3704-3E52-2D18-79CC-D2955F07EFB3}"/>
              </a:ext>
            </a:extLst>
          </p:cNvPr>
          <p:cNvSpPr/>
          <p:nvPr/>
        </p:nvSpPr>
        <p:spPr>
          <a:xfrm>
            <a:off x="3286023" y="17038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C38A9A27-C32D-AEBA-3E24-F28B6DF3D7E6}"/>
              </a:ext>
            </a:extLst>
          </p:cNvPr>
          <p:cNvSpPr/>
          <p:nvPr/>
        </p:nvSpPr>
        <p:spPr>
          <a:xfrm>
            <a:off x="3286023" y="18562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D4ACFFB4-9DD3-F6CE-E3B1-8C13323D92DB}"/>
              </a:ext>
            </a:extLst>
          </p:cNvPr>
          <p:cNvSpPr/>
          <p:nvPr/>
        </p:nvSpPr>
        <p:spPr>
          <a:xfrm>
            <a:off x="3286022" y="20086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2F0AF9CB-4163-B1E7-8D82-09C2E042976C}"/>
              </a:ext>
            </a:extLst>
          </p:cNvPr>
          <p:cNvSpPr/>
          <p:nvPr/>
        </p:nvSpPr>
        <p:spPr>
          <a:xfrm>
            <a:off x="3286024" y="21610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928E6E9-CFCF-2D4E-AAEF-B9A8810DA2DD}"/>
              </a:ext>
            </a:extLst>
          </p:cNvPr>
          <p:cNvSpPr/>
          <p:nvPr/>
        </p:nvSpPr>
        <p:spPr>
          <a:xfrm>
            <a:off x="3286023" y="23134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40DBBC5B-CCC2-D8B8-7D47-9C51C3C79D8D}"/>
              </a:ext>
            </a:extLst>
          </p:cNvPr>
          <p:cNvSpPr/>
          <p:nvPr/>
        </p:nvSpPr>
        <p:spPr>
          <a:xfrm>
            <a:off x="3286023" y="24658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C0B93CE-4CF3-6D82-D2DD-073F674439E3}"/>
              </a:ext>
            </a:extLst>
          </p:cNvPr>
          <p:cNvSpPr/>
          <p:nvPr/>
        </p:nvSpPr>
        <p:spPr>
          <a:xfrm>
            <a:off x="3286022" y="26182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6EAB4610-5DC1-2BCC-DCA6-A7519DF021E7}"/>
              </a:ext>
            </a:extLst>
          </p:cNvPr>
          <p:cNvSpPr/>
          <p:nvPr/>
        </p:nvSpPr>
        <p:spPr>
          <a:xfrm>
            <a:off x="3286024" y="27706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2E64E2A1-1266-9AF9-3ADA-FEEC9F219C91}"/>
              </a:ext>
            </a:extLst>
          </p:cNvPr>
          <p:cNvSpPr/>
          <p:nvPr/>
        </p:nvSpPr>
        <p:spPr>
          <a:xfrm>
            <a:off x="3286023" y="29230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B2703A33-5233-EBAC-CFE4-052712D4AF0F}"/>
              </a:ext>
            </a:extLst>
          </p:cNvPr>
          <p:cNvSpPr/>
          <p:nvPr/>
        </p:nvSpPr>
        <p:spPr>
          <a:xfrm>
            <a:off x="3286023" y="30754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8111CE6D-04EB-628D-62DA-7500401FA6EF}"/>
              </a:ext>
            </a:extLst>
          </p:cNvPr>
          <p:cNvSpPr/>
          <p:nvPr/>
        </p:nvSpPr>
        <p:spPr>
          <a:xfrm>
            <a:off x="3286022" y="32278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B589A233-B19D-44E7-3B67-A362C0D2DB54}"/>
              </a:ext>
            </a:extLst>
          </p:cNvPr>
          <p:cNvSpPr/>
          <p:nvPr/>
        </p:nvSpPr>
        <p:spPr>
          <a:xfrm>
            <a:off x="3286024" y="33802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8DE1FB64-4EBA-E1A3-D6E5-3DB96DE07CD8}"/>
              </a:ext>
            </a:extLst>
          </p:cNvPr>
          <p:cNvSpPr/>
          <p:nvPr/>
        </p:nvSpPr>
        <p:spPr>
          <a:xfrm>
            <a:off x="3286023" y="35326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8C2AF86F-02EF-27D9-0A0F-F898E4EEA011}"/>
              </a:ext>
            </a:extLst>
          </p:cNvPr>
          <p:cNvSpPr/>
          <p:nvPr/>
        </p:nvSpPr>
        <p:spPr>
          <a:xfrm>
            <a:off x="3286023" y="36850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F2F66F4A-AAA3-4876-3F1C-417987EC2F4D}"/>
              </a:ext>
            </a:extLst>
          </p:cNvPr>
          <p:cNvSpPr/>
          <p:nvPr/>
        </p:nvSpPr>
        <p:spPr>
          <a:xfrm>
            <a:off x="3286022" y="383740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Seta: para a Direita 41">
            <a:extLst>
              <a:ext uri="{FF2B5EF4-FFF2-40B4-BE49-F238E27FC236}">
                <a16:creationId xmlns:a16="http://schemas.microsoft.com/office/drawing/2014/main" id="{F60A77CA-EE52-8153-4704-A83814339AF2}"/>
              </a:ext>
            </a:extLst>
          </p:cNvPr>
          <p:cNvSpPr/>
          <p:nvPr/>
        </p:nvSpPr>
        <p:spPr>
          <a:xfrm>
            <a:off x="2696537" y="2571968"/>
            <a:ext cx="533412" cy="503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8E96E503-25B8-47BE-46AB-AA4E392811F8}"/>
              </a:ext>
            </a:extLst>
          </p:cNvPr>
          <p:cNvSpPr/>
          <p:nvPr/>
        </p:nvSpPr>
        <p:spPr>
          <a:xfrm>
            <a:off x="5125103" y="1674697"/>
            <a:ext cx="842481" cy="2133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DB240C12-2BA9-1462-1DEE-44FAD6624ADC}"/>
              </a:ext>
            </a:extLst>
          </p:cNvPr>
          <p:cNvSpPr txBox="1"/>
          <p:nvPr/>
        </p:nvSpPr>
        <p:spPr>
          <a:xfrm rot="5400000">
            <a:off x="4826883" y="2610203"/>
            <a:ext cx="1438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cap="all" dirty="0">
                <a:solidFill>
                  <a:schemeClr val="bg1"/>
                </a:solidFill>
              </a:rPr>
              <a:t>curadoria</a:t>
            </a:r>
          </a:p>
        </p:txBody>
      </p:sp>
      <p:sp>
        <p:nvSpPr>
          <p:cNvPr id="45" name="Seta: para a Direita 44">
            <a:extLst>
              <a:ext uri="{FF2B5EF4-FFF2-40B4-BE49-F238E27FC236}">
                <a16:creationId xmlns:a16="http://schemas.microsoft.com/office/drawing/2014/main" id="{7B9482C0-9555-2EBA-AC89-7744827C5142}"/>
              </a:ext>
            </a:extLst>
          </p:cNvPr>
          <p:cNvSpPr/>
          <p:nvPr/>
        </p:nvSpPr>
        <p:spPr>
          <a:xfrm>
            <a:off x="4519772" y="2553137"/>
            <a:ext cx="533412" cy="503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8499D356-1839-B455-74B8-37E5D0F55787}"/>
              </a:ext>
            </a:extLst>
          </p:cNvPr>
          <p:cNvSpPr/>
          <p:nvPr/>
        </p:nvSpPr>
        <p:spPr>
          <a:xfrm>
            <a:off x="6659369" y="155483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E4AA00A8-709A-B42C-28B8-31456D6D89A1}"/>
              </a:ext>
            </a:extLst>
          </p:cNvPr>
          <p:cNvSpPr/>
          <p:nvPr/>
        </p:nvSpPr>
        <p:spPr>
          <a:xfrm>
            <a:off x="6659367" y="201203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B20E667F-7386-4B6D-8DB2-2CB4F9D3964C}"/>
              </a:ext>
            </a:extLst>
          </p:cNvPr>
          <p:cNvSpPr/>
          <p:nvPr/>
        </p:nvSpPr>
        <p:spPr>
          <a:xfrm>
            <a:off x="6659369" y="216443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C6272FB0-551A-0D43-D0D8-45F897A3D526}"/>
              </a:ext>
            </a:extLst>
          </p:cNvPr>
          <p:cNvSpPr/>
          <p:nvPr/>
        </p:nvSpPr>
        <p:spPr>
          <a:xfrm>
            <a:off x="6659367" y="262163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AF3E7E7B-1B54-2483-4012-226257A078C6}"/>
              </a:ext>
            </a:extLst>
          </p:cNvPr>
          <p:cNvSpPr/>
          <p:nvPr/>
        </p:nvSpPr>
        <p:spPr>
          <a:xfrm>
            <a:off x="6659369" y="277403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8387CADA-D457-CA4B-8325-F7309F20D318}"/>
              </a:ext>
            </a:extLst>
          </p:cNvPr>
          <p:cNvSpPr/>
          <p:nvPr/>
        </p:nvSpPr>
        <p:spPr>
          <a:xfrm>
            <a:off x="6659368" y="307883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C3F2923B-2848-BC45-192D-7236C371E0E0}"/>
              </a:ext>
            </a:extLst>
          </p:cNvPr>
          <p:cNvSpPr/>
          <p:nvPr/>
        </p:nvSpPr>
        <p:spPr>
          <a:xfrm>
            <a:off x="6659369" y="338363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BED3E741-9062-1EFC-5C1B-64EAB826BE19}"/>
              </a:ext>
            </a:extLst>
          </p:cNvPr>
          <p:cNvSpPr/>
          <p:nvPr/>
        </p:nvSpPr>
        <p:spPr>
          <a:xfrm>
            <a:off x="6659368" y="368843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3B5C3A33-7FAD-80BF-8E15-FAC755FE3519}"/>
              </a:ext>
            </a:extLst>
          </p:cNvPr>
          <p:cNvSpPr/>
          <p:nvPr/>
        </p:nvSpPr>
        <p:spPr>
          <a:xfrm>
            <a:off x="6659367" y="384083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Seta: para a Direita 54">
            <a:extLst>
              <a:ext uri="{FF2B5EF4-FFF2-40B4-BE49-F238E27FC236}">
                <a16:creationId xmlns:a16="http://schemas.microsoft.com/office/drawing/2014/main" id="{E83CF890-1C02-F807-2C15-1AB20E6B7032}"/>
              </a:ext>
            </a:extLst>
          </p:cNvPr>
          <p:cNvSpPr/>
          <p:nvPr/>
        </p:nvSpPr>
        <p:spPr>
          <a:xfrm>
            <a:off x="6039503" y="2613936"/>
            <a:ext cx="533412" cy="503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A489CB6A-1E95-7E29-8D41-590AD654763B}"/>
              </a:ext>
            </a:extLst>
          </p:cNvPr>
          <p:cNvSpPr/>
          <p:nvPr/>
        </p:nvSpPr>
        <p:spPr>
          <a:xfrm>
            <a:off x="5053186" y="478695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6C8254D3-C505-4679-CC2C-E482EA9D4C54}"/>
              </a:ext>
            </a:extLst>
          </p:cNvPr>
          <p:cNvSpPr/>
          <p:nvPr/>
        </p:nvSpPr>
        <p:spPr>
          <a:xfrm>
            <a:off x="5053185" y="493935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EB4DF1F5-176D-C0D7-D843-DF52748E3DEF}"/>
              </a:ext>
            </a:extLst>
          </p:cNvPr>
          <p:cNvSpPr/>
          <p:nvPr/>
        </p:nvSpPr>
        <p:spPr>
          <a:xfrm>
            <a:off x="5053185" y="509175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E9CF5B61-84B0-1A92-F897-558B316F1ACE}"/>
              </a:ext>
            </a:extLst>
          </p:cNvPr>
          <p:cNvSpPr/>
          <p:nvPr/>
        </p:nvSpPr>
        <p:spPr>
          <a:xfrm>
            <a:off x="5053184" y="524415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91A117BC-F047-8D40-2722-42F682BC7504}"/>
              </a:ext>
            </a:extLst>
          </p:cNvPr>
          <p:cNvSpPr/>
          <p:nvPr/>
        </p:nvSpPr>
        <p:spPr>
          <a:xfrm>
            <a:off x="5053186" y="539655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A0F8CC6E-DAD6-8990-5021-9FFA4E8C4780}"/>
              </a:ext>
            </a:extLst>
          </p:cNvPr>
          <p:cNvSpPr/>
          <p:nvPr/>
        </p:nvSpPr>
        <p:spPr>
          <a:xfrm>
            <a:off x="5053185" y="554895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905D07F3-F99D-51C1-1C77-453E5F2B7C9B}"/>
              </a:ext>
            </a:extLst>
          </p:cNvPr>
          <p:cNvSpPr/>
          <p:nvPr/>
        </p:nvSpPr>
        <p:spPr>
          <a:xfrm>
            <a:off x="5053185" y="570135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7C2535D5-D280-0ECC-E1AF-770AA151CEDC}"/>
              </a:ext>
            </a:extLst>
          </p:cNvPr>
          <p:cNvSpPr/>
          <p:nvPr/>
        </p:nvSpPr>
        <p:spPr>
          <a:xfrm>
            <a:off x="5053184" y="585375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Seta: para a Direita 63">
            <a:extLst>
              <a:ext uri="{FF2B5EF4-FFF2-40B4-BE49-F238E27FC236}">
                <a16:creationId xmlns:a16="http://schemas.microsoft.com/office/drawing/2014/main" id="{27CAA645-86E8-7892-D53C-2635C45857D0}"/>
              </a:ext>
            </a:extLst>
          </p:cNvPr>
          <p:cNvSpPr/>
          <p:nvPr/>
        </p:nvSpPr>
        <p:spPr>
          <a:xfrm rot="5400000">
            <a:off x="5356693" y="4122970"/>
            <a:ext cx="533412" cy="503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4C419623-829D-1BAD-660A-2E914F264FC0}"/>
              </a:ext>
            </a:extLst>
          </p:cNvPr>
          <p:cNvSpPr txBox="1"/>
          <p:nvPr/>
        </p:nvSpPr>
        <p:spPr>
          <a:xfrm>
            <a:off x="2963243" y="4185392"/>
            <a:ext cx="1726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Conhecimento Qualificado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A7EB6E28-C87D-4715-1575-4B2AA4736461}"/>
              </a:ext>
            </a:extLst>
          </p:cNvPr>
          <p:cNvSpPr txBox="1"/>
          <p:nvPr/>
        </p:nvSpPr>
        <p:spPr>
          <a:xfrm>
            <a:off x="6417922" y="4030249"/>
            <a:ext cx="14846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Conhecimento para incorporação</a:t>
            </a:r>
          </a:p>
        </p:txBody>
      </p:sp>
      <p:pic>
        <p:nvPicPr>
          <p:cNvPr id="67" name="Picture 2">
            <a:extLst>
              <a:ext uri="{FF2B5EF4-FFF2-40B4-BE49-F238E27FC236}">
                <a16:creationId xmlns:a16="http://schemas.microsoft.com/office/drawing/2014/main" id="{BF94F535-8644-5A7A-E351-873112485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3" t="8203" r="37092" b="15217"/>
          <a:stretch/>
        </p:blipFill>
        <p:spPr bwMode="auto">
          <a:xfrm>
            <a:off x="5934491" y="1089435"/>
            <a:ext cx="492605" cy="47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14">
            <a:extLst>
              <a:ext uri="{FF2B5EF4-FFF2-40B4-BE49-F238E27FC236}">
                <a16:creationId xmlns:a16="http://schemas.microsoft.com/office/drawing/2014/main" id="{CC2B3BC8-229C-2FF8-D579-E932B48BF37D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064" y="791534"/>
            <a:ext cx="1401889" cy="3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8">
            <a:extLst>
              <a:ext uri="{FF2B5EF4-FFF2-40B4-BE49-F238E27FC236}">
                <a16:creationId xmlns:a16="http://schemas.microsoft.com/office/drawing/2014/main" id="{7D077261-DEA5-CF46-6369-36F281B992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72" b="10127"/>
          <a:stretch/>
        </p:blipFill>
        <p:spPr bwMode="auto">
          <a:xfrm>
            <a:off x="5098650" y="1089207"/>
            <a:ext cx="742205" cy="3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4">
            <a:extLst>
              <a:ext uri="{FF2B5EF4-FFF2-40B4-BE49-F238E27FC236}">
                <a16:creationId xmlns:a16="http://schemas.microsoft.com/office/drawing/2014/main" id="{65B2D301-190F-BD4D-B51E-F4DA542B0A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55" b="25566"/>
          <a:stretch/>
        </p:blipFill>
        <p:spPr bwMode="auto">
          <a:xfrm>
            <a:off x="5175278" y="1299349"/>
            <a:ext cx="633897" cy="32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CaixaDeTexto 70">
            <a:extLst>
              <a:ext uri="{FF2B5EF4-FFF2-40B4-BE49-F238E27FC236}">
                <a16:creationId xmlns:a16="http://schemas.microsoft.com/office/drawing/2014/main" id="{E704D00C-35C2-66AD-CCC3-02F343DD96E3}"/>
              </a:ext>
            </a:extLst>
          </p:cNvPr>
          <p:cNvSpPr txBox="1"/>
          <p:nvPr/>
        </p:nvSpPr>
        <p:spPr>
          <a:xfrm>
            <a:off x="4694864" y="6006158"/>
            <a:ext cx="1726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Conhecimento </a:t>
            </a:r>
          </a:p>
          <a:p>
            <a:pPr algn="ctr"/>
            <a:r>
              <a:rPr lang="pt-BR" sz="1400" dirty="0"/>
              <a:t>Não-incorporado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39CC181D-9E62-7464-A89C-E9CBA1E53793}"/>
              </a:ext>
            </a:extLst>
          </p:cNvPr>
          <p:cNvSpPr/>
          <p:nvPr/>
        </p:nvSpPr>
        <p:spPr>
          <a:xfrm>
            <a:off x="7902553" y="153942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8878167E-6E04-ADC0-88F7-BB720370646F}"/>
              </a:ext>
            </a:extLst>
          </p:cNvPr>
          <p:cNvSpPr/>
          <p:nvPr/>
        </p:nvSpPr>
        <p:spPr>
          <a:xfrm>
            <a:off x="7902551" y="199662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F7431936-F791-8C99-1FBF-71371C28FBCC}"/>
              </a:ext>
            </a:extLst>
          </p:cNvPr>
          <p:cNvSpPr/>
          <p:nvPr/>
        </p:nvSpPr>
        <p:spPr>
          <a:xfrm>
            <a:off x="7902553" y="214902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B4074D60-E567-8FD3-A42C-E810489CE820}"/>
              </a:ext>
            </a:extLst>
          </p:cNvPr>
          <p:cNvSpPr/>
          <p:nvPr/>
        </p:nvSpPr>
        <p:spPr>
          <a:xfrm>
            <a:off x="7902551" y="260622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D7800AF0-64DB-DFAC-316E-7F246DFCA373}"/>
              </a:ext>
            </a:extLst>
          </p:cNvPr>
          <p:cNvSpPr/>
          <p:nvPr/>
        </p:nvSpPr>
        <p:spPr>
          <a:xfrm>
            <a:off x="7902553" y="275862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150FAC6-3303-2B41-0B67-6662D8BD27CD}"/>
              </a:ext>
            </a:extLst>
          </p:cNvPr>
          <p:cNvSpPr/>
          <p:nvPr/>
        </p:nvSpPr>
        <p:spPr>
          <a:xfrm>
            <a:off x="7902552" y="306342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6ADBEE4C-044C-8266-878E-6DD103324D05}"/>
              </a:ext>
            </a:extLst>
          </p:cNvPr>
          <p:cNvSpPr/>
          <p:nvPr/>
        </p:nvSpPr>
        <p:spPr>
          <a:xfrm>
            <a:off x="7902553" y="336822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C3442EFC-76ED-0F9F-25FC-E69516B229CA}"/>
              </a:ext>
            </a:extLst>
          </p:cNvPr>
          <p:cNvSpPr/>
          <p:nvPr/>
        </p:nvSpPr>
        <p:spPr>
          <a:xfrm>
            <a:off x="7902552" y="367302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5987C07F-70F9-2356-5752-9E7D79151FEA}"/>
              </a:ext>
            </a:extLst>
          </p:cNvPr>
          <p:cNvSpPr/>
          <p:nvPr/>
        </p:nvSpPr>
        <p:spPr>
          <a:xfrm>
            <a:off x="7902551" y="382542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3F6DEE22-55ED-EDB6-9053-ED43D56967BC}"/>
              </a:ext>
            </a:extLst>
          </p:cNvPr>
          <p:cNvSpPr txBox="1"/>
          <p:nvPr/>
        </p:nvSpPr>
        <p:spPr>
          <a:xfrm>
            <a:off x="6659367" y="717488"/>
            <a:ext cx="957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Arquivos .</a:t>
            </a:r>
            <a:r>
              <a:rPr lang="pt-BR" sz="1400" dirty="0" err="1"/>
              <a:t>pdf</a:t>
            </a:r>
            <a:endParaRPr lang="pt-BR" sz="1400" dirty="0"/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B7F085A4-8055-49E4-C504-EFEC6D35AC87}"/>
              </a:ext>
            </a:extLst>
          </p:cNvPr>
          <p:cNvSpPr txBox="1"/>
          <p:nvPr/>
        </p:nvSpPr>
        <p:spPr>
          <a:xfrm>
            <a:off x="7709030" y="724624"/>
            <a:ext cx="1091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Indexador .</a:t>
            </a:r>
            <a:r>
              <a:rPr lang="pt-BR" sz="1400" dirty="0" err="1"/>
              <a:t>txt</a:t>
            </a:r>
            <a:endParaRPr lang="pt-BR" sz="1400" dirty="0"/>
          </a:p>
        </p:txBody>
      </p: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9055ED84-F88F-C21D-6B73-860A9B89F0D5}"/>
              </a:ext>
            </a:extLst>
          </p:cNvPr>
          <p:cNvCxnSpPr>
            <a:cxnSpLocks/>
            <a:stCxn id="81" idx="2"/>
            <a:endCxn id="46" idx="0"/>
          </p:cNvCxnSpPr>
          <p:nvPr/>
        </p:nvCxnSpPr>
        <p:spPr>
          <a:xfrm>
            <a:off x="7138122" y="1240708"/>
            <a:ext cx="91463" cy="3141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6466C079-EE74-11AC-60DC-5EFAECBB5CD5}"/>
              </a:ext>
            </a:extLst>
          </p:cNvPr>
          <p:cNvCxnSpPr>
            <a:cxnSpLocks/>
            <a:stCxn id="82" idx="2"/>
            <a:endCxn id="72" idx="0"/>
          </p:cNvCxnSpPr>
          <p:nvPr/>
        </p:nvCxnSpPr>
        <p:spPr>
          <a:xfrm flipH="1">
            <a:off x="7997583" y="1247844"/>
            <a:ext cx="257416" cy="2915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tângulo: Cantos Arredondados 84">
            <a:extLst>
              <a:ext uri="{FF2B5EF4-FFF2-40B4-BE49-F238E27FC236}">
                <a16:creationId xmlns:a16="http://schemas.microsoft.com/office/drawing/2014/main" id="{50627417-DCF2-0B65-E1B3-A2F78128494A}"/>
              </a:ext>
            </a:extLst>
          </p:cNvPr>
          <p:cNvSpPr/>
          <p:nvPr/>
        </p:nvSpPr>
        <p:spPr>
          <a:xfrm>
            <a:off x="8781004" y="2476072"/>
            <a:ext cx="1407560" cy="7620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EA927918-9BD5-A9FC-DD88-3A945CAE31BA}"/>
              </a:ext>
            </a:extLst>
          </p:cNvPr>
          <p:cNvSpPr txBox="1"/>
          <p:nvPr/>
        </p:nvSpPr>
        <p:spPr>
          <a:xfrm>
            <a:off x="8781004" y="2597659"/>
            <a:ext cx="1430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VETORIZAÇÃO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(DATA CHUNKS)</a:t>
            </a:r>
          </a:p>
        </p:txBody>
      </p:sp>
      <p:sp>
        <p:nvSpPr>
          <p:cNvPr id="87" name="Seta: para a Direita 86">
            <a:extLst>
              <a:ext uri="{FF2B5EF4-FFF2-40B4-BE49-F238E27FC236}">
                <a16:creationId xmlns:a16="http://schemas.microsoft.com/office/drawing/2014/main" id="{E1BE3681-C780-7067-5A0B-9ABBB9272E1B}"/>
              </a:ext>
            </a:extLst>
          </p:cNvPr>
          <p:cNvSpPr/>
          <p:nvPr/>
        </p:nvSpPr>
        <p:spPr>
          <a:xfrm>
            <a:off x="8173506" y="2611353"/>
            <a:ext cx="533412" cy="503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8363A3E5-D1A7-4A29-293D-70B3772033A3}"/>
              </a:ext>
            </a:extLst>
          </p:cNvPr>
          <p:cNvSpPr txBox="1"/>
          <p:nvPr/>
        </p:nvSpPr>
        <p:spPr>
          <a:xfrm>
            <a:off x="8886766" y="562578"/>
            <a:ext cx="22500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pt-BR" sz="1100" dirty="0"/>
              <a:t>Indexação pela </a:t>
            </a:r>
            <a:r>
              <a:rPr lang="pt-BR" sz="1100" dirty="0" err="1"/>
              <a:t>cientometria</a:t>
            </a:r>
            <a:endParaRPr lang="pt-BR" sz="1100" dirty="0"/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pt-BR" sz="1100" dirty="0"/>
              <a:t>Informação sumarizada pela curadoria</a:t>
            </a:r>
          </a:p>
        </p:txBody>
      </p:sp>
      <p:sp>
        <p:nvSpPr>
          <p:cNvPr id="89" name="Colchete Esquerdo 88">
            <a:extLst>
              <a:ext uri="{FF2B5EF4-FFF2-40B4-BE49-F238E27FC236}">
                <a16:creationId xmlns:a16="http://schemas.microsoft.com/office/drawing/2014/main" id="{8734F5AC-781A-AF7F-45B3-F1C5C7462460}"/>
              </a:ext>
            </a:extLst>
          </p:cNvPr>
          <p:cNvSpPr/>
          <p:nvPr/>
        </p:nvSpPr>
        <p:spPr>
          <a:xfrm>
            <a:off x="8887146" y="551630"/>
            <a:ext cx="133564" cy="591917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Fluxograma: Disco Magnético 89">
            <a:extLst>
              <a:ext uri="{FF2B5EF4-FFF2-40B4-BE49-F238E27FC236}">
                <a16:creationId xmlns:a16="http://schemas.microsoft.com/office/drawing/2014/main" id="{CB4A10D7-418B-8973-B0DC-9153878ED8E7}"/>
              </a:ext>
            </a:extLst>
          </p:cNvPr>
          <p:cNvSpPr/>
          <p:nvPr/>
        </p:nvSpPr>
        <p:spPr>
          <a:xfrm>
            <a:off x="10691998" y="2021446"/>
            <a:ext cx="1222625" cy="1686670"/>
          </a:xfrm>
          <a:prstGeom prst="flowChartMagneticDisk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31145F74-F204-D616-6C93-B378E54F021C}"/>
              </a:ext>
            </a:extLst>
          </p:cNvPr>
          <p:cNvCxnSpPr>
            <a:cxnSpLocks/>
            <a:stCxn id="86" idx="3"/>
            <a:endCxn id="90" idx="2"/>
          </p:cNvCxnSpPr>
          <p:nvPr/>
        </p:nvCxnSpPr>
        <p:spPr>
          <a:xfrm>
            <a:off x="10211524" y="2859269"/>
            <a:ext cx="480474" cy="5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4D78DA96-2D4C-C8FF-C196-164D7CA2575A}"/>
              </a:ext>
            </a:extLst>
          </p:cNvPr>
          <p:cNvSpPr txBox="1"/>
          <p:nvPr/>
        </p:nvSpPr>
        <p:spPr>
          <a:xfrm>
            <a:off x="10746770" y="2621634"/>
            <a:ext cx="1222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/>
              <a:t>Banco de dados</a:t>
            </a:r>
          </a:p>
          <a:p>
            <a:pPr algn="ctr"/>
            <a:r>
              <a:rPr lang="pt-BR" sz="1600" b="1" dirty="0"/>
              <a:t>(</a:t>
            </a:r>
            <a:r>
              <a:rPr lang="pt-BR" sz="1600" b="1" dirty="0" err="1"/>
              <a:t>qdrant</a:t>
            </a:r>
            <a:r>
              <a:rPr lang="pt-BR" sz="1600" b="1" dirty="0"/>
              <a:t>)</a:t>
            </a:r>
          </a:p>
        </p:txBody>
      </p: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D4DFAC14-98C8-30C6-9173-EC9B9419ACA6}"/>
              </a:ext>
            </a:extLst>
          </p:cNvPr>
          <p:cNvGrpSpPr/>
          <p:nvPr/>
        </p:nvGrpSpPr>
        <p:grpSpPr>
          <a:xfrm flipH="1">
            <a:off x="8183364" y="3817764"/>
            <a:ext cx="3719668" cy="2895274"/>
            <a:chOff x="3534506" y="1951761"/>
            <a:chExt cx="6784412" cy="4101698"/>
          </a:xfrm>
        </p:grpSpPr>
        <p:pic>
          <p:nvPicPr>
            <p:cNvPr id="94" name="Picture 2">
              <a:extLst>
                <a:ext uri="{FF2B5EF4-FFF2-40B4-BE49-F238E27FC236}">
                  <a16:creationId xmlns:a16="http://schemas.microsoft.com/office/drawing/2014/main" id="{604C5BD3-7D45-9D87-9DFC-D2427F9B4E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00"/>
            <a:stretch/>
          </p:blipFill>
          <p:spPr bwMode="auto">
            <a:xfrm>
              <a:off x="3534506" y="1951761"/>
              <a:ext cx="6629770" cy="3632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Picture 2">
              <a:extLst>
                <a:ext uri="{FF2B5EF4-FFF2-40B4-BE49-F238E27FC236}">
                  <a16:creationId xmlns:a16="http://schemas.microsoft.com/office/drawing/2014/main" id="{9F94EFCA-917E-DC60-78A8-BC4AED5FA9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889" t="35622" r="42372" b="34560"/>
            <a:stretch/>
          </p:blipFill>
          <p:spPr bwMode="auto">
            <a:xfrm>
              <a:off x="6264300" y="2607027"/>
              <a:ext cx="522999" cy="4590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" name="Retângulo: Cantos Arredondados 95">
              <a:extLst>
                <a:ext uri="{FF2B5EF4-FFF2-40B4-BE49-F238E27FC236}">
                  <a16:creationId xmlns:a16="http://schemas.microsoft.com/office/drawing/2014/main" id="{7B31F19F-CEF7-3A3D-E830-0AD6B397A670}"/>
                </a:ext>
              </a:extLst>
            </p:cNvPr>
            <p:cNvSpPr/>
            <p:nvPr/>
          </p:nvSpPr>
          <p:spPr>
            <a:xfrm>
              <a:off x="4303059" y="3429000"/>
              <a:ext cx="580026" cy="454843"/>
            </a:xfrm>
            <a:prstGeom prst="roundRect">
              <a:avLst/>
            </a:prstGeom>
            <a:solidFill>
              <a:srgbClr val="E2DC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7" name="CaixaDeTexto 96">
              <a:extLst>
                <a:ext uri="{FF2B5EF4-FFF2-40B4-BE49-F238E27FC236}">
                  <a16:creationId xmlns:a16="http://schemas.microsoft.com/office/drawing/2014/main" id="{D26C33E3-4DCD-322E-37B5-6707AAC328B9}"/>
                </a:ext>
              </a:extLst>
            </p:cNvPr>
            <p:cNvSpPr txBox="1"/>
            <p:nvPr/>
          </p:nvSpPr>
          <p:spPr>
            <a:xfrm>
              <a:off x="3896892" y="3395364"/>
              <a:ext cx="1333088" cy="506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b="1" dirty="0"/>
                <a:t>Dados vetorizados </a:t>
              </a:r>
            </a:p>
          </p:txBody>
        </p:sp>
        <p:sp>
          <p:nvSpPr>
            <p:cNvPr id="98" name="Retângulo 97">
              <a:extLst>
                <a:ext uri="{FF2B5EF4-FFF2-40B4-BE49-F238E27FC236}">
                  <a16:creationId xmlns:a16="http://schemas.microsoft.com/office/drawing/2014/main" id="{40D73A81-EC93-2744-C3A1-14E41F984464}"/>
                </a:ext>
              </a:extLst>
            </p:cNvPr>
            <p:cNvSpPr/>
            <p:nvPr/>
          </p:nvSpPr>
          <p:spPr>
            <a:xfrm rot="18274259">
              <a:off x="8822733" y="4539240"/>
              <a:ext cx="1390745" cy="9458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99" name="Imagem 98">
              <a:extLst>
                <a:ext uri="{FF2B5EF4-FFF2-40B4-BE49-F238E27FC236}">
                  <a16:creationId xmlns:a16="http://schemas.microsoft.com/office/drawing/2014/main" id="{9BD2CC37-5027-BFCD-1D98-0695A07FE464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8733014" y="4033764"/>
              <a:ext cx="1585904" cy="2019695"/>
            </a:xfrm>
            <a:prstGeom prst="rect">
              <a:avLst/>
            </a:prstGeom>
          </p:spPr>
        </p:pic>
        <p:sp>
          <p:nvSpPr>
            <p:cNvPr id="100" name="Forma Livre: Forma 99">
              <a:extLst>
                <a:ext uri="{FF2B5EF4-FFF2-40B4-BE49-F238E27FC236}">
                  <a16:creationId xmlns:a16="http://schemas.microsoft.com/office/drawing/2014/main" id="{A6DC018E-2AD1-BE41-E435-232071C7CF0D}"/>
                </a:ext>
              </a:extLst>
            </p:cNvPr>
            <p:cNvSpPr/>
            <p:nvPr/>
          </p:nvSpPr>
          <p:spPr>
            <a:xfrm>
              <a:off x="8891562" y="4518212"/>
              <a:ext cx="368979" cy="316465"/>
            </a:xfrm>
            <a:custGeom>
              <a:avLst/>
              <a:gdLst>
                <a:gd name="connsiteX0" fmla="*/ 10391 w 368979"/>
                <a:gd name="connsiteY0" fmla="*/ 107577 h 316465"/>
                <a:gd name="connsiteX1" fmla="*/ 10391 w 368979"/>
                <a:gd name="connsiteY1" fmla="*/ 107577 h 316465"/>
                <a:gd name="connsiteX2" fmla="*/ 46249 w 368979"/>
                <a:gd name="connsiteY2" fmla="*/ 286871 h 316465"/>
                <a:gd name="connsiteX3" fmla="*/ 135897 w 368979"/>
                <a:gd name="connsiteY3" fmla="*/ 277906 h 316465"/>
                <a:gd name="connsiteX4" fmla="*/ 216579 w 368979"/>
                <a:gd name="connsiteY4" fmla="*/ 215153 h 316465"/>
                <a:gd name="connsiteX5" fmla="*/ 270367 w 368979"/>
                <a:gd name="connsiteY5" fmla="*/ 197224 h 316465"/>
                <a:gd name="connsiteX6" fmla="*/ 333120 w 368979"/>
                <a:gd name="connsiteY6" fmla="*/ 134471 h 316465"/>
                <a:gd name="connsiteX7" fmla="*/ 368979 w 368979"/>
                <a:gd name="connsiteY7" fmla="*/ 125506 h 316465"/>
                <a:gd name="connsiteX8" fmla="*/ 360014 w 368979"/>
                <a:gd name="connsiteY8" fmla="*/ 8965 h 316465"/>
                <a:gd name="connsiteX9" fmla="*/ 333120 w 368979"/>
                <a:gd name="connsiteY9" fmla="*/ 0 h 316465"/>
                <a:gd name="connsiteX10" fmla="*/ 189685 w 368979"/>
                <a:gd name="connsiteY10" fmla="*/ 8965 h 316465"/>
                <a:gd name="connsiteX11" fmla="*/ 153826 w 368979"/>
                <a:gd name="connsiteY11" fmla="*/ 26894 h 316465"/>
                <a:gd name="connsiteX12" fmla="*/ 126932 w 368979"/>
                <a:gd name="connsiteY12" fmla="*/ 35859 h 316465"/>
                <a:gd name="connsiteX13" fmla="*/ 91073 w 368979"/>
                <a:gd name="connsiteY13" fmla="*/ 62753 h 316465"/>
                <a:gd name="connsiteX14" fmla="*/ 64179 w 368979"/>
                <a:gd name="connsiteY14" fmla="*/ 80682 h 316465"/>
                <a:gd name="connsiteX15" fmla="*/ 10391 w 368979"/>
                <a:gd name="connsiteY15" fmla="*/ 107577 h 316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8979" h="316465">
                  <a:moveTo>
                    <a:pt x="10391" y="107577"/>
                  </a:moveTo>
                  <a:lnTo>
                    <a:pt x="10391" y="107577"/>
                  </a:lnTo>
                  <a:cubicBezTo>
                    <a:pt x="24683" y="407725"/>
                    <a:pt x="-40979" y="300290"/>
                    <a:pt x="46249" y="286871"/>
                  </a:cubicBezTo>
                  <a:cubicBezTo>
                    <a:pt x="75932" y="282305"/>
                    <a:pt x="106014" y="280894"/>
                    <a:pt x="135897" y="277906"/>
                  </a:cubicBezTo>
                  <a:cubicBezTo>
                    <a:pt x="175741" y="238061"/>
                    <a:pt x="170946" y="233406"/>
                    <a:pt x="216579" y="215153"/>
                  </a:cubicBezTo>
                  <a:cubicBezTo>
                    <a:pt x="234126" y="208134"/>
                    <a:pt x="270367" y="197224"/>
                    <a:pt x="270367" y="197224"/>
                  </a:cubicBezTo>
                  <a:cubicBezTo>
                    <a:pt x="307236" y="141920"/>
                    <a:pt x="287639" y="147465"/>
                    <a:pt x="333120" y="134471"/>
                  </a:cubicBezTo>
                  <a:cubicBezTo>
                    <a:pt x="344967" y="131086"/>
                    <a:pt x="357026" y="128494"/>
                    <a:pt x="368979" y="125506"/>
                  </a:cubicBezTo>
                  <a:cubicBezTo>
                    <a:pt x="365991" y="86659"/>
                    <a:pt x="370718" y="46428"/>
                    <a:pt x="360014" y="8965"/>
                  </a:cubicBezTo>
                  <a:cubicBezTo>
                    <a:pt x="357418" y="-121"/>
                    <a:pt x="342570" y="0"/>
                    <a:pt x="333120" y="0"/>
                  </a:cubicBezTo>
                  <a:cubicBezTo>
                    <a:pt x="285215" y="0"/>
                    <a:pt x="237497" y="5977"/>
                    <a:pt x="189685" y="8965"/>
                  </a:cubicBezTo>
                  <a:cubicBezTo>
                    <a:pt x="177732" y="14941"/>
                    <a:pt x="166109" y="21630"/>
                    <a:pt x="153826" y="26894"/>
                  </a:cubicBezTo>
                  <a:cubicBezTo>
                    <a:pt x="145140" y="30616"/>
                    <a:pt x="135137" y="31171"/>
                    <a:pt x="126932" y="35859"/>
                  </a:cubicBezTo>
                  <a:cubicBezTo>
                    <a:pt x="113959" y="43272"/>
                    <a:pt x="103231" y="54069"/>
                    <a:pt x="91073" y="62753"/>
                  </a:cubicBezTo>
                  <a:cubicBezTo>
                    <a:pt x="82306" y="69015"/>
                    <a:pt x="73144" y="74706"/>
                    <a:pt x="64179" y="80682"/>
                  </a:cubicBezTo>
                  <a:cubicBezTo>
                    <a:pt x="53324" y="113247"/>
                    <a:pt x="19356" y="103094"/>
                    <a:pt x="10391" y="107577"/>
                  </a:cubicBezTo>
                  <a:close/>
                </a:path>
              </a:pathLst>
            </a:custGeom>
            <a:solidFill>
              <a:srgbClr val="00DF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1" name="CaixaDeTexto 100">
              <a:extLst>
                <a:ext uri="{FF2B5EF4-FFF2-40B4-BE49-F238E27FC236}">
                  <a16:creationId xmlns:a16="http://schemas.microsoft.com/office/drawing/2014/main" id="{30FE400D-FEE8-8B62-247E-4E16EB774D05}"/>
                </a:ext>
              </a:extLst>
            </p:cNvPr>
            <p:cNvSpPr txBox="1"/>
            <p:nvPr/>
          </p:nvSpPr>
          <p:spPr>
            <a:xfrm rot="19305959">
              <a:off x="8477486" y="4511314"/>
              <a:ext cx="1114465" cy="348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b="1" dirty="0">
                  <a:solidFill>
                    <a:srgbClr val="FF0000"/>
                  </a:solidFill>
                </a:rPr>
                <a:t>SB100</a:t>
              </a:r>
            </a:p>
          </p:txBody>
        </p:sp>
      </p:grpSp>
      <p:sp>
        <p:nvSpPr>
          <p:cNvPr id="102" name="Seta: para Baixo 101">
            <a:extLst>
              <a:ext uri="{FF2B5EF4-FFF2-40B4-BE49-F238E27FC236}">
                <a16:creationId xmlns:a16="http://schemas.microsoft.com/office/drawing/2014/main" id="{392BC5A2-32CA-7005-686E-636CF3921735}"/>
              </a:ext>
            </a:extLst>
          </p:cNvPr>
          <p:cNvSpPr/>
          <p:nvPr/>
        </p:nvSpPr>
        <p:spPr>
          <a:xfrm>
            <a:off x="11126929" y="3715821"/>
            <a:ext cx="349328" cy="976847"/>
          </a:xfrm>
          <a:prstGeom prst="downArrow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C000"/>
              </a:solidFill>
            </a:endParaRP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C0FC5FBB-7F37-B9BA-91D0-5845A848AFCF}"/>
              </a:ext>
            </a:extLst>
          </p:cNvPr>
          <p:cNvSpPr txBox="1"/>
          <p:nvPr/>
        </p:nvSpPr>
        <p:spPr>
          <a:xfrm>
            <a:off x="9960793" y="39350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LLM</a:t>
            </a:r>
          </a:p>
        </p:txBody>
      </p:sp>
      <p:sp>
        <p:nvSpPr>
          <p:cNvPr id="104" name="Forma Livre: Forma 103">
            <a:extLst>
              <a:ext uri="{FF2B5EF4-FFF2-40B4-BE49-F238E27FC236}">
                <a16:creationId xmlns:a16="http://schemas.microsoft.com/office/drawing/2014/main" id="{73B45202-0D5C-6BF8-1D01-7FB67B57672C}"/>
              </a:ext>
            </a:extLst>
          </p:cNvPr>
          <p:cNvSpPr/>
          <p:nvPr/>
        </p:nvSpPr>
        <p:spPr>
          <a:xfrm>
            <a:off x="7715892" y="1643865"/>
            <a:ext cx="4387065" cy="5065160"/>
          </a:xfrm>
          <a:custGeom>
            <a:avLst/>
            <a:gdLst>
              <a:gd name="connsiteX0" fmla="*/ 739739 w 4387065"/>
              <a:gd name="connsiteY0" fmla="*/ 0 h 5065160"/>
              <a:gd name="connsiteX1" fmla="*/ 739739 w 4387065"/>
              <a:gd name="connsiteY1" fmla="*/ 2866490 h 5065160"/>
              <a:gd name="connsiteX2" fmla="*/ 0 w 4387065"/>
              <a:gd name="connsiteY2" fmla="*/ 2887038 h 5065160"/>
              <a:gd name="connsiteX3" fmla="*/ 30823 w 4387065"/>
              <a:gd name="connsiteY3" fmla="*/ 5065160 h 5065160"/>
              <a:gd name="connsiteX4" fmla="*/ 4387065 w 4387065"/>
              <a:gd name="connsiteY4" fmla="*/ 5034337 h 5065160"/>
              <a:gd name="connsiteX5" fmla="*/ 4345969 w 4387065"/>
              <a:gd name="connsiteY5" fmla="*/ 10274 h 5065160"/>
              <a:gd name="connsiteX6" fmla="*/ 739739 w 4387065"/>
              <a:gd name="connsiteY6" fmla="*/ 0 h 50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065" h="5065160">
                <a:moveTo>
                  <a:pt x="739739" y="0"/>
                </a:moveTo>
                <a:lnTo>
                  <a:pt x="739739" y="2866490"/>
                </a:lnTo>
                <a:lnTo>
                  <a:pt x="0" y="2887038"/>
                </a:lnTo>
                <a:lnTo>
                  <a:pt x="30823" y="5065160"/>
                </a:lnTo>
                <a:lnTo>
                  <a:pt x="4387065" y="5034337"/>
                </a:lnTo>
                <a:lnTo>
                  <a:pt x="4345969" y="10274"/>
                </a:lnTo>
                <a:lnTo>
                  <a:pt x="739739" y="0"/>
                </a:lnTo>
                <a:close/>
              </a:path>
            </a:pathLst>
          </a:custGeom>
          <a:noFill/>
          <a:ln w="127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5" name="Picture 4">
            <a:extLst>
              <a:ext uri="{FF2B5EF4-FFF2-40B4-BE49-F238E27FC236}">
                <a16:creationId xmlns:a16="http://schemas.microsoft.com/office/drawing/2014/main" id="{DD97D96E-BC52-5E76-0BF6-E9D439CF07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55" b="25566"/>
          <a:stretch/>
        </p:blipFill>
        <p:spPr bwMode="auto">
          <a:xfrm>
            <a:off x="10951985" y="5504231"/>
            <a:ext cx="860264" cy="441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6">
            <a:extLst>
              <a:ext uri="{FF2B5EF4-FFF2-40B4-BE49-F238E27FC236}">
                <a16:creationId xmlns:a16="http://schemas.microsoft.com/office/drawing/2014/main" id="{6378F784-C0C1-EE61-D938-7EDE453A89DE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0890" y="6055649"/>
            <a:ext cx="946958" cy="42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6">
            <a:extLst>
              <a:ext uri="{FF2B5EF4-FFF2-40B4-BE49-F238E27FC236}">
                <a16:creationId xmlns:a16="http://schemas.microsoft.com/office/drawing/2014/main" id="{B81FF3A2-E4DC-9A10-3951-69FB10CD8D7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398" y="3959077"/>
            <a:ext cx="683248" cy="30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4">
            <a:extLst>
              <a:ext uri="{FF2B5EF4-FFF2-40B4-BE49-F238E27FC236}">
                <a16:creationId xmlns:a16="http://schemas.microsoft.com/office/drawing/2014/main" id="{BE2AC988-9A94-B652-9D1C-D0E7D2DE0F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55" b="25566"/>
          <a:stretch/>
        </p:blipFill>
        <p:spPr bwMode="auto">
          <a:xfrm>
            <a:off x="2096507" y="4367330"/>
            <a:ext cx="533412" cy="27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6">
            <a:extLst>
              <a:ext uri="{FF2B5EF4-FFF2-40B4-BE49-F238E27FC236}">
                <a16:creationId xmlns:a16="http://schemas.microsoft.com/office/drawing/2014/main" id="{A69EEFE6-7CF6-E9E6-8116-A65094D6AD2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765" y="3928335"/>
            <a:ext cx="683248" cy="30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4">
            <a:extLst>
              <a:ext uri="{FF2B5EF4-FFF2-40B4-BE49-F238E27FC236}">
                <a16:creationId xmlns:a16="http://schemas.microsoft.com/office/drawing/2014/main" id="{A6D01576-9969-C5E9-A6DE-E0DF0A64CA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55" b="25566"/>
          <a:stretch/>
        </p:blipFill>
        <p:spPr bwMode="auto">
          <a:xfrm>
            <a:off x="4667874" y="4336588"/>
            <a:ext cx="533412" cy="27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Imagem 110">
            <a:extLst>
              <a:ext uri="{FF2B5EF4-FFF2-40B4-BE49-F238E27FC236}">
                <a16:creationId xmlns:a16="http://schemas.microsoft.com/office/drawing/2014/main" id="{1A7CD313-8CA9-EA0E-BD97-56C8C834F4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4624" r="41620">
                        <a14:foregroundMark x1="28986" y1="42478" x2="28502" y2="67257"/>
                        <a14:foregroundMark x1="37198" y1="41593" x2="35266" y2="63717"/>
                        <a14:foregroundMark x1="19324" y1="45133" x2="20290" y2="76991"/>
                        <a14:foregroundMark x1="11594" y1="39823" x2="13527" y2="56637"/>
                      </a14:backgroundRemoval>
                    </a14:imgEffect>
                  </a14:imgLayer>
                </a14:imgProps>
              </a:ext>
            </a:extLst>
          </a:blip>
          <a:srcRect r="53756"/>
          <a:stretch/>
        </p:blipFill>
        <p:spPr>
          <a:xfrm>
            <a:off x="7397256" y="5841063"/>
            <a:ext cx="805084" cy="950372"/>
          </a:xfrm>
          <a:prstGeom prst="rect">
            <a:avLst/>
          </a:prstGeom>
        </p:spPr>
      </p:pic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9F14819D-CB68-ECE3-1CE1-BBCB670FC4EF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Fluxo de operação do ambiente LLM</a:t>
            </a:r>
          </a:p>
        </p:txBody>
      </p:sp>
    </p:spTree>
    <p:extLst>
      <p:ext uri="{BB962C8B-B14F-4D97-AF65-F5344CB8AC3E}">
        <p14:creationId xmlns:p14="http://schemas.microsoft.com/office/powerpoint/2010/main" val="228291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/>
      <p:bldP spid="66" grpId="0"/>
      <p:bldP spid="71" grpId="0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/>
      <p:bldP spid="82" grpId="0"/>
      <p:bldP spid="85" grpId="0" animBg="1"/>
      <p:bldP spid="86" grpId="0"/>
      <p:bldP spid="87" grpId="0" animBg="1"/>
      <p:bldP spid="88" grpId="0"/>
      <p:bldP spid="89" grpId="0" animBg="1"/>
      <p:bldP spid="90" grpId="0" animBg="1"/>
      <p:bldP spid="92" grpId="0"/>
      <p:bldP spid="102" grpId="0" animBg="1"/>
      <p:bldP spid="103" grpId="0"/>
      <p:bldP spid="10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Retângulo: Cantos Arredondados 1196">
            <a:extLst>
              <a:ext uri="{FF2B5EF4-FFF2-40B4-BE49-F238E27FC236}">
                <a16:creationId xmlns:a16="http://schemas.microsoft.com/office/drawing/2014/main" id="{74220795-D338-E2CD-98E8-7BC9E11E5749}"/>
              </a:ext>
            </a:extLst>
          </p:cNvPr>
          <p:cNvSpPr/>
          <p:nvPr/>
        </p:nvSpPr>
        <p:spPr>
          <a:xfrm>
            <a:off x="2741485" y="0"/>
            <a:ext cx="2268491" cy="6846823"/>
          </a:xfrm>
          <a:prstGeom prst="roundRect">
            <a:avLst/>
          </a:prstGeom>
          <a:solidFill>
            <a:srgbClr val="181717">
              <a:alpha val="30196"/>
            </a:srgbClr>
          </a:solidFill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98" name="Retângulo: Cantos Arredondados 1197">
            <a:extLst>
              <a:ext uri="{FF2B5EF4-FFF2-40B4-BE49-F238E27FC236}">
                <a16:creationId xmlns:a16="http://schemas.microsoft.com/office/drawing/2014/main" id="{1C30D58E-D69D-9356-D096-77F938D955A9}"/>
              </a:ext>
            </a:extLst>
          </p:cNvPr>
          <p:cNvSpPr/>
          <p:nvPr/>
        </p:nvSpPr>
        <p:spPr>
          <a:xfrm>
            <a:off x="5046312" y="-14755"/>
            <a:ext cx="2268491" cy="6846823"/>
          </a:xfrm>
          <a:prstGeom prst="roundRect">
            <a:avLst/>
          </a:prstGeom>
          <a:solidFill>
            <a:srgbClr val="181717">
              <a:alpha val="30196"/>
            </a:srgbClr>
          </a:solidFill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99" name="Retângulo: Cantos Arredondados 1198">
            <a:extLst>
              <a:ext uri="{FF2B5EF4-FFF2-40B4-BE49-F238E27FC236}">
                <a16:creationId xmlns:a16="http://schemas.microsoft.com/office/drawing/2014/main" id="{49DD1BD1-9434-4BBC-9E1F-1AE6F4A39C3B}"/>
              </a:ext>
            </a:extLst>
          </p:cNvPr>
          <p:cNvSpPr/>
          <p:nvPr/>
        </p:nvSpPr>
        <p:spPr>
          <a:xfrm>
            <a:off x="7351418" y="14601"/>
            <a:ext cx="2268491" cy="6846823"/>
          </a:xfrm>
          <a:prstGeom prst="roundRect">
            <a:avLst/>
          </a:prstGeom>
          <a:solidFill>
            <a:srgbClr val="181717">
              <a:alpha val="30196"/>
            </a:srgbClr>
          </a:solidFill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00" name="Retângulo: Cantos Arredondados 1199">
            <a:extLst>
              <a:ext uri="{FF2B5EF4-FFF2-40B4-BE49-F238E27FC236}">
                <a16:creationId xmlns:a16="http://schemas.microsoft.com/office/drawing/2014/main" id="{410EAF4E-5458-B482-6A18-B7E8F36826C7}"/>
              </a:ext>
            </a:extLst>
          </p:cNvPr>
          <p:cNvSpPr/>
          <p:nvPr/>
        </p:nvSpPr>
        <p:spPr>
          <a:xfrm>
            <a:off x="9634992" y="11177"/>
            <a:ext cx="2380838" cy="6854557"/>
          </a:xfrm>
          <a:prstGeom prst="roundRect">
            <a:avLst/>
          </a:prstGeom>
          <a:solidFill>
            <a:srgbClr val="181717">
              <a:alpha val="30196"/>
            </a:srgbClr>
          </a:solidFill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96" name="Retângulo: Cantos Arredondados 1195">
            <a:extLst>
              <a:ext uri="{FF2B5EF4-FFF2-40B4-BE49-F238E27FC236}">
                <a16:creationId xmlns:a16="http://schemas.microsoft.com/office/drawing/2014/main" id="{3B6AD5C6-9FAE-0046-6579-5A65E07097BB}"/>
              </a:ext>
            </a:extLst>
          </p:cNvPr>
          <p:cNvSpPr/>
          <p:nvPr/>
        </p:nvSpPr>
        <p:spPr>
          <a:xfrm>
            <a:off x="437753" y="11177"/>
            <a:ext cx="2268491" cy="6846823"/>
          </a:xfrm>
          <a:prstGeom prst="roundRect">
            <a:avLst/>
          </a:prstGeom>
          <a:solidFill>
            <a:srgbClr val="181717">
              <a:alpha val="30196"/>
            </a:srgbClr>
          </a:solidFill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8" name="Retângulo: Cantos Arredondados 1157">
            <a:extLst>
              <a:ext uri="{FF2B5EF4-FFF2-40B4-BE49-F238E27FC236}">
                <a16:creationId xmlns:a16="http://schemas.microsoft.com/office/drawing/2014/main" id="{7BB81888-F7E2-DF10-5D9A-E58AF340C1B0}"/>
              </a:ext>
            </a:extLst>
          </p:cNvPr>
          <p:cNvSpPr/>
          <p:nvPr/>
        </p:nvSpPr>
        <p:spPr>
          <a:xfrm>
            <a:off x="892789" y="5646061"/>
            <a:ext cx="11299211" cy="805681"/>
          </a:xfrm>
          <a:prstGeom prst="roundRect">
            <a:avLst/>
          </a:prstGeom>
          <a:solidFill>
            <a:schemeClr val="accent5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75" name="Retângulo: Cantos Arredondados 1174">
            <a:extLst>
              <a:ext uri="{FF2B5EF4-FFF2-40B4-BE49-F238E27FC236}">
                <a16:creationId xmlns:a16="http://schemas.microsoft.com/office/drawing/2014/main" id="{3C34B898-7653-5728-955E-A8ACEE056B0D}"/>
              </a:ext>
            </a:extLst>
          </p:cNvPr>
          <p:cNvSpPr/>
          <p:nvPr/>
        </p:nvSpPr>
        <p:spPr>
          <a:xfrm>
            <a:off x="892789" y="115449"/>
            <a:ext cx="11264571" cy="69890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6" name="Retângulo: Cantos Arredondados 1155">
            <a:extLst>
              <a:ext uri="{FF2B5EF4-FFF2-40B4-BE49-F238E27FC236}">
                <a16:creationId xmlns:a16="http://schemas.microsoft.com/office/drawing/2014/main" id="{54E7AF6C-6409-2F40-1221-C17C233F9487}"/>
              </a:ext>
            </a:extLst>
          </p:cNvPr>
          <p:cNvSpPr/>
          <p:nvPr/>
        </p:nvSpPr>
        <p:spPr>
          <a:xfrm>
            <a:off x="892789" y="4311197"/>
            <a:ext cx="11299211" cy="69890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5" name="Retângulo: Cantos Arredondados 1154">
            <a:extLst>
              <a:ext uri="{FF2B5EF4-FFF2-40B4-BE49-F238E27FC236}">
                <a16:creationId xmlns:a16="http://schemas.microsoft.com/office/drawing/2014/main" id="{74446E3D-B82A-0D5F-87B5-040B453890AE}"/>
              </a:ext>
            </a:extLst>
          </p:cNvPr>
          <p:cNvSpPr/>
          <p:nvPr/>
        </p:nvSpPr>
        <p:spPr>
          <a:xfrm>
            <a:off x="899913" y="1227088"/>
            <a:ext cx="11264571" cy="698900"/>
          </a:xfrm>
          <a:prstGeom prst="roundRect">
            <a:avLst/>
          </a:prstGeom>
          <a:solidFill>
            <a:srgbClr val="FFF2CC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ilindro 1">
            <a:extLst>
              <a:ext uri="{FF2B5EF4-FFF2-40B4-BE49-F238E27FC236}">
                <a16:creationId xmlns:a16="http://schemas.microsoft.com/office/drawing/2014/main" id="{33E0F283-7EF3-C2B0-899D-847CCE91D9C1}"/>
              </a:ext>
            </a:extLst>
          </p:cNvPr>
          <p:cNvSpPr/>
          <p:nvPr/>
        </p:nvSpPr>
        <p:spPr>
          <a:xfrm>
            <a:off x="1170646" y="3511731"/>
            <a:ext cx="1396132" cy="53619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E2C9BB-AD1E-3007-77C7-B9E33FEB775B}"/>
              </a:ext>
            </a:extLst>
          </p:cNvPr>
          <p:cNvSpPr txBox="1"/>
          <p:nvPr/>
        </p:nvSpPr>
        <p:spPr>
          <a:xfrm>
            <a:off x="1137498" y="3681413"/>
            <a:ext cx="1399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Data Lake V-1</a:t>
            </a:r>
            <a:endParaRPr lang="pt-BR" sz="1400" baseline="-25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72D678A-2DA1-B336-E5F0-5ED20A3F7C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89" t="35622" r="42372" b="34560"/>
          <a:stretch/>
        </p:blipFill>
        <p:spPr bwMode="auto">
          <a:xfrm>
            <a:off x="512270" y="2348552"/>
            <a:ext cx="455227" cy="532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C060B3E-D2E7-3855-F564-88CC6157B16A}"/>
              </a:ext>
            </a:extLst>
          </p:cNvPr>
          <p:cNvSpPr txBox="1"/>
          <p:nvPr/>
        </p:nvSpPr>
        <p:spPr>
          <a:xfrm rot="16200000">
            <a:off x="-324081" y="1324862"/>
            <a:ext cx="10231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/>
              <a:t>Living </a:t>
            </a:r>
            <a:r>
              <a:rPr lang="pt-BR" sz="1100" b="1" dirty="0" err="1"/>
              <a:t>Lab</a:t>
            </a:r>
            <a:r>
              <a:rPr lang="pt-BR" sz="1100" b="1" dirty="0"/>
              <a:t> SB100</a:t>
            </a:r>
          </a:p>
        </p:txBody>
      </p:sp>
      <p:sp>
        <p:nvSpPr>
          <p:cNvPr id="10" name="Faixa de Opções: Inclinada para Baixo 9">
            <a:extLst>
              <a:ext uri="{FF2B5EF4-FFF2-40B4-BE49-F238E27FC236}">
                <a16:creationId xmlns:a16="http://schemas.microsoft.com/office/drawing/2014/main" id="{195B381B-81E4-8EEE-3093-C0A59A0E6384}"/>
              </a:ext>
            </a:extLst>
          </p:cNvPr>
          <p:cNvSpPr/>
          <p:nvPr/>
        </p:nvSpPr>
        <p:spPr>
          <a:xfrm>
            <a:off x="1026054" y="2313985"/>
            <a:ext cx="1605876" cy="719796"/>
          </a:xfrm>
          <a:prstGeom prst="ribb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A9BCCE0-2716-5D60-2E68-E62A859504BE}"/>
              </a:ext>
            </a:extLst>
          </p:cNvPr>
          <p:cNvSpPr txBox="1"/>
          <p:nvPr/>
        </p:nvSpPr>
        <p:spPr>
          <a:xfrm>
            <a:off x="1477670" y="2387450"/>
            <a:ext cx="812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SB100</a:t>
            </a:r>
          </a:p>
          <a:p>
            <a:r>
              <a:rPr lang="pt-BR" sz="1600" dirty="0"/>
              <a:t>ALFA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181EDA38-0479-7621-0A24-E47357444CA3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967497" y="2613899"/>
            <a:ext cx="259292" cy="75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55D2FCC7-30A2-62C5-2033-773190A50C9F}"/>
              </a:ext>
            </a:extLst>
          </p:cNvPr>
          <p:cNvCxnSpPr>
            <a:cxnSpLocks/>
            <a:stCxn id="2" idx="1"/>
            <a:endCxn id="8" idx="2"/>
          </p:cNvCxnSpPr>
          <p:nvPr/>
        </p:nvCxnSpPr>
        <p:spPr>
          <a:xfrm flipV="1">
            <a:off x="1868712" y="2972225"/>
            <a:ext cx="15023" cy="53950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m 24">
            <a:extLst>
              <a:ext uri="{FF2B5EF4-FFF2-40B4-BE49-F238E27FC236}">
                <a16:creationId xmlns:a16="http://schemas.microsoft.com/office/drawing/2014/main" id="{E764A3AA-B39B-BC74-0A9E-E9F3970F7CB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34970" y="4362407"/>
            <a:ext cx="442723" cy="609804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9E71684-F84C-9143-927B-E74AB955C03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60799" y="5759736"/>
            <a:ext cx="590201" cy="590201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BFDC13AD-5E02-16A2-7D0A-27ACF4F56925}"/>
              </a:ext>
            </a:extLst>
          </p:cNvPr>
          <p:cNvSpPr txBox="1"/>
          <p:nvPr/>
        </p:nvSpPr>
        <p:spPr>
          <a:xfrm>
            <a:off x="1387820" y="5017694"/>
            <a:ext cx="1211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NEWSINFO 01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32D838C-B084-DF2B-6DCA-29DF1B95B379}"/>
              </a:ext>
            </a:extLst>
          </p:cNvPr>
          <p:cNvSpPr txBox="1"/>
          <p:nvPr/>
        </p:nvSpPr>
        <p:spPr>
          <a:xfrm rot="16200000">
            <a:off x="-656756" y="5922285"/>
            <a:ext cx="17761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 err="1"/>
              <a:t>Desenv</a:t>
            </a:r>
            <a:r>
              <a:rPr lang="pt-BR" sz="1100" b="1" dirty="0"/>
              <a:t>. Conhec.</a:t>
            </a:r>
          </a:p>
          <a:p>
            <a:pPr algn="ctr"/>
            <a:r>
              <a:rPr lang="pt-BR" sz="1100" b="1" dirty="0"/>
              <a:t>Científico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C7CCE81-C9F1-3A90-3B73-7DC81A705264}"/>
              </a:ext>
            </a:extLst>
          </p:cNvPr>
          <p:cNvSpPr txBox="1"/>
          <p:nvPr/>
        </p:nvSpPr>
        <p:spPr>
          <a:xfrm>
            <a:off x="1077414" y="5349308"/>
            <a:ext cx="1027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BIOINFO 01</a:t>
            </a:r>
          </a:p>
        </p:txBody>
      </p:sp>
      <p:sp>
        <p:nvSpPr>
          <p:cNvPr id="36" name="Cilindro 35">
            <a:extLst>
              <a:ext uri="{FF2B5EF4-FFF2-40B4-BE49-F238E27FC236}">
                <a16:creationId xmlns:a16="http://schemas.microsoft.com/office/drawing/2014/main" id="{8FA70DC3-B957-470D-3B84-DE620543862B}"/>
              </a:ext>
            </a:extLst>
          </p:cNvPr>
          <p:cNvSpPr/>
          <p:nvPr/>
        </p:nvSpPr>
        <p:spPr>
          <a:xfrm>
            <a:off x="3438750" y="3511731"/>
            <a:ext cx="1396132" cy="55548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7779329-23D5-F5E7-5B40-6480741EDBB5}"/>
              </a:ext>
            </a:extLst>
          </p:cNvPr>
          <p:cNvSpPr txBox="1"/>
          <p:nvPr/>
        </p:nvSpPr>
        <p:spPr>
          <a:xfrm>
            <a:off x="3427927" y="3691138"/>
            <a:ext cx="14177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Data Lake V-2 </a:t>
            </a:r>
            <a:endParaRPr lang="pt-BR" sz="1400" baseline="-25000" dirty="0"/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EE9F02FB-D9AF-5F61-5E5A-20ACCA2AA2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89" t="35622" r="42372" b="34560"/>
          <a:stretch/>
        </p:blipFill>
        <p:spPr bwMode="auto">
          <a:xfrm>
            <a:off x="2742294" y="2348552"/>
            <a:ext cx="455227" cy="532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Faixa de Opções: Inclinada para Baixo 40">
            <a:extLst>
              <a:ext uri="{FF2B5EF4-FFF2-40B4-BE49-F238E27FC236}">
                <a16:creationId xmlns:a16="http://schemas.microsoft.com/office/drawing/2014/main" id="{46A92085-E912-FF13-E5A2-5D705070A3FC}"/>
              </a:ext>
            </a:extLst>
          </p:cNvPr>
          <p:cNvSpPr/>
          <p:nvPr/>
        </p:nvSpPr>
        <p:spPr>
          <a:xfrm>
            <a:off x="3266710" y="2313985"/>
            <a:ext cx="1776115" cy="719796"/>
          </a:xfrm>
          <a:prstGeom prst="ribb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7043F419-3DE2-91D3-D1E1-2689432B4C20}"/>
              </a:ext>
            </a:extLst>
          </p:cNvPr>
          <p:cNvSpPr txBox="1"/>
          <p:nvPr/>
        </p:nvSpPr>
        <p:spPr>
          <a:xfrm>
            <a:off x="3742167" y="2387450"/>
            <a:ext cx="806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SB100</a:t>
            </a:r>
          </a:p>
          <a:p>
            <a:pPr algn="ctr"/>
            <a:r>
              <a:rPr lang="pt-BR" sz="1600" dirty="0"/>
              <a:t>BETA</a:t>
            </a:r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F8758CDA-C6BC-E2CC-3CD0-4CC316DC1DC4}"/>
              </a:ext>
            </a:extLst>
          </p:cNvPr>
          <p:cNvCxnSpPr>
            <a:cxnSpLocks/>
            <a:stCxn id="38" idx="3"/>
            <a:endCxn id="41" idx="1"/>
          </p:cNvCxnSpPr>
          <p:nvPr/>
        </p:nvCxnSpPr>
        <p:spPr>
          <a:xfrm flipV="1">
            <a:off x="3197521" y="2613899"/>
            <a:ext cx="291203" cy="75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D27BE4D5-DBCC-034E-9D4C-FC64E0EBC8E7}"/>
              </a:ext>
            </a:extLst>
          </p:cNvPr>
          <p:cNvCxnSpPr>
            <a:cxnSpLocks/>
            <a:stCxn id="36" idx="1"/>
            <a:endCxn id="42" idx="2"/>
          </p:cNvCxnSpPr>
          <p:nvPr/>
        </p:nvCxnSpPr>
        <p:spPr>
          <a:xfrm flipV="1">
            <a:off x="4136816" y="2972225"/>
            <a:ext cx="8482" cy="53950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Imagem 44">
            <a:extLst>
              <a:ext uri="{FF2B5EF4-FFF2-40B4-BE49-F238E27FC236}">
                <a16:creationId xmlns:a16="http://schemas.microsoft.com/office/drawing/2014/main" id="{E71D2328-3E5D-F2A8-0215-029A51DF78E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141319" y="4378831"/>
            <a:ext cx="442723" cy="609804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49737D03-4A94-11A7-39E0-30E2CEF9958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58912" y="5759736"/>
            <a:ext cx="590201" cy="590201"/>
          </a:xfrm>
          <a:prstGeom prst="rect">
            <a:avLst/>
          </a:prstGeom>
        </p:spPr>
      </p:pic>
      <p:sp>
        <p:nvSpPr>
          <p:cNvPr id="47" name="CaixaDeTexto 46">
            <a:extLst>
              <a:ext uri="{FF2B5EF4-FFF2-40B4-BE49-F238E27FC236}">
                <a16:creationId xmlns:a16="http://schemas.microsoft.com/office/drawing/2014/main" id="{2325CB23-781A-01A1-FDE1-F95CE4A009C8}"/>
              </a:ext>
            </a:extLst>
          </p:cNvPr>
          <p:cNvSpPr txBox="1"/>
          <p:nvPr/>
        </p:nvSpPr>
        <p:spPr>
          <a:xfrm>
            <a:off x="3757033" y="5017953"/>
            <a:ext cx="1211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NEWSINFO 02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6EAC260-ABE3-F8FE-2B5E-DAB031738BBE}"/>
              </a:ext>
            </a:extLst>
          </p:cNvPr>
          <p:cNvSpPr txBox="1"/>
          <p:nvPr/>
        </p:nvSpPr>
        <p:spPr>
          <a:xfrm>
            <a:off x="3316281" y="5384568"/>
            <a:ext cx="1027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BIOINFO 02</a:t>
            </a:r>
          </a:p>
        </p:txBody>
      </p:sp>
      <p:sp>
        <p:nvSpPr>
          <p:cNvPr id="63" name="Cilindro 62">
            <a:extLst>
              <a:ext uri="{FF2B5EF4-FFF2-40B4-BE49-F238E27FC236}">
                <a16:creationId xmlns:a16="http://schemas.microsoft.com/office/drawing/2014/main" id="{546A7F3B-F19F-2132-814A-4678713D24D2}"/>
              </a:ext>
            </a:extLst>
          </p:cNvPr>
          <p:cNvSpPr/>
          <p:nvPr/>
        </p:nvSpPr>
        <p:spPr>
          <a:xfrm>
            <a:off x="5810977" y="3516961"/>
            <a:ext cx="1396132" cy="5502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4" name="CaixaDeTexto 1023">
            <a:extLst>
              <a:ext uri="{FF2B5EF4-FFF2-40B4-BE49-F238E27FC236}">
                <a16:creationId xmlns:a16="http://schemas.microsoft.com/office/drawing/2014/main" id="{2A08CE91-628F-7541-0738-3018B414522E}"/>
              </a:ext>
            </a:extLst>
          </p:cNvPr>
          <p:cNvSpPr txBox="1"/>
          <p:nvPr/>
        </p:nvSpPr>
        <p:spPr>
          <a:xfrm>
            <a:off x="5826330" y="3686729"/>
            <a:ext cx="1365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Data Lake V-3 </a:t>
            </a:r>
            <a:endParaRPr lang="pt-BR" sz="1400" baseline="-25000" dirty="0"/>
          </a:p>
        </p:txBody>
      </p:sp>
      <p:pic>
        <p:nvPicPr>
          <p:cNvPr id="1025" name="Picture 2">
            <a:extLst>
              <a:ext uri="{FF2B5EF4-FFF2-40B4-BE49-F238E27FC236}">
                <a16:creationId xmlns:a16="http://schemas.microsoft.com/office/drawing/2014/main" id="{937647A8-E5FC-041E-8B36-CAA6BE36F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89" t="35622" r="42372" b="34560"/>
          <a:stretch/>
        </p:blipFill>
        <p:spPr bwMode="auto">
          <a:xfrm>
            <a:off x="5106710" y="2344617"/>
            <a:ext cx="455227" cy="532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Faixa de Opções: Inclinada para Baixo 1029">
            <a:extLst>
              <a:ext uri="{FF2B5EF4-FFF2-40B4-BE49-F238E27FC236}">
                <a16:creationId xmlns:a16="http://schemas.microsoft.com/office/drawing/2014/main" id="{2AAE669C-F4E6-0A9A-EC37-65D689344C6C}"/>
              </a:ext>
            </a:extLst>
          </p:cNvPr>
          <p:cNvSpPr/>
          <p:nvPr/>
        </p:nvSpPr>
        <p:spPr>
          <a:xfrm>
            <a:off x="5631126" y="2310050"/>
            <a:ext cx="1776115" cy="719796"/>
          </a:xfrm>
          <a:prstGeom prst="ribb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31" name="CaixaDeTexto 1030">
            <a:extLst>
              <a:ext uri="{FF2B5EF4-FFF2-40B4-BE49-F238E27FC236}">
                <a16:creationId xmlns:a16="http://schemas.microsoft.com/office/drawing/2014/main" id="{DDFB2050-0660-8890-77A5-FC9394C7A535}"/>
              </a:ext>
            </a:extLst>
          </p:cNvPr>
          <p:cNvSpPr txBox="1"/>
          <p:nvPr/>
        </p:nvSpPr>
        <p:spPr>
          <a:xfrm>
            <a:off x="6106583" y="2383515"/>
            <a:ext cx="806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SB100</a:t>
            </a:r>
          </a:p>
          <a:p>
            <a:pPr algn="ctr"/>
            <a:r>
              <a:rPr lang="pt-BR" sz="1600" dirty="0"/>
              <a:t>GAMA</a:t>
            </a:r>
          </a:p>
        </p:txBody>
      </p:sp>
      <p:cxnSp>
        <p:nvCxnSpPr>
          <p:cNvPr id="1032" name="Conector de Seta Reta 1031">
            <a:extLst>
              <a:ext uri="{FF2B5EF4-FFF2-40B4-BE49-F238E27FC236}">
                <a16:creationId xmlns:a16="http://schemas.microsoft.com/office/drawing/2014/main" id="{298562D2-1A7B-9D08-3DDF-B1035E6CB0D4}"/>
              </a:ext>
            </a:extLst>
          </p:cNvPr>
          <p:cNvCxnSpPr>
            <a:cxnSpLocks/>
            <a:stCxn id="1025" idx="3"/>
            <a:endCxn id="1030" idx="1"/>
          </p:cNvCxnSpPr>
          <p:nvPr/>
        </p:nvCxnSpPr>
        <p:spPr>
          <a:xfrm flipV="1">
            <a:off x="5561937" y="2609964"/>
            <a:ext cx="291203" cy="75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Conector de Seta Reta 1032">
            <a:extLst>
              <a:ext uri="{FF2B5EF4-FFF2-40B4-BE49-F238E27FC236}">
                <a16:creationId xmlns:a16="http://schemas.microsoft.com/office/drawing/2014/main" id="{D4095B83-24CC-920F-02F2-B56B9801C815}"/>
              </a:ext>
            </a:extLst>
          </p:cNvPr>
          <p:cNvCxnSpPr>
            <a:cxnSpLocks/>
            <a:stCxn id="63" idx="1"/>
            <a:endCxn id="1031" idx="2"/>
          </p:cNvCxnSpPr>
          <p:nvPr/>
        </p:nvCxnSpPr>
        <p:spPr>
          <a:xfrm flipV="1">
            <a:off x="6509043" y="2968290"/>
            <a:ext cx="671" cy="548671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Imagem 1033">
            <a:extLst>
              <a:ext uri="{FF2B5EF4-FFF2-40B4-BE49-F238E27FC236}">
                <a16:creationId xmlns:a16="http://schemas.microsoft.com/office/drawing/2014/main" id="{D4F98774-5156-81EE-EB96-BE9C3B686C5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50377" y="4377538"/>
            <a:ext cx="442723" cy="609804"/>
          </a:xfrm>
          <a:prstGeom prst="rect">
            <a:avLst/>
          </a:prstGeom>
        </p:spPr>
      </p:pic>
      <p:pic>
        <p:nvPicPr>
          <p:cNvPr id="1035" name="Imagem 1034">
            <a:extLst>
              <a:ext uri="{FF2B5EF4-FFF2-40B4-BE49-F238E27FC236}">
                <a16:creationId xmlns:a16="http://schemas.microsoft.com/office/drawing/2014/main" id="{C2AE17E1-B618-844C-9FEC-32C6AB94FF9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823328" y="5755801"/>
            <a:ext cx="590201" cy="590201"/>
          </a:xfrm>
          <a:prstGeom prst="rect">
            <a:avLst/>
          </a:prstGeom>
        </p:spPr>
      </p:pic>
      <p:sp>
        <p:nvSpPr>
          <p:cNvPr id="1036" name="CaixaDeTexto 1035">
            <a:extLst>
              <a:ext uri="{FF2B5EF4-FFF2-40B4-BE49-F238E27FC236}">
                <a16:creationId xmlns:a16="http://schemas.microsoft.com/office/drawing/2014/main" id="{0ACD98AD-57DA-65FE-7313-B93B01B645ED}"/>
              </a:ext>
            </a:extLst>
          </p:cNvPr>
          <p:cNvSpPr txBox="1"/>
          <p:nvPr/>
        </p:nvSpPr>
        <p:spPr>
          <a:xfrm>
            <a:off x="6059485" y="4987342"/>
            <a:ext cx="1211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NEWSINFO 03</a:t>
            </a:r>
          </a:p>
        </p:txBody>
      </p:sp>
      <p:sp>
        <p:nvSpPr>
          <p:cNvPr id="1037" name="CaixaDeTexto 1036">
            <a:extLst>
              <a:ext uri="{FF2B5EF4-FFF2-40B4-BE49-F238E27FC236}">
                <a16:creationId xmlns:a16="http://schemas.microsoft.com/office/drawing/2014/main" id="{A72884BB-1087-E934-AACD-660B1259F00F}"/>
              </a:ext>
            </a:extLst>
          </p:cNvPr>
          <p:cNvSpPr txBox="1"/>
          <p:nvPr/>
        </p:nvSpPr>
        <p:spPr>
          <a:xfrm>
            <a:off x="5613680" y="5388288"/>
            <a:ext cx="1027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BIOINFO 02</a:t>
            </a:r>
          </a:p>
        </p:txBody>
      </p:sp>
      <p:cxnSp>
        <p:nvCxnSpPr>
          <p:cNvPr id="1039" name="Conector de Seta Reta 1038">
            <a:extLst>
              <a:ext uri="{FF2B5EF4-FFF2-40B4-BE49-F238E27FC236}">
                <a16:creationId xmlns:a16="http://schemas.microsoft.com/office/drawing/2014/main" id="{B44A3BC7-D819-5D6F-AE0C-F0C3E585BF87}"/>
              </a:ext>
            </a:extLst>
          </p:cNvPr>
          <p:cNvCxnSpPr>
            <a:cxnSpLocks/>
            <a:stCxn id="25" idx="3"/>
            <a:endCxn id="37" idx="2"/>
          </p:cNvCxnSpPr>
          <p:nvPr/>
        </p:nvCxnSpPr>
        <p:spPr>
          <a:xfrm flipV="1">
            <a:off x="2177693" y="3998915"/>
            <a:ext cx="1959123" cy="668394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Conector: Angulado 1042">
            <a:extLst>
              <a:ext uri="{FF2B5EF4-FFF2-40B4-BE49-F238E27FC236}">
                <a16:creationId xmlns:a16="http://schemas.microsoft.com/office/drawing/2014/main" id="{15481186-A15C-8B33-B21F-E0F0A3D023F6}"/>
              </a:ext>
            </a:extLst>
          </p:cNvPr>
          <p:cNvCxnSpPr>
            <a:cxnSpLocks/>
            <a:stCxn id="2" idx="2"/>
            <a:endCxn id="4" idx="2"/>
          </p:cNvCxnSpPr>
          <p:nvPr/>
        </p:nvCxnSpPr>
        <p:spPr>
          <a:xfrm rot="10800000">
            <a:off x="739884" y="2880746"/>
            <a:ext cx="430762" cy="899085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Conector: Angulado 1044">
            <a:extLst>
              <a:ext uri="{FF2B5EF4-FFF2-40B4-BE49-F238E27FC236}">
                <a16:creationId xmlns:a16="http://schemas.microsoft.com/office/drawing/2014/main" id="{531F4E14-5E87-037D-84C3-9A6864CB74ED}"/>
              </a:ext>
            </a:extLst>
          </p:cNvPr>
          <p:cNvCxnSpPr>
            <a:cxnSpLocks/>
            <a:stCxn id="36" idx="2"/>
            <a:endCxn id="38" idx="2"/>
          </p:cNvCxnSpPr>
          <p:nvPr/>
        </p:nvCxnSpPr>
        <p:spPr>
          <a:xfrm rot="10800000">
            <a:off x="2969908" y="2880745"/>
            <a:ext cx="468842" cy="908728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ector de Seta Reta 1049">
            <a:extLst>
              <a:ext uri="{FF2B5EF4-FFF2-40B4-BE49-F238E27FC236}">
                <a16:creationId xmlns:a16="http://schemas.microsoft.com/office/drawing/2014/main" id="{B9A3960A-53F9-BF71-357E-68B024BD5217}"/>
              </a:ext>
            </a:extLst>
          </p:cNvPr>
          <p:cNvCxnSpPr>
            <a:cxnSpLocks/>
            <a:stCxn id="45" idx="3"/>
            <a:endCxn id="63" idx="3"/>
          </p:cNvCxnSpPr>
          <p:nvPr/>
        </p:nvCxnSpPr>
        <p:spPr>
          <a:xfrm flipV="1">
            <a:off x="4584042" y="4067215"/>
            <a:ext cx="1925001" cy="616518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CaixaDeTexto 1052">
            <a:extLst>
              <a:ext uri="{FF2B5EF4-FFF2-40B4-BE49-F238E27FC236}">
                <a16:creationId xmlns:a16="http://schemas.microsoft.com/office/drawing/2014/main" id="{DCE13906-DCB7-E408-C6FA-9F512162D8C6}"/>
              </a:ext>
            </a:extLst>
          </p:cNvPr>
          <p:cNvSpPr txBox="1"/>
          <p:nvPr/>
        </p:nvSpPr>
        <p:spPr>
          <a:xfrm>
            <a:off x="437753" y="1962699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AI 1.0</a:t>
            </a:r>
          </a:p>
        </p:txBody>
      </p:sp>
      <p:sp>
        <p:nvSpPr>
          <p:cNvPr id="1054" name="CaixaDeTexto 1053">
            <a:extLst>
              <a:ext uri="{FF2B5EF4-FFF2-40B4-BE49-F238E27FC236}">
                <a16:creationId xmlns:a16="http://schemas.microsoft.com/office/drawing/2014/main" id="{32D254E9-2D53-B70C-64BC-DB4ED804E7F4}"/>
              </a:ext>
            </a:extLst>
          </p:cNvPr>
          <p:cNvSpPr txBox="1"/>
          <p:nvPr/>
        </p:nvSpPr>
        <p:spPr>
          <a:xfrm>
            <a:off x="2631930" y="1953389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AI 2.0</a:t>
            </a:r>
          </a:p>
        </p:txBody>
      </p:sp>
      <p:sp>
        <p:nvSpPr>
          <p:cNvPr id="1055" name="CaixaDeTexto 1054">
            <a:extLst>
              <a:ext uri="{FF2B5EF4-FFF2-40B4-BE49-F238E27FC236}">
                <a16:creationId xmlns:a16="http://schemas.microsoft.com/office/drawing/2014/main" id="{C76F7242-A658-C093-7A19-99CE98DCF541}"/>
              </a:ext>
            </a:extLst>
          </p:cNvPr>
          <p:cNvSpPr txBox="1"/>
          <p:nvPr/>
        </p:nvSpPr>
        <p:spPr>
          <a:xfrm>
            <a:off x="4977640" y="1925424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AI 3.0</a:t>
            </a:r>
          </a:p>
        </p:txBody>
      </p:sp>
      <p:sp>
        <p:nvSpPr>
          <p:cNvPr id="1056" name="Cilindro 1055">
            <a:extLst>
              <a:ext uri="{FF2B5EF4-FFF2-40B4-BE49-F238E27FC236}">
                <a16:creationId xmlns:a16="http://schemas.microsoft.com/office/drawing/2014/main" id="{1F381E28-86FC-E5AD-57B5-7BA85314E60F}"/>
              </a:ext>
            </a:extLst>
          </p:cNvPr>
          <p:cNvSpPr/>
          <p:nvPr/>
        </p:nvSpPr>
        <p:spPr>
          <a:xfrm>
            <a:off x="8170201" y="3502480"/>
            <a:ext cx="1350416" cy="54545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7" name="CaixaDeTexto 1056">
            <a:extLst>
              <a:ext uri="{FF2B5EF4-FFF2-40B4-BE49-F238E27FC236}">
                <a16:creationId xmlns:a16="http://schemas.microsoft.com/office/drawing/2014/main" id="{07219877-89FA-58CF-8F6A-2A27EA1399B0}"/>
              </a:ext>
            </a:extLst>
          </p:cNvPr>
          <p:cNvSpPr txBox="1"/>
          <p:nvPr/>
        </p:nvSpPr>
        <p:spPr>
          <a:xfrm>
            <a:off x="8093058" y="3681413"/>
            <a:ext cx="1496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Data Lake V-4 </a:t>
            </a:r>
            <a:endParaRPr lang="pt-BR" sz="1400" baseline="-25000" dirty="0"/>
          </a:p>
        </p:txBody>
      </p:sp>
      <p:pic>
        <p:nvPicPr>
          <p:cNvPr id="1058" name="Picture 2">
            <a:extLst>
              <a:ext uri="{FF2B5EF4-FFF2-40B4-BE49-F238E27FC236}">
                <a16:creationId xmlns:a16="http://schemas.microsoft.com/office/drawing/2014/main" id="{79BA7102-6127-86B8-A1B6-EABE7689D5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89" t="35622" r="42372" b="34560"/>
          <a:stretch/>
        </p:blipFill>
        <p:spPr bwMode="auto">
          <a:xfrm>
            <a:off x="7450666" y="2339301"/>
            <a:ext cx="455227" cy="532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1" name="Faixa de Opções: Inclinada para Baixo 1060">
            <a:extLst>
              <a:ext uri="{FF2B5EF4-FFF2-40B4-BE49-F238E27FC236}">
                <a16:creationId xmlns:a16="http://schemas.microsoft.com/office/drawing/2014/main" id="{504EEB4F-AC02-3D49-8D6C-4F35601A8B73}"/>
              </a:ext>
            </a:extLst>
          </p:cNvPr>
          <p:cNvSpPr/>
          <p:nvPr/>
        </p:nvSpPr>
        <p:spPr>
          <a:xfrm>
            <a:off x="7975082" y="2304734"/>
            <a:ext cx="1776115" cy="719796"/>
          </a:xfrm>
          <a:prstGeom prst="ribb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62" name="CaixaDeTexto 1061">
            <a:extLst>
              <a:ext uri="{FF2B5EF4-FFF2-40B4-BE49-F238E27FC236}">
                <a16:creationId xmlns:a16="http://schemas.microsoft.com/office/drawing/2014/main" id="{503FA32E-D1AD-4E0E-A91A-830D874E676C}"/>
              </a:ext>
            </a:extLst>
          </p:cNvPr>
          <p:cNvSpPr txBox="1"/>
          <p:nvPr/>
        </p:nvSpPr>
        <p:spPr>
          <a:xfrm>
            <a:off x="8450539" y="2378199"/>
            <a:ext cx="806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SB100</a:t>
            </a:r>
          </a:p>
          <a:p>
            <a:pPr algn="ctr"/>
            <a:r>
              <a:rPr lang="pt-BR" sz="1600" dirty="0"/>
              <a:t>DELTA</a:t>
            </a:r>
          </a:p>
        </p:txBody>
      </p:sp>
      <p:cxnSp>
        <p:nvCxnSpPr>
          <p:cNvPr id="1063" name="Conector de Seta Reta 1062">
            <a:extLst>
              <a:ext uri="{FF2B5EF4-FFF2-40B4-BE49-F238E27FC236}">
                <a16:creationId xmlns:a16="http://schemas.microsoft.com/office/drawing/2014/main" id="{70B31175-F616-565C-BEAF-6F5818F70E2F}"/>
              </a:ext>
            </a:extLst>
          </p:cNvPr>
          <p:cNvCxnSpPr>
            <a:cxnSpLocks/>
            <a:stCxn id="1058" idx="3"/>
            <a:endCxn id="1061" idx="1"/>
          </p:cNvCxnSpPr>
          <p:nvPr/>
        </p:nvCxnSpPr>
        <p:spPr>
          <a:xfrm flipV="1">
            <a:off x="7905893" y="2604648"/>
            <a:ext cx="291203" cy="75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Conector de Seta Reta 1063">
            <a:extLst>
              <a:ext uri="{FF2B5EF4-FFF2-40B4-BE49-F238E27FC236}">
                <a16:creationId xmlns:a16="http://schemas.microsoft.com/office/drawing/2014/main" id="{C6915377-DAF0-513F-1570-C7612151561B}"/>
              </a:ext>
            </a:extLst>
          </p:cNvPr>
          <p:cNvCxnSpPr>
            <a:cxnSpLocks/>
            <a:stCxn id="1056" idx="1"/>
            <a:endCxn id="1062" idx="2"/>
          </p:cNvCxnSpPr>
          <p:nvPr/>
        </p:nvCxnSpPr>
        <p:spPr>
          <a:xfrm flipV="1">
            <a:off x="8845409" y="2962974"/>
            <a:ext cx="8261" cy="53950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5" name="Imagem 1064">
            <a:extLst>
              <a:ext uri="{FF2B5EF4-FFF2-40B4-BE49-F238E27FC236}">
                <a16:creationId xmlns:a16="http://schemas.microsoft.com/office/drawing/2014/main" id="{9CBEEE28-B481-8352-142C-AAEF860448C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12372" y="4361803"/>
            <a:ext cx="442723" cy="609804"/>
          </a:xfrm>
          <a:prstGeom prst="rect">
            <a:avLst/>
          </a:prstGeom>
        </p:spPr>
      </p:pic>
      <p:pic>
        <p:nvPicPr>
          <p:cNvPr id="1066" name="Imagem 1065">
            <a:extLst>
              <a:ext uri="{FF2B5EF4-FFF2-40B4-BE49-F238E27FC236}">
                <a16:creationId xmlns:a16="http://schemas.microsoft.com/office/drawing/2014/main" id="{7AD9E697-9080-10E2-8BC7-80661B0AD6F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167284" y="5750485"/>
            <a:ext cx="590201" cy="590201"/>
          </a:xfrm>
          <a:prstGeom prst="rect">
            <a:avLst/>
          </a:prstGeom>
        </p:spPr>
      </p:pic>
      <p:sp>
        <p:nvSpPr>
          <p:cNvPr id="1067" name="CaixaDeTexto 1066">
            <a:extLst>
              <a:ext uri="{FF2B5EF4-FFF2-40B4-BE49-F238E27FC236}">
                <a16:creationId xmlns:a16="http://schemas.microsoft.com/office/drawing/2014/main" id="{80D02134-BDE7-C007-767F-D7A4AC0F9577}"/>
              </a:ext>
            </a:extLst>
          </p:cNvPr>
          <p:cNvSpPr txBox="1"/>
          <p:nvPr/>
        </p:nvSpPr>
        <p:spPr>
          <a:xfrm>
            <a:off x="8500747" y="5017694"/>
            <a:ext cx="1211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NEWSINFO 03</a:t>
            </a:r>
          </a:p>
        </p:txBody>
      </p:sp>
      <p:sp>
        <p:nvSpPr>
          <p:cNvPr id="1068" name="CaixaDeTexto 1067">
            <a:extLst>
              <a:ext uri="{FF2B5EF4-FFF2-40B4-BE49-F238E27FC236}">
                <a16:creationId xmlns:a16="http://schemas.microsoft.com/office/drawing/2014/main" id="{CD6D670A-D6A7-0735-254F-F92268BF4249}"/>
              </a:ext>
            </a:extLst>
          </p:cNvPr>
          <p:cNvSpPr txBox="1"/>
          <p:nvPr/>
        </p:nvSpPr>
        <p:spPr>
          <a:xfrm>
            <a:off x="8011538" y="5392263"/>
            <a:ext cx="1027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BIOINFO 02</a:t>
            </a:r>
          </a:p>
        </p:txBody>
      </p:sp>
      <p:sp>
        <p:nvSpPr>
          <p:cNvPr id="1069" name="CaixaDeTexto 1068">
            <a:extLst>
              <a:ext uri="{FF2B5EF4-FFF2-40B4-BE49-F238E27FC236}">
                <a16:creationId xmlns:a16="http://schemas.microsoft.com/office/drawing/2014/main" id="{FD4A48AD-DA2C-3185-BCD6-1A6F24A4F70E}"/>
              </a:ext>
            </a:extLst>
          </p:cNvPr>
          <p:cNvSpPr txBox="1"/>
          <p:nvPr/>
        </p:nvSpPr>
        <p:spPr>
          <a:xfrm>
            <a:off x="7321596" y="1920108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AI 4.0</a:t>
            </a:r>
          </a:p>
        </p:txBody>
      </p:sp>
      <p:cxnSp>
        <p:nvCxnSpPr>
          <p:cNvPr id="1070" name="Conector de Seta Reta 1069">
            <a:extLst>
              <a:ext uri="{FF2B5EF4-FFF2-40B4-BE49-F238E27FC236}">
                <a16:creationId xmlns:a16="http://schemas.microsoft.com/office/drawing/2014/main" id="{CDE080A1-4507-8CF9-2F8E-554AC391A72D}"/>
              </a:ext>
            </a:extLst>
          </p:cNvPr>
          <p:cNvCxnSpPr>
            <a:cxnSpLocks/>
            <a:stCxn id="1034" idx="3"/>
            <a:endCxn id="1057" idx="2"/>
          </p:cNvCxnSpPr>
          <p:nvPr/>
        </p:nvCxnSpPr>
        <p:spPr>
          <a:xfrm flipV="1">
            <a:off x="6893100" y="3989190"/>
            <a:ext cx="1948228" cy="693250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Conector: Angulado 1072">
            <a:extLst>
              <a:ext uri="{FF2B5EF4-FFF2-40B4-BE49-F238E27FC236}">
                <a16:creationId xmlns:a16="http://schemas.microsoft.com/office/drawing/2014/main" id="{EE2FDA82-174F-288D-7342-24061FFD8538}"/>
              </a:ext>
            </a:extLst>
          </p:cNvPr>
          <p:cNvCxnSpPr>
            <a:cxnSpLocks/>
            <a:stCxn id="63" idx="2"/>
            <a:endCxn id="1025" idx="2"/>
          </p:cNvCxnSpPr>
          <p:nvPr/>
        </p:nvCxnSpPr>
        <p:spPr>
          <a:xfrm rot="10800000">
            <a:off x="5334325" y="2876810"/>
            <a:ext cx="476653" cy="915278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6" name="Cilindro 1075">
            <a:extLst>
              <a:ext uri="{FF2B5EF4-FFF2-40B4-BE49-F238E27FC236}">
                <a16:creationId xmlns:a16="http://schemas.microsoft.com/office/drawing/2014/main" id="{2AC23EC8-8BAD-CAE1-EF52-388BE6D97F10}"/>
              </a:ext>
            </a:extLst>
          </p:cNvPr>
          <p:cNvSpPr/>
          <p:nvPr/>
        </p:nvSpPr>
        <p:spPr>
          <a:xfrm>
            <a:off x="10610906" y="3495397"/>
            <a:ext cx="1264868" cy="53429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CaixaDeTexto 1076">
            <a:extLst>
              <a:ext uri="{FF2B5EF4-FFF2-40B4-BE49-F238E27FC236}">
                <a16:creationId xmlns:a16="http://schemas.microsoft.com/office/drawing/2014/main" id="{A2122708-0996-BF64-5BE8-DD73C0C2BA98}"/>
              </a:ext>
            </a:extLst>
          </p:cNvPr>
          <p:cNvSpPr txBox="1"/>
          <p:nvPr/>
        </p:nvSpPr>
        <p:spPr>
          <a:xfrm>
            <a:off x="10570620" y="3674330"/>
            <a:ext cx="1388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Data Lake V-5 </a:t>
            </a:r>
            <a:endParaRPr lang="pt-BR" sz="1400" baseline="-25000" dirty="0"/>
          </a:p>
        </p:txBody>
      </p:sp>
      <p:pic>
        <p:nvPicPr>
          <p:cNvPr id="1078" name="Picture 2">
            <a:extLst>
              <a:ext uri="{FF2B5EF4-FFF2-40B4-BE49-F238E27FC236}">
                <a16:creationId xmlns:a16="http://schemas.microsoft.com/office/drawing/2014/main" id="{5B2992E6-400F-2D11-64EC-5CD3D37C8D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89" t="35622" r="42372" b="34560"/>
          <a:stretch/>
        </p:blipFill>
        <p:spPr bwMode="auto">
          <a:xfrm>
            <a:off x="9846546" y="2332218"/>
            <a:ext cx="455227" cy="532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9" name="Faixa de Opções: Inclinada para Baixo 1078">
            <a:extLst>
              <a:ext uri="{FF2B5EF4-FFF2-40B4-BE49-F238E27FC236}">
                <a16:creationId xmlns:a16="http://schemas.microsoft.com/office/drawing/2014/main" id="{5F930E5B-AB90-86D6-140F-94DAB8C52373}"/>
              </a:ext>
            </a:extLst>
          </p:cNvPr>
          <p:cNvSpPr/>
          <p:nvPr/>
        </p:nvSpPr>
        <p:spPr>
          <a:xfrm>
            <a:off x="10370962" y="2297651"/>
            <a:ext cx="1776115" cy="719796"/>
          </a:xfrm>
          <a:prstGeom prst="ribb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80" name="CaixaDeTexto 1079">
            <a:extLst>
              <a:ext uri="{FF2B5EF4-FFF2-40B4-BE49-F238E27FC236}">
                <a16:creationId xmlns:a16="http://schemas.microsoft.com/office/drawing/2014/main" id="{7079B297-07A6-AAD5-F786-C302F67A4ABC}"/>
              </a:ext>
            </a:extLst>
          </p:cNvPr>
          <p:cNvSpPr txBox="1"/>
          <p:nvPr/>
        </p:nvSpPr>
        <p:spPr>
          <a:xfrm>
            <a:off x="10756262" y="2371116"/>
            <a:ext cx="988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SB100</a:t>
            </a:r>
          </a:p>
          <a:p>
            <a:pPr algn="ctr"/>
            <a:r>
              <a:rPr lang="pt-BR" sz="1600" dirty="0"/>
              <a:t>EPSILON</a:t>
            </a:r>
          </a:p>
        </p:txBody>
      </p:sp>
      <p:cxnSp>
        <p:nvCxnSpPr>
          <p:cNvPr id="1081" name="Conector de Seta Reta 1080">
            <a:extLst>
              <a:ext uri="{FF2B5EF4-FFF2-40B4-BE49-F238E27FC236}">
                <a16:creationId xmlns:a16="http://schemas.microsoft.com/office/drawing/2014/main" id="{723BCF60-102F-40EC-07E5-FA2766EF9DB6}"/>
              </a:ext>
            </a:extLst>
          </p:cNvPr>
          <p:cNvCxnSpPr>
            <a:cxnSpLocks/>
            <a:stCxn id="1078" idx="3"/>
            <a:endCxn id="1079" idx="1"/>
          </p:cNvCxnSpPr>
          <p:nvPr/>
        </p:nvCxnSpPr>
        <p:spPr>
          <a:xfrm flipV="1">
            <a:off x="10301773" y="2597565"/>
            <a:ext cx="291203" cy="75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Conector de Seta Reta 1081">
            <a:extLst>
              <a:ext uri="{FF2B5EF4-FFF2-40B4-BE49-F238E27FC236}">
                <a16:creationId xmlns:a16="http://schemas.microsoft.com/office/drawing/2014/main" id="{8E88165E-DA91-1123-845E-915D906603E2}"/>
              </a:ext>
            </a:extLst>
          </p:cNvPr>
          <p:cNvCxnSpPr>
            <a:cxnSpLocks/>
            <a:stCxn id="1076" idx="1"/>
            <a:endCxn id="1080" idx="2"/>
          </p:cNvCxnSpPr>
          <p:nvPr/>
        </p:nvCxnSpPr>
        <p:spPr>
          <a:xfrm flipV="1">
            <a:off x="11243340" y="2955891"/>
            <a:ext cx="7373" cy="53950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3" name="Imagem 1082">
            <a:extLst>
              <a:ext uri="{FF2B5EF4-FFF2-40B4-BE49-F238E27FC236}">
                <a16:creationId xmlns:a16="http://schemas.microsoft.com/office/drawing/2014/main" id="{F58CC6EB-6FEA-7A1B-70BE-3E16D1F8CA5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36946" y="4374712"/>
            <a:ext cx="442723" cy="609804"/>
          </a:xfrm>
          <a:prstGeom prst="rect">
            <a:avLst/>
          </a:prstGeom>
        </p:spPr>
      </p:pic>
      <p:pic>
        <p:nvPicPr>
          <p:cNvPr id="1084" name="Imagem 1083">
            <a:extLst>
              <a:ext uri="{FF2B5EF4-FFF2-40B4-BE49-F238E27FC236}">
                <a16:creationId xmlns:a16="http://schemas.microsoft.com/office/drawing/2014/main" id="{8666FFAB-83F9-B499-B397-6321AA4F6D5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563164" y="5743402"/>
            <a:ext cx="590201" cy="590201"/>
          </a:xfrm>
          <a:prstGeom prst="rect">
            <a:avLst/>
          </a:prstGeom>
        </p:spPr>
      </p:pic>
      <p:sp>
        <p:nvSpPr>
          <p:cNvPr id="1085" name="CaixaDeTexto 1084">
            <a:extLst>
              <a:ext uri="{FF2B5EF4-FFF2-40B4-BE49-F238E27FC236}">
                <a16:creationId xmlns:a16="http://schemas.microsoft.com/office/drawing/2014/main" id="{F6203430-03BA-5930-4F62-60F0BA7EFAB8}"/>
              </a:ext>
            </a:extLst>
          </p:cNvPr>
          <p:cNvSpPr txBox="1"/>
          <p:nvPr/>
        </p:nvSpPr>
        <p:spPr>
          <a:xfrm>
            <a:off x="10376759" y="5011074"/>
            <a:ext cx="9941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NEWSINFO 03</a:t>
            </a:r>
          </a:p>
        </p:txBody>
      </p:sp>
      <p:sp>
        <p:nvSpPr>
          <p:cNvPr id="1086" name="CaixaDeTexto 1085">
            <a:extLst>
              <a:ext uri="{FF2B5EF4-FFF2-40B4-BE49-F238E27FC236}">
                <a16:creationId xmlns:a16="http://schemas.microsoft.com/office/drawing/2014/main" id="{2C7E66C7-AFEF-3B8F-A324-F3290C95FF28}"/>
              </a:ext>
            </a:extLst>
          </p:cNvPr>
          <p:cNvSpPr txBox="1"/>
          <p:nvPr/>
        </p:nvSpPr>
        <p:spPr>
          <a:xfrm>
            <a:off x="10418615" y="5386954"/>
            <a:ext cx="1027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BIOINFO 02</a:t>
            </a:r>
          </a:p>
        </p:txBody>
      </p:sp>
      <p:sp>
        <p:nvSpPr>
          <p:cNvPr id="1087" name="CaixaDeTexto 1086">
            <a:extLst>
              <a:ext uri="{FF2B5EF4-FFF2-40B4-BE49-F238E27FC236}">
                <a16:creationId xmlns:a16="http://schemas.microsoft.com/office/drawing/2014/main" id="{1448578C-FB42-5670-49BB-6F1D9148C49C}"/>
              </a:ext>
            </a:extLst>
          </p:cNvPr>
          <p:cNvSpPr txBox="1"/>
          <p:nvPr/>
        </p:nvSpPr>
        <p:spPr>
          <a:xfrm>
            <a:off x="9717476" y="1913025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AI 5.0</a:t>
            </a:r>
          </a:p>
        </p:txBody>
      </p:sp>
      <p:cxnSp>
        <p:nvCxnSpPr>
          <p:cNvPr id="1088" name="Conector de Seta Reta 1087">
            <a:extLst>
              <a:ext uri="{FF2B5EF4-FFF2-40B4-BE49-F238E27FC236}">
                <a16:creationId xmlns:a16="http://schemas.microsoft.com/office/drawing/2014/main" id="{37E1B4E2-03F3-2B2E-88C0-5A136632DED8}"/>
              </a:ext>
            </a:extLst>
          </p:cNvPr>
          <p:cNvCxnSpPr>
            <a:cxnSpLocks/>
            <a:stCxn id="1065" idx="3"/>
            <a:endCxn id="1077" idx="2"/>
          </p:cNvCxnSpPr>
          <p:nvPr/>
        </p:nvCxnSpPr>
        <p:spPr>
          <a:xfrm flipV="1">
            <a:off x="9255095" y="3982107"/>
            <a:ext cx="2009682" cy="684598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Conector de Seta Reta 1092">
            <a:extLst>
              <a:ext uri="{FF2B5EF4-FFF2-40B4-BE49-F238E27FC236}">
                <a16:creationId xmlns:a16="http://schemas.microsoft.com/office/drawing/2014/main" id="{6B71E648-A2AD-7D2D-65BE-BD4FCB74FA30}"/>
              </a:ext>
            </a:extLst>
          </p:cNvPr>
          <p:cNvCxnSpPr>
            <a:cxnSpLocks/>
            <a:stCxn id="1083" idx="3"/>
          </p:cNvCxnSpPr>
          <p:nvPr/>
        </p:nvCxnSpPr>
        <p:spPr>
          <a:xfrm flipV="1">
            <a:off x="11179669" y="4076290"/>
            <a:ext cx="988326" cy="603324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Conector de Seta Reta 1095">
            <a:extLst>
              <a:ext uri="{FF2B5EF4-FFF2-40B4-BE49-F238E27FC236}">
                <a16:creationId xmlns:a16="http://schemas.microsoft.com/office/drawing/2014/main" id="{DFC65350-3ECB-A364-662F-27C6E5E46FA4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1851000" y="4871950"/>
            <a:ext cx="2379894" cy="1182887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" name="Conector de Seta Reta 1098">
            <a:extLst>
              <a:ext uri="{FF2B5EF4-FFF2-40B4-BE49-F238E27FC236}">
                <a16:creationId xmlns:a16="http://schemas.microsoft.com/office/drawing/2014/main" id="{BFA1EA5B-EEC9-6A8D-3E83-15B298E9C9B9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4049113" y="4793473"/>
            <a:ext cx="2493979" cy="1261364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Conector de Seta Reta 1102">
            <a:extLst>
              <a:ext uri="{FF2B5EF4-FFF2-40B4-BE49-F238E27FC236}">
                <a16:creationId xmlns:a16="http://schemas.microsoft.com/office/drawing/2014/main" id="{0B9D0824-5E3C-3863-34B1-AD7F4B56B190}"/>
              </a:ext>
            </a:extLst>
          </p:cNvPr>
          <p:cNvCxnSpPr>
            <a:cxnSpLocks/>
            <a:stCxn id="1035" idx="3"/>
          </p:cNvCxnSpPr>
          <p:nvPr/>
        </p:nvCxnSpPr>
        <p:spPr>
          <a:xfrm flipV="1">
            <a:off x="6413529" y="4835128"/>
            <a:ext cx="2531160" cy="1215774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Conector de Seta Reta 1105">
            <a:extLst>
              <a:ext uri="{FF2B5EF4-FFF2-40B4-BE49-F238E27FC236}">
                <a16:creationId xmlns:a16="http://schemas.microsoft.com/office/drawing/2014/main" id="{AAAD57F1-C2C6-54A6-AD0D-4C7B9819A60B}"/>
              </a:ext>
            </a:extLst>
          </p:cNvPr>
          <p:cNvCxnSpPr>
            <a:cxnSpLocks/>
            <a:stCxn id="1066" idx="3"/>
          </p:cNvCxnSpPr>
          <p:nvPr/>
        </p:nvCxnSpPr>
        <p:spPr>
          <a:xfrm flipV="1">
            <a:off x="8757485" y="4829812"/>
            <a:ext cx="2098774" cy="1215774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9" name="Conector de Seta Reta 1108">
            <a:extLst>
              <a:ext uri="{FF2B5EF4-FFF2-40B4-BE49-F238E27FC236}">
                <a16:creationId xmlns:a16="http://schemas.microsoft.com/office/drawing/2014/main" id="{2974E7B6-2A52-0023-4BF1-B46934B3F481}"/>
              </a:ext>
            </a:extLst>
          </p:cNvPr>
          <p:cNvCxnSpPr>
            <a:cxnSpLocks/>
            <a:stCxn id="1084" idx="3"/>
          </p:cNvCxnSpPr>
          <p:nvPr/>
        </p:nvCxnSpPr>
        <p:spPr>
          <a:xfrm flipV="1">
            <a:off x="11153365" y="5346187"/>
            <a:ext cx="1038635" cy="692316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8B7D9FAB-F6DB-F675-30B3-3D62EDE5308D}"/>
              </a:ext>
            </a:extLst>
          </p:cNvPr>
          <p:cNvSpPr txBox="1"/>
          <p:nvPr/>
        </p:nvSpPr>
        <p:spPr>
          <a:xfrm rot="16200000">
            <a:off x="-440907" y="4491320"/>
            <a:ext cx="12609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/>
              <a:t>Curadoria Nova Informações</a:t>
            </a:r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A9ACF70F-E8FF-CBD3-32A8-856173F47B2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98690" y="1295563"/>
            <a:ext cx="579621" cy="489348"/>
          </a:xfrm>
          <a:prstGeom prst="rect">
            <a:avLst/>
          </a:prstGeom>
        </p:spPr>
      </p:pic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BB16C57D-9F41-3C48-AC65-9A222E69E3CB}"/>
              </a:ext>
            </a:extLst>
          </p:cNvPr>
          <p:cNvCxnSpPr>
            <a:cxnSpLocks/>
            <a:stCxn id="8" idx="0"/>
            <a:endCxn id="40" idx="2"/>
          </p:cNvCxnSpPr>
          <p:nvPr/>
        </p:nvCxnSpPr>
        <p:spPr>
          <a:xfrm flipV="1">
            <a:off x="1883735" y="1784911"/>
            <a:ext cx="4766" cy="60253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Imagem 53">
            <a:extLst>
              <a:ext uri="{FF2B5EF4-FFF2-40B4-BE49-F238E27FC236}">
                <a16:creationId xmlns:a16="http://schemas.microsoft.com/office/drawing/2014/main" id="{21E13E28-995C-434F-BE9C-F35C8051D7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848503" y="1304069"/>
            <a:ext cx="579621" cy="489348"/>
          </a:xfrm>
          <a:prstGeom prst="rect">
            <a:avLst/>
          </a:prstGeom>
        </p:spPr>
      </p:pic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5AB00C8D-CB38-C459-A48A-FA6F30E41989}"/>
              </a:ext>
            </a:extLst>
          </p:cNvPr>
          <p:cNvCxnSpPr>
            <a:cxnSpLocks/>
            <a:stCxn id="42" idx="0"/>
            <a:endCxn id="54" idx="2"/>
          </p:cNvCxnSpPr>
          <p:nvPr/>
        </p:nvCxnSpPr>
        <p:spPr>
          <a:xfrm flipH="1" flipV="1">
            <a:off x="4138314" y="1793417"/>
            <a:ext cx="6984" cy="594033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97BED713-B0DF-F8FA-2F49-E30AE734D694}"/>
              </a:ext>
            </a:extLst>
          </p:cNvPr>
          <p:cNvCxnSpPr>
            <a:cxnSpLocks/>
            <a:stCxn id="1031" idx="0"/>
            <a:endCxn id="60" idx="2"/>
          </p:cNvCxnSpPr>
          <p:nvPr/>
        </p:nvCxnSpPr>
        <p:spPr>
          <a:xfrm flipH="1" flipV="1">
            <a:off x="6509044" y="1776962"/>
            <a:ext cx="670" cy="606553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Imagem 59">
            <a:extLst>
              <a:ext uri="{FF2B5EF4-FFF2-40B4-BE49-F238E27FC236}">
                <a16:creationId xmlns:a16="http://schemas.microsoft.com/office/drawing/2014/main" id="{E60C88CA-5DD9-019D-C7B5-DE1B022F36E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219233" y="1287614"/>
            <a:ext cx="579621" cy="489348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BD009A0E-8819-CA72-702A-A8473328488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562298" y="1307895"/>
            <a:ext cx="579621" cy="489348"/>
          </a:xfrm>
          <a:prstGeom prst="rect">
            <a:avLst/>
          </a:prstGeom>
        </p:spPr>
      </p:pic>
      <p:cxnSp>
        <p:nvCxnSpPr>
          <p:cNvPr id="1027" name="Conector de Seta Reta 1026">
            <a:extLst>
              <a:ext uri="{FF2B5EF4-FFF2-40B4-BE49-F238E27FC236}">
                <a16:creationId xmlns:a16="http://schemas.microsoft.com/office/drawing/2014/main" id="{B6A70964-489C-C7C2-C3AC-B479F9AC7051}"/>
              </a:ext>
            </a:extLst>
          </p:cNvPr>
          <p:cNvCxnSpPr>
            <a:cxnSpLocks/>
            <a:stCxn id="1062" idx="0"/>
            <a:endCxn id="62" idx="2"/>
          </p:cNvCxnSpPr>
          <p:nvPr/>
        </p:nvCxnSpPr>
        <p:spPr>
          <a:xfrm flipH="1" flipV="1">
            <a:off x="8852109" y="1797243"/>
            <a:ext cx="1561" cy="58095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8" name="Imagem 1037">
            <a:extLst>
              <a:ext uri="{FF2B5EF4-FFF2-40B4-BE49-F238E27FC236}">
                <a16:creationId xmlns:a16="http://schemas.microsoft.com/office/drawing/2014/main" id="{23D5A61E-FFA4-B5FC-006C-DACE50A340B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65576" y="1330495"/>
            <a:ext cx="579621" cy="489348"/>
          </a:xfrm>
          <a:prstGeom prst="rect">
            <a:avLst/>
          </a:prstGeom>
        </p:spPr>
      </p:pic>
      <p:cxnSp>
        <p:nvCxnSpPr>
          <p:cNvPr id="1040" name="Conector de Seta Reta 1039">
            <a:extLst>
              <a:ext uri="{FF2B5EF4-FFF2-40B4-BE49-F238E27FC236}">
                <a16:creationId xmlns:a16="http://schemas.microsoft.com/office/drawing/2014/main" id="{C6958601-7F5F-3181-7BC2-52221BE38874}"/>
              </a:ext>
            </a:extLst>
          </p:cNvPr>
          <p:cNvCxnSpPr>
            <a:cxnSpLocks/>
            <a:stCxn id="1080" idx="0"/>
            <a:endCxn id="1038" idx="2"/>
          </p:cNvCxnSpPr>
          <p:nvPr/>
        </p:nvCxnSpPr>
        <p:spPr>
          <a:xfrm flipV="1">
            <a:off x="11250713" y="1819843"/>
            <a:ext cx="4674" cy="551273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CaixaDeTexto 1043">
            <a:extLst>
              <a:ext uri="{FF2B5EF4-FFF2-40B4-BE49-F238E27FC236}">
                <a16:creationId xmlns:a16="http://schemas.microsoft.com/office/drawing/2014/main" id="{CD6F7631-75CF-05A1-AD64-EA1086D6B855}"/>
              </a:ext>
            </a:extLst>
          </p:cNvPr>
          <p:cNvSpPr txBox="1"/>
          <p:nvPr/>
        </p:nvSpPr>
        <p:spPr>
          <a:xfrm>
            <a:off x="2196503" y="1444570"/>
            <a:ext cx="600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LvLb1</a:t>
            </a:r>
          </a:p>
        </p:txBody>
      </p:sp>
      <p:sp>
        <p:nvSpPr>
          <p:cNvPr id="1046" name="CaixaDeTexto 1045">
            <a:extLst>
              <a:ext uri="{FF2B5EF4-FFF2-40B4-BE49-F238E27FC236}">
                <a16:creationId xmlns:a16="http://schemas.microsoft.com/office/drawing/2014/main" id="{3657DFF1-A96D-7E5F-481B-D47DC250B266}"/>
              </a:ext>
            </a:extLst>
          </p:cNvPr>
          <p:cNvSpPr txBox="1"/>
          <p:nvPr/>
        </p:nvSpPr>
        <p:spPr>
          <a:xfrm>
            <a:off x="4380532" y="1435605"/>
            <a:ext cx="600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LvLb2</a:t>
            </a:r>
          </a:p>
        </p:txBody>
      </p:sp>
      <p:sp>
        <p:nvSpPr>
          <p:cNvPr id="1047" name="CaixaDeTexto 1046">
            <a:extLst>
              <a:ext uri="{FF2B5EF4-FFF2-40B4-BE49-F238E27FC236}">
                <a16:creationId xmlns:a16="http://schemas.microsoft.com/office/drawing/2014/main" id="{80CE493D-8E6C-3907-A96F-52C672EDB175}"/>
              </a:ext>
            </a:extLst>
          </p:cNvPr>
          <p:cNvSpPr txBox="1"/>
          <p:nvPr/>
        </p:nvSpPr>
        <p:spPr>
          <a:xfrm>
            <a:off x="6740322" y="1487615"/>
            <a:ext cx="600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LvLb3</a:t>
            </a:r>
          </a:p>
        </p:txBody>
      </p:sp>
      <p:sp>
        <p:nvSpPr>
          <p:cNvPr id="1048" name="CaixaDeTexto 1047">
            <a:extLst>
              <a:ext uri="{FF2B5EF4-FFF2-40B4-BE49-F238E27FC236}">
                <a16:creationId xmlns:a16="http://schemas.microsoft.com/office/drawing/2014/main" id="{BC265B94-AEBC-601D-A5A5-436EC5B67961}"/>
              </a:ext>
            </a:extLst>
          </p:cNvPr>
          <p:cNvSpPr txBox="1"/>
          <p:nvPr/>
        </p:nvSpPr>
        <p:spPr>
          <a:xfrm>
            <a:off x="9088904" y="1471718"/>
            <a:ext cx="600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LvLb4</a:t>
            </a:r>
          </a:p>
        </p:txBody>
      </p:sp>
      <p:sp>
        <p:nvSpPr>
          <p:cNvPr id="1049" name="CaixaDeTexto 1048">
            <a:extLst>
              <a:ext uri="{FF2B5EF4-FFF2-40B4-BE49-F238E27FC236}">
                <a16:creationId xmlns:a16="http://schemas.microsoft.com/office/drawing/2014/main" id="{9BBE385C-BA26-1F06-7F00-2F3FC8E0645A}"/>
              </a:ext>
            </a:extLst>
          </p:cNvPr>
          <p:cNvSpPr txBox="1"/>
          <p:nvPr/>
        </p:nvSpPr>
        <p:spPr>
          <a:xfrm>
            <a:off x="11484784" y="1459635"/>
            <a:ext cx="600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LvLb5</a:t>
            </a:r>
          </a:p>
        </p:txBody>
      </p:sp>
      <p:cxnSp>
        <p:nvCxnSpPr>
          <p:cNvPr id="1137" name="Conector: Angulado 1136">
            <a:extLst>
              <a:ext uri="{FF2B5EF4-FFF2-40B4-BE49-F238E27FC236}">
                <a16:creationId xmlns:a16="http://schemas.microsoft.com/office/drawing/2014/main" id="{9D70CD3E-34B9-8381-F00B-F89C46C00FAA}"/>
              </a:ext>
            </a:extLst>
          </p:cNvPr>
          <p:cNvCxnSpPr>
            <a:cxnSpLocks/>
            <a:stCxn id="1057" idx="1"/>
            <a:endCxn id="1058" idx="2"/>
          </p:cNvCxnSpPr>
          <p:nvPr/>
        </p:nvCxnSpPr>
        <p:spPr>
          <a:xfrm rot="10800000">
            <a:off x="7678280" y="2871494"/>
            <a:ext cx="414778" cy="963808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Conector: Angulado 1151">
            <a:extLst>
              <a:ext uri="{FF2B5EF4-FFF2-40B4-BE49-F238E27FC236}">
                <a16:creationId xmlns:a16="http://schemas.microsoft.com/office/drawing/2014/main" id="{0EB78ED2-CA84-B138-A83A-AADF9F959BAC}"/>
              </a:ext>
            </a:extLst>
          </p:cNvPr>
          <p:cNvCxnSpPr>
            <a:cxnSpLocks/>
            <a:stCxn id="1077" idx="1"/>
            <a:endCxn id="1078" idx="2"/>
          </p:cNvCxnSpPr>
          <p:nvPr/>
        </p:nvCxnSpPr>
        <p:spPr>
          <a:xfrm rot="10800000">
            <a:off x="10074160" y="2864411"/>
            <a:ext cx="496460" cy="963808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0" name="Imagem 1169">
            <a:extLst>
              <a:ext uri="{FF2B5EF4-FFF2-40B4-BE49-F238E27FC236}">
                <a16:creationId xmlns:a16="http://schemas.microsoft.com/office/drawing/2014/main" id="{B4C87299-13EE-DE57-0C89-324D5F16C00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84474" y="188130"/>
            <a:ext cx="661815" cy="570416"/>
          </a:xfrm>
          <a:prstGeom prst="rect">
            <a:avLst/>
          </a:prstGeom>
        </p:spPr>
      </p:pic>
      <p:pic>
        <p:nvPicPr>
          <p:cNvPr id="1171" name="Imagem 1170">
            <a:extLst>
              <a:ext uri="{FF2B5EF4-FFF2-40B4-BE49-F238E27FC236}">
                <a16:creationId xmlns:a16="http://schemas.microsoft.com/office/drawing/2014/main" id="{465BAB32-7B08-9DBC-E185-67AEB1A7928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669788" y="185612"/>
            <a:ext cx="661815" cy="570416"/>
          </a:xfrm>
          <a:prstGeom prst="rect">
            <a:avLst/>
          </a:prstGeom>
        </p:spPr>
      </p:pic>
      <p:pic>
        <p:nvPicPr>
          <p:cNvPr id="1172" name="Imagem 1171">
            <a:extLst>
              <a:ext uri="{FF2B5EF4-FFF2-40B4-BE49-F238E27FC236}">
                <a16:creationId xmlns:a16="http://schemas.microsoft.com/office/drawing/2014/main" id="{EC707250-6C1A-E8D3-3401-50E20C04666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009923" y="199104"/>
            <a:ext cx="661815" cy="570416"/>
          </a:xfrm>
          <a:prstGeom prst="rect">
            <a:avLst/>
          </a:prstGeom>
        </p:spPr>
      </p:pic>
      <p:pic>
        <p:nvPicPr>
          <p:cNvPr id="1173" name="Imagem 1172">
            <a:extLst>
              <a:ext uri="{FF2B5EF4-FFF2-40B4-BE49-F238E27FC236}">
                <a16:creationId xmlns:a16="http://schemas.microsoft.com/office/drawing/2014/main" id="{AC2742A7-4B08-9D08-E2C1-D3F77D649FB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76700" y="207735"/>
            <a:ext cx="661815" cy="570416"/>
          </a:xfrm>
          <a:prstGeom prst="rect">
            <a:avLst/>
          </a:prstGeom>
        </p:spPr>
      </p:pic>
      <p:pic>
        <p:nvPicPr>
          <p:cNvPr id="1174" name="Imagem 1173">
            <a:extLst>
              <a:ext uri="{FF2B5EF4-FFF2-40B4-BE49-F238E27FC236}">
                <a16:creationId xmlns:a16="http://schemas.microsoft.com/office/drawing/2014/main" id="{0648BC85-B053-5015-E832-049F456151B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837297" y="191836"/>
            <a:ext cx="661815" cy="570416"/>
          </a:xfrm>
          <a:prstGeom prst="rect">
            <a:avLst/>
          </a:prstGeom>
        </p:spPr>
      </p:pic>
      <p:sp>
        <p:nvSpPr>
          <p:cNvPr id="1176" name="CaixaDeTexto 1175">
            <a:extLst>
              <a:ext uri="{FF2B5EF4-FFF2-40B4-BE49-F238E27FC236}">
                <a16:creationId xmlns:a16="http://schemas.microsoft.com/office/drawing/2014/main" id="{D90C3568-2B7C-7552-B2F3-C9789E164BF9}"/>
              </a:ext>
            </a:extLst>
          </p:cNvPr>
          <p:cNvSpPr txBox="1"/>
          <p:nvPr/>
        </p:nvSpPr>
        <p:spPr>
          <a:xfrm rot="16200000">
            <a:off x="-332039" y="307289"/>
            <a:ext cx="10231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/>
              <a:t>MobolizaçãoSB100</a:t>
            </a:r>
          </a:p>
        </p:txBody>
      </p:sp>
      <p:sp>
        <p:nvSpPr>
          <p:cNvPr id="1177" name="CaixaDeTexto 1176">
            <a:extLst>
              <a:ext uri="{FF2B5EF4-FFF2-40B4-BE49-F238E27FC236}">
                <a16:creationId xmlns:a16="http://schemas.microsoft.com/office/drawing/2014/main" id="{C1830D43-EA5B-4B4E-B8AE-B38526C0F1E7}"/>
              </a:ext>
            </a:extLst>
          </p:cNvPr>
          <p:cNvSpPr txBox="1"/>
          <p:nvPr/>
        </p:nvSpPr>
        <p:spPr>
          <a:xfrm>
            <a:off x="1988111" y="845126"/>
            <a:ext cx="625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Mob1</a:t>
            </a:r>
          </a:p>
        </p:txBody>
      </p:sp>
      <p:sp>
        <p:nvSpPr>
          <p:cNvPr id="1178" name="CaixaDeTexto 1177">
            <a:extLst>
              <a:ext uri="{FF2B5EF4-FFF2-40B4-BE49-F238E27FC236}">
                <a16:creationId xmlns:a16="http://schemas.microsoft.com/office/drawing/2014/main" id="{23066D7B-6562-2A06-25C1-A48398E8DC72}"/>
              </a:ext>
            </a:extLst>
          </p:cNvPr>
          <p:cNvSpPr txBox="1"/>
          <p:nvPr/>
        </p:nvSpPr>
        <p:spPr>
          <a:xfrm>
            <a:off x="4171055" y="828290"/>
            <a:ext cx="625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Mob2</a:t>
            </a:r>
          </a:p>
        </p:txBody>
      </p:sp>
      <p:sp>
        <p:nvSpPr>
          <p:cNvPr id="1179" name="CaixaDeTexto 1178">
            <a:extLst>
              <a:ext uri="{FF2B5EF4-FFF2-40B4-BE49-F238E27FC236}">
                <a16:creationId xmlns:a16="http://schemas.microsoft.com/office/drawing/2014/main" id="{DF93CF22-8A75-43F5-266B-AC997292B817}"/>
              </a:ext>
            </a:extLst>
          </p:cNvPr>
          <p:cNvSpPr txBox="1"/>
          <p:nvPr/>
        </p:nvSpPr>
        <p:spPr>
          <a:xfrm>
            <a:off x="6518598" y="828290"/>
            <a:ext cx="625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Mob3</a:t>
            </a:r>
          </a:p>
        </p:txBody>
      </p:sp>
      <p:sp>
        <p:nvSpPr>
          <p:cNvPr id="1180" name="CaixaDeTexto 1179">
            <a:extLst>
              <a:ext uri="{FF2B5EF4-FFF2-40B4-BE49-F238E27FC236}">
                <a16:creationId xmlns:a16="http://schemas.microsoft.com/office/drawing/2014/main" id="{EFA5D3CC-73BB-F206-A0E4-0F7AF28585BB}"/>
              </a:ext>
            </a:extLst>
          </p:cNvPr>
          <p:cNvSpPr txBox="1"/>
          <p:nvPr/>
        </p:nvSpPr>
        <p:spPr>
          <a:xfrm>
            <a:off x="8865797" y="809992"/>
            <a:ext cx="625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Mob4</a:t>
            </a:r>
          </a:p>
        </p:txBody>
      </p:sp>
      <p:sp>
        <p:nvSpPr>
          <p:cNvPr id="1181" name="CaixaDeTexto 1180">
            <a:extLst>
              <a:ext uri="{FF2B5EF4-FFF2-40B4-BE49-F238E27FC236}">
                <a16:creationId xmlns:a16="http://schemas.microsoft.com/office/drawing/2014/main" id="{CC750EC9-3A8B-F9BB-EBFD-248F1E57048B}"/>
              </a:ext>
            </a:extLst>
          </p:cNvPr>
          <p:cNvSpPr txBox="1"/>
          <p:nvPr/>
        </p:nvSpPr>
        <p:spPr>
          <a:xfrm>
            <a:off x="11235188" y="819216"/>
            <a:ext cx="625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Mob5</a:t>
            </a:r>
          </a:p>
        </p:txBody>
      </p:sp>
      <p:cxnSp>
        <p:nvCxnSpPr>
          <p:cNvPr id="1182" name="Conector de Seta Reta 1181">
            <a:extLst>
              <a:ext uri="{FF2B5EF4-FFF2-40B4-BE49-F238E27FC236}">
                <a16:creationId xmlns:a16="http://schemas.microsoft.com/office/drawing/2014/main" id="{7AFE4910-239F-80A8-DA06-02B53ACC0FB5}"/>
              </a:ext>
            </a:extLst>
          </p:cNvPr>
          <p:cNvCxnSpPr>
            <a:cxnSpLocks/>
            <a:stCxn id="40" idx="0"/>
          </p:cNvCxnSpPr>
          <p:nvPr/>
        </p:nvCxnSpPr>
        <p:spPr>
          <a:xfrm flipH="1" flipV="1">
            <a:off x="1883734" y="559541"/>
            <a:ext cx="4767" cy="7360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Conector de Seta Reta 1187">
            <a:extLst>
              <a:ext uri="{FF2B5EF4-FFF2-40B4-BE49-F238E27FC236}">
                <a16:creationId xmlns:a16="http://schemas.microsoft.com/office/drawing/2014/main" id="{C328DE24-7060-AA00-5A7A-48CCA9EF3622}"/>
              </a:ext>
            </a:extLst>
          </p:cNvPr>
          <p:cNvCxnSpPr>
            <a:cxnSpLocks/>
          </p:cNvCxnSpPr>
          <p:nvPr/>
        </p:nvCxnSpPr>
        <p:spPr>
          <a:xfrm flipH="1" flipV="1">
            <a:off x="3955153" y="595602"/>
            <a:ext cx="4767" cy="7360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9" name="Conector de Seta Reta 1188">
            <a:extLst>
              <a:ext uri="{FF2B5EF4-FFF2-40B4-BE49-F238E27FC236}">
                <a16:creationId xmlns:a16="http://schemas.microsoft.com/office/drawing/2014/main" id="{6EDC0BB6-7E13-1A5A-47B8-0679B7732EEB}"/>
              </a:ext>
            </a:extLst>
          </p:cNvPr>
          <p:cNvCxnSpPr>
            <a:cxnSpLocks/>
          </p:cNvCxnSpPr>
          <p:nvPr/>
        </p:nvCxnSpPr>
        <p:spPr>
          <a:xfrm flipH="1" flipV="1">
            <a:off x="6339692" y="595554"/>
            <a:ext cx="4767" cy="7360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0" name="Conector de Seta Reta 1189">
            <a:extLst>
              <a:ext uri="{FF2B5EF4-FFF2-40B4-BE49-F238E27FC236}">
                <a16:creationId xmlns:a16="http://schemas.microsoft.com/office/drawing/2014/main" id="{B80A8D10-B7A5-DB45-7B20-615074825807}"/>
              </a:ext>
            </a:extLst>
          </p:cNvPr>
          <p:cNvCxnSpPr>
            <a:cxnSpLocks/>
          </p:cNvCxnSpPr>
          <p:nvPr/>
        </p:nvCxnSpPr>
        <p:spPr>
          <a:xfrm flipH="1" flipV="1">
            <a:off x="8696362" y="660624"/>
            <a:ext cx="4767" cy="7360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" name="Conector de Seta Reta 1190">
            <a:extLst>
              <a:ext uri="{FF2B5EF4-FFF2-40B4-BE49-F238E27FC236}">
                <a16:creationId xmlns:a16="http://schemas.microsoft.com/office/drawing/2014/main" id="{DFA096BE-F404-B7B0-900E-1B91A69377B9}"/>
              </a:ext>
            </a:extLst>
          </p:cNvPr>
          <p:cNvCxnSpPr>
            <a:cxnSpLocks/>
          </p:cNvCxnSpPr>
          <p:nvPr/>
        </p:nvCxnSpPr>
        <p:spPr>
          <a:xfrm flipH="1" flipV="1">
            <a:off x="11133253" y="660624"/>
            <a:ext cx="4767" cy="7360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1" name="CaixaDeTexto 1200">
            <a:extLst>
              <a:ext uri="{FF2B5EF4-FFF2-40B4-BE49-F238E27FC236}">
                <a16:creationId xmlns:a16="http://schemas.microsoft.com/office/drawing/2014/main" id="{E46A1EB0-8348-5D98-1D33-FE0D9E85B09F}"/>
              </a:ext>
            </a:extLst>
          </p:cNvPr>
          <p:cNvSpPr txBox="1"/>
          <p:nvPr/>
        </p:nvSpPr>
        <p:spPr>
          <a:xfrm>
            <a:off x="1327091" y="6487628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ANO I</a:t>
            </a:r>
          </a:p>
        </p:txBody>
      </p:sp>
      <p:sp>
        <p:nvSpPr>
          <p:cNvPr id="1202" name="CaixaDeTexto 1201">
            <a:extLst>
              <a:ext uri="{FF2B5EF4-FFF2-40B4-BE49-F238E27FC236}">
                <a16:creationId xmlns:a16="http://schemas.microsoft.com/office/drawing/2014/main" id="{16B5AB05-6D12-9CC6-8F02-A803AB8D2C7C}"/>
              </a:ext>
            </a:extLst>
          </p:cNvPr>
          <p:cNvSpPr txBox="1"/>
          <p:nvPr/>
        </p:nvSpPr>
        <p:spPr>
          <a:xfrm>
            <a:off x="3582191" y="6487628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ANO II</a:t>
            </a:r>
          </a:p>
        </p:txBody>
      </p:sp>
      <p:sp>
        <p:nvSpPr>
          <p:cNvPr id="1203" name="CaixaDeTexto 1202">
            <a:extLst>
              <a:ext uri="{FF2B5EF4-FFF2-40B4-BE49-F238E27FC236}">
                <a16:creationId xmlns:a16="http://schemas.microsoft.com/office/drawing/2014/main" id="{2DBFBB4B-502C-8F86-F760-8ECE5BE7576B}"/>
              </a:ext>
            </a:extLst>
          </p:cNvPr>
          <p:cNvSpPr txBox="1"/>
          <p:nvPr/>
        </p:nvSpPr>
        <p:spPr>
          <a:xfrm>
            <a:off x="5815917" y="647784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ANO III</a:t>
            </a:r>
          </a:p>
        </p:txBody>
      </p:sp>
      <p:sp>
        <p:nvSpPr>
          <p:cNvPr id="1204" name="CaixaDeTexto 1203">
            <a:extLst>
              <a:ext uri="{FF2B5EF4-FFF2-40B4-BE49-F238E27FC236}">
                <a16:creationId xmlns:a16="http://schemas.microsoft.com/office/drawing/2014/main" id="{6ACF8FD9-3A46-D2D6-BA4C-B57BE7430AEC}"/>
              </a:ext>
            </a:extLst>
          </p:cNvPr>
          <p:cNvSpPr txBox="1"/>
          <p:nvPr/>
        </p:nvSpPr>
        <p:spPr>
          <a:xfrm>
            <a:off x="8110557" y="6496402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ANO IV</a:t>
            </a:r>
          </a:p>
        </p:txBody>
      </p:sp>
      <p:sp>
        <p:nvSpPr>
          <p:cNvPr id="1205" name="CaixaDeTexto 1204">
            <a:extLst>
              <a:ext uri="{FF2B5EF4-FFF2-40B4-BE49-F238E27FC236}">
                <a16:creationId xmlns:a16="http://schemas.microsoft.com/office/drawing/2014/main" id="{388E5514-354C-229F-F9C9-579718E21D60}"/>
              </a:ext>
            </a:extLst>
          </p:cNvPr>
          <p:cNvSpPr txBox="1"/>
          <p:nvPr/>
        </p:nvSpPr>
        <p:spPr>
          <a:xfrm>
            <a:off x="10461091" y="6503503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ANO V</a:t>
            </a:r>
          </a:p>
        </p:txBody>
      </p:sp>
    </p:spTree>
    <p:extLst>
      <p:ext uri="{BB962C8B-B14F-4D97-AF65-F5344CB8AC3E}">
        <p14:creationId xmlns:p14="http://schemas.microsoft.com/office/powerpoint/2010/main" val="129748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7" grpId="0" animBg="1"/>
      <p:bldP spid="1198" grpId="0" animBg="1"/>
      <p:bldP spid="1199" grpId="0" animBg="1"/>
      <p:bldP spid="1200" grpId="0" animBg="1"/>
      <p:bldP spid="1196" grpId="0" animBg="1"/>
      <p:bldP spid="2" grpId="0" animBg="1"/>
      <p:bldP spid="3" grpId="0"/>
      <p:bldP spid="10" grpId="0" animBg="1"/>
      <p:bldP spid="8" grpId="0"/>
      <p:bldP spid="31" grpId="0"/>
      <p:bldP spid="33" grpId="0"/>
      <p:bldP spid="36" grpId="0" animBg="1"/>
      <p:bldP spid="37" grpId="0"/>
      <p:bldP spid="41" grpId="0" animBg="1"/>
      <p:bldP spid="42" grpId="0"/>
      <p:bldP spid="47" grpId="0"/>
      <p:bldP spid="48" grpId="0"/>
      <p:bldP spid="63" grpId="0" animBg="1"/>
      <p:bldP spid="1024" grpId="0"/>
      <p:bldP spid="1030" grpId="0" animBg="1"/>
      <p:bldP spid="1031" grpId="0"/>
      <p:bldP spid="1036" grpId="0"/>
      <p:bldP spid="1037" grpId="0"/>
      <p:bldP spid="1053" grpId="0"/>
      <p:bldP spid="1054" grpId="0"/>
      <p:bldP spid="1055" grpId="0"/>
      <p:bldP spid="1056" grpId="0" animBg="1"/>
      <p:bldP spid="1057" grpId="0"/>
      <p:bldP spid="1061" grpId="0" animBg="1"/>
      <p:bldP spid="1062" grpId="0"/>
      <p:bldP spid="1067" grpId="0"/>
      <p:bldP spid="1068" grpId="0"/>
      <p:bldP spid="1069" grpId="0"/>
      <p:bldP spid="1076" grpId="0" animBg="1"/>
      <p:bldP spid="1077" grpId="0"/>
      <p:bldP spid="1079" grpId="0" animBg="1"/>
      <p:bldP spid="1080" grpId="0"/>
      <p:bldP spid="1085" grpId="0"/>
      <p:bldP spid="1086" grpId="0"/>
      <p:bldP spid="1087" grpId="0"/>
      <p:bldP spid="1044" grpId="0"/>
      <p:bldP spid="1046" grpId="0"/>
      <p:bldP spid="1047" grpId="0"/>
      <p:bldP spid="1048" grpId="0"/>
      <p:bldP spid="1049" grpId="0"/>
      <p:bldP spid="1177" grpId="0"/>
      <p:bldP spid="1178" grpId="0"/>
      <p:bldP spid="1179" grpId="0"/>
      <p:bldP spid="1180" grpId="0"/>
      <p:bldP spid="1181" grpId="0"/>
      <p:bldP spid="1201" grpId="0"/>
      <p:bldP spid="1202" grpId="0"/>
      <p:bldP spid="1203" grpId="0"/>
      <p:bldP spid="1204" grpId="0"/>
      <p:bldP spid="120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7FCEE-41B7-2895-14F5-4605817ED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53BD729-1ED4-B29E-AC8F-CD70EACE6CDF}"/>
              </a:ext>
            </a:extLst>
          </p:cNvPr>
          <p:cNvSpPr/>
          <p:nvPr/>
        </p:nvSpPr>
        <p:spPr>
          <a:xfrm>
            <a:off x="322117" y="1194955"/>
            <a:ext cx="2159997" cy="5562035"/>
          </a:xfrm>
          <a:prstGeom prst="roundRect">
            <a:avLst/>
          </a:prstGeom>
          <a:solidFill>
            <a:srgbClr val="90C226">
              <a:alpha val="30196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BCDBF8CB-B8B1-AA6E-BF45-D9940A880DFB}"/>
              </a:ext>
            </a:extLst>
          </p:cNvPr>
          <p:cNvSpPr/>
          <p:nvPr/>
        </p:nvSpPr>
        <p:spPr>
          <a:xfrm>
            <a:off x="2578178" y="1194954"/>
            <a:ext cx="2159997" cy="5562035"/>
          </a:xfrm>
          <a:prstGeom prst="roundRect">
            <a:avLst/>
          </a:prstGeom>
          <a:solidFill>
            <a:srgbClr val="00B0F0">
              <a:alpha val="30196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5FD0F779-D7EC-1FDD-8546-469F6C3622EF}"/>
              </a:ext>
            </a:extLst>
          </p:cNvPr>
          <p:cNvSpPr/>
          <p:nvPr/>
        </p:nvSpPr>
        <p:spPr>
          <a:xfrm>
            <a:off x="4834239" y="1165630"/>
            <a:ext cx="2159997" cy="556203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AB33E312-4B79-9997-CFC2-03A69D4E389E}"/>
              </a:ext>
            </a:extLst>
          </p:cNvPr>
          <p:cNvSpPr/>
          <p:nvPr/>
        </p:nvSpPr>
        <p:spPr>
          <a:xfrm>
            <a:off x="7079909" y="1185836"/>
            <a:ext cx="2159997" cy="5562035"/>
          </a:xfrm>
          <a:prstGeom prst="roundRect">
            <a:avLst/>
          </a:prstGeom>
          <a:solidFill>
            <a:srgbClr val="FFFF00">
              <a:alpha val="3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9B19F316-133B-B4D1-7B8D-36A53F76D677}"/>
              </a:ext>
            </a:extLst>
          </p:cNvPr>
          <p:cNvSpPr/>
          <p:nvPr/>
        </p:nvSpPr>
        <p:spPr>
          <a:xfrm>
            <a:off x="9346361" y="117544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672E553-0764-5B40-AECA-1A247153B2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15B3EB0-82F1-AC54-36C0-D01326530F77}"/>
              </a:ext>
            </a:extLst>
          </p:cNvPr>
          <p:cNvSpPr txBox="1"/>
          <p:nvPr/>
        </p:nvSpPr>
        <p:spPr>
          <a:xfrm>
            <a:off x="875925" y="1291693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2CFA7E1-7DDF-3956-458C-2D1413819E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575" y="3273453"/>
            <a:ext cx="1351785" cy="139239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0E9A717-364A-751D-A160-7918A47996CE}"/>
              </a:ext>
            </a:extLst>
          </p:cNvPr>
          <p:cNvSpPr txBox="1"/>
          <p:nvPr/>
        </p:nvSpPr>
        <p:spPr>
          <a:xfrm>
            <a:off x="2578178" y="2219786"/>
            <a:ext cx="2159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Conversão de formatos e estruturação de dados, vetorização e EBR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4B37F80-BB98-1E50-7F5D-994665A7ED99}"/>
              </a:ext>
            </a:extLst>
          </p:cNvPr>
          <p:cNvSpPr txBox="1"/>
          <p:nvPr/>
        </p:nvSpPr>
        <p:spPr>
          <a:xfrm>
            <a:off x="3088064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02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6A88015E-0710-04FC-FA11-7C98EA75EF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2327" y="3554362"/>
            <a:ext cx="1191698" cy="1111488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DA93BB8C-DC82-9272-6C03-6804F1C9B27C}"/>
              </a:ext>
            </a:extLst>
          </p:cNvPr>
          <p:cNvSpPr txBox="1"/>
          <p:nvPr/>
        </p:nvSpPr>
        <p:spPr>
          <a:xfrm>
            <a:off x="5285699" y="127056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03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02E2EEE0-8354-D0B5-1A3D-62663DC4C920}"/>
              </a:ext>
            </a:extLst>
          </p:cNvPr>
          <p:cNvSpPr txBox="1"/>
          <p:nvPr/>
        </p:nvSpPr>
        <p:spPr>
          <a:xfrm>
            <a:off x="763581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04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FC2A9632-6CE4-B3EB-B676-64FCC4D7CD65}"/>
              </a:ext>
            </a:extLst>
          </p:cNvPr>
          <p:cNvSpPr txBox="1"/>
          <p:nvPr/>
        </p:nvSpPr>
        <p:spPr>
          <a:xfrm>
            <a:off x="978878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05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4F7809D7-5496-02C1-6625-18E1686C857E}"/>
              </a:ext>
            </a:extLst>
          </p:cNvPr>
          <p:cNvSpPr txBox="1"/>
          <p:nvPr/>
        </p:nvSpPr>
        <p:spPr>
          <a:xfrm>
            <a:off x="4834237" y="2271136"/>
            <a:ext cx="21599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NR, vetorização e EBR</a:t>
            </a:r>
          </a:p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Infraestrutura computacional para o LLM em agronegócios</a:t>
            </a:r>
          </a:p>
          <a:p>
            <a:pPr algn="ctr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Imagem 82">
            <a:extLst>
              <a:ext uri="{FF2B5EF4-FFF2-40B4-BE49-F238E27FC236}">
                <a16:creationId xmlns:a16="http://schemas.microsoft.com/office/drawing/2014/main" id="{E0622624-93D8-ED4B-BEBD-1ABCB7BB28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7387" y="3649398"/>
            <a:ext cx="1139727" cy="1337596"/>
          </a:xfrm>
          <a:prstGeom prst="rect">
            <a:avLst/>
          </a:prstGeom>
        </p:spPr>
      </p:pic>
      <p:sp>
        <p:nvSpPr>
          <p:cNvPr id="90" name="CaixaDeTexto 89">
            <a:extLst>
              <a:ext uri="{FF2B5EF4-FFF2-40B4-BE49-F238E27FC236}">
                <a16:creationId xmlns:a16="http://schemas.microsoft.com/office/drawing/2014/main" id="{FB82A457-2FA5-485C-F813-410B87B77045}"/>
              </a:ext>
            </a:extLst>
          </p:cNvPr>
          <p:cNvSpPr txBox="1"/>
          <p:nvPr/>
        </p:nvSpPr>
        <p:spPr>
          <a:xfrm>
            <a:off x="7138332" y="2289108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agronegócio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D9B791B2-832A-474D-D9DC-80AD3F62C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57384" y="3649398"/>
            <a:ext cx="1130803" cy="1079286"/>
          </a:xfrm>
          <a:prstGeom prst="rect">
            <a:avLst/>
          </a:prstGeom>
        </p:spPr>
      </p:pic>
      <p:sp>
        <p:nvSpPr>
          <p:cNvPr id="99" name="CaixaDeTexto 98">
            <a:extLst>
              <a:ext uri="{FF2B5EF4-FFF2-40B4-BE49-F238E27FC236}">
                <a16:creationId xmlns:a16="http://schemas.microsoft.com/office/drawing/2014/main" id="{FAEB7211-80A2-1547-C2B7-79D50D5BD241}"/>
              </a:ext>
            </a:extLst>
          </p:cNvPr>
          <p:cNvSpPr txBox="1"/>
          <p:nvPr/>
        </p:nvSpPr>
        <p:spPr>
          <a:xfrm>
            <a:off x="9371887" y="2271136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agentes inteligentes</a:t>
            </a:r>
          </a:p>
        </p:txBody>
      </p:sp>
      <p:pic>
        <p:nvPicPr>
          <p:cNvPr id="101" name="Imagem 100">
            <a:extLst>
              <a:ext uri="{FF2B5EF4-FFF2-40B4-BE49-F238E27FC236}">
                <a16:creationId xmlns:a16="http://schemas.microsoft.com/office/drawing/2014/main" id="{E34F8AD9-B090-B959-0BD4-7DC89B72F6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9839570" y="3429000"/>
            <a:ext cx="1224629" cy="1533162"/>
          </a:xfrm>
          <a:prstGeom prst="rect">
            <a:avLst/>
          </a:prstGeom>
        </p:spPr>
      </p:pic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9F12540C-1655-7EF4-BD42-9182E4E54D28}"/>
              </a:ext>
            </a:extLst>
          </p:cNvPr>
          <p:cNvSpPr txBox="1"/>
          <p:nvPr/>
        </p:nvSpPr>
        <p:spPr>
          <a:xfrm>
            <a:off x="9613822" y="5480488"/>
            <a:ext cx="1625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Hilário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Izaias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BB01FAF7-0EB3-3F85-35D2-4C5C75B35FB8}"/>
              </a:ext>
            </a:extLst>
          </p:cNvPr>
          <p:cNvSpPr txBox="1"/>
          <p:nvPr/>
        </p:nvSpPr>
        <p:spPr>
          <a:xfrm>
            <a:off x="7451505" y="5480488"/>
            <a:ext cx="16962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Ricardo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Gomes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7A410B3C-7AFC-5AF8-F9E8-05CDAE98AD68}"/>
              </a:ext>
            </a:extLst>
          </p:cNvPr>
          <p:cNvSpPr txBox="1"/>
          <p:nvPr/>
        </p:nvSpPr>
        <p:spPr>
          <a:xfrm>
            <a:off x="5005636" y="5477307"/>
            <a:ext cx="15343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Sílvio Barbieri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Jean Acedo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Allan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Siriani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683F7E61-353E-9754-3E86-9E08BDAFAC20}"/>
              </a:ext>
            </a:extLst>
          </p:cNvPr>
          <p:cNvSpPr txBox="1"/>
          <p:nvPr/>
        </p:nvSpPr>
        <p:spPr>
          <a:xfrm>
            <a:off x="2749575" y="5459706"/>
            <a:ext cx="17940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Dionísio Junior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Leonardo Oliveira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Dirceu Gerardi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7E4E8117-1033-3700-FC22-0655815F5C47}"/>
              </a:ext>
            </a:extLst>
          </p:cNvPr>
          <p:cNvSpPr txBox="1"/>
          <p:nvPr/>
        </p:nvSpPr>
        <p:spPr>
          <a:xfrm>
            <a:off x="397450" y="5241662"/>
            <a:ext cx="16385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Luís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Zamariolli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Sérgio Negro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Gustavo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887AA5-6B30-3628-5F85-63D982E9AA1F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8ADD95-A18F-6316-2E69-9FFB04FD9836}"/>
              </a:ext>
            </a:extLst>
          </p:cNvPr>
          <p:cNvSpPr txBox="1"/>
          <p:nvPr/>
        </p:nvSpPr>
        <p:spPr>
          <a:xfrm>
            <a:off x="300959" y="2246965"/>
            <a:ext cx="2159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Captação, qualificação e triagem de conhecimento agronômico</a:t>
            </a:r>
          </a:p>
        </p:txBody>
      </p:sp>
    </p:spTree>
    <p:extLst>
      <p:ext uri="{BB962C8B-B14F-4D97-AF65-F5344CB8AC3E}">
        <p14:creationId xmlns:p14="http://schemas.microsoft.com/office/powerpoint/2010/main" val="425644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7EE58-8320-AF29-B3FE-8DF5F0831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E7497F4-D047-8D89-2278-E95556347DF1}"/>
              </a:ext>
            </a:extLst>
          </p:cNvPr>
          <p:cNvSpPr/>
          <p:nvPr/>
        </p:nvSpPr>
        <p:spPr>
          <a:xfrm>
            <a:off x="322117" y="1194955"/>
            <a:ext cx="2159997" cy="5562035"/>
          </a:xfrm>
          <a:prstGeom prst="roundRect">
            <a:avLst/>
          </a:prstGeom>
          <a:solidFill>
            <a:srgbClr val="90C226">
              <a:alpha val="30196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8133A1C-05A4-6E88-D1CD-C21D6EBFA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55678BA-339C-30BB-A7C0-368730F1A345}"/>
              </a:ext>
            </a:extLst>
          </p:cNvPr>
          <p:cNvSpPr txBox="1"/>
          <p:nvPr/>
        </p:nvSpPr>
        <p:spPr>
          <a:xfrm>
            <a:off x="875925" y="1291693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5658F45-34E2-B405-0100-A38CADB62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575" y="3273453"/>
            <a:ext cx="1351785" cy="1392397"/>
          </a:xfrm>
          <a:prstGeom prst="rect">
            <a:avLst/>
          </a:prstGeom>
        </p:spPr>
      </p:pic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7BE171AA-3F54-F0B1-C45A-65E7C260EC19}"/>
              </a:ext>
            </a:extLst>
          </p:cNvPr>
          <p:cNvSpPr txBox="1"/>
          <p:nvPr/>
        </p:nvSpPr>
        <p:spPr>
          <a:xfrm>
            <a:off x="397450" y="5241662"/>
            <a:ext cx="16385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Luís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Zamariolli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Sérgio Negro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Gustavo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C4DA3B-C968-BA7A-7FF5-C346207E9CCC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A08165D-3D02-6294-B618-87E9193B9A58}"/>
              </a:ext>
            </a:extLst>
          </p:cNvPr>
          <p:cNvSpPr/>
          <p:nvPr/>
        </p:nvSpPr>
        <p:spPr>
          <a:xfrm>
            <a:off x="5291708" y="2086169"/>
            <a:ext cx="492891" cy="2133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412E47E-7D7A-E9B5-72AF-BCA38BB7A246}"/>
              </a:ext>
            </a:extLst>
          </p:cNvPr>
          <p:cNvSpPr/>
          <p:nvPr/>
        </p:nvSpPr>
        <p:spPr>
          <a:xfrm>
            <a:off x="3514273" y="19937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E36F026-140D-0F5B-2431-C3748F2933EA}"/>
              </a:ext>
            </a:extLst>
          </p:cNvPr>
          <p:cNvSpPr/>
          <p:nvPr/>
        </p:nvSpPr>
        <p:spPr>
          <a:xfrm>
            <a:off x="3514272" y="21461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44727CC-F587-0B95-1789-9DAD8844A5C4}"/>
              </a:ext>
            </a:extLst>
          </p:cNvPr>
          <p:cNvSpPr/>
          <p:nvPr/>
        </p:nvSpPr>
        <p:spPr>
          <a:xfrm>
            <a:off x="3514272" y="22985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B76FD91-118E-D1EB-065F-91FC8CC0DE88}"/>
              </a:ext>
            </a:extLst>
          </p:cNvPr>
          <p:cNvSpPr/>
          <p:nvPr/>
        </p:nvSpPr>
        <p:spPr>
          <a:xfrm>
            <a:off x="3514271" y="24509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DDCC92D-D740-E205-ECB1-E0446F3915D3}"/>
              </a:ext>
            </a:extLst>
          </p:cNvPr>
          <p:cNvSpPr/>
          <p:nvPr/>
        </p:nvSpPr>
        <p:spPr>
          <a:xfrm>
            <a:off x="3514273" y="26033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4E0ACE4-F6EE-0E02-0611-4DF0A7C289EB}"/>
              </a:ext>
            </a:extLst>
          </p:cNvPr>
          <p:cNvSpPr/>
          <p:nvPr/>
        </p:nvSpPr>
        <p:spPr>
          <a:xfrm>
            <a:off x="3514272" y="27557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D67B9C5-95C9-8CCE-8489-04D7F4632A0A}"/>
              </a:ext>
            </a:extLst>
          </p:cNvPr>
          <p:cNvSpPr/>
          <p:nvPr/>
        </p:nvSpPr>
        <p:spPr>
          <a:xfrm>
            <a:off x="3514272" y="29081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75E99CD-37B1-5912-F826-3B1E0F440E00}"/>
              </a:ext>
            </a:extLst>
          </p:cNvPr>
          <p:cNvSpPr/>
          <p:nvPr/>
        </p:nvSpPr>
        <p:spPr>
          <a:xfrm>
            <a:off x="3514271" y="30605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F335C1B-E668-E458-B9AD-FF43F517B942}"/>
              </a:ext>
            </a:extLst>
          </p:cNvPr>
          <p:cNvSpPr/>
          <p:nvPr/>
        </p:nvSpPr>
        <p:spPr>
          <a:xfrm>
            <a:off x="3514273" y="32129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75932852-3BC8-13EA-AA25-8F2417C7C493}"/>
              </a:ext>
            </a:extLst>
          </p:cNvPr>
          <p:cNvSpPr/>
          <p:nvPr/>
        </p:nvSpPr>
        <p:spPr>
          <a:xfrm>
            <a:off x="3514272" y="33653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CFFA90D-9F22-61EE-8011-DEDEE28406F8}"/>
              </a:ext>
            </a:extLst>
          </p:cNvPr>
          <p:cNvSpPr/>
          <p:nvPr/>
        </p:nvSpPr>
        <p:spPr>
          <a:xfrm>
            <a:off x="3514272" y="35177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ADCFB3B-A11E-C0E7-0273-FEA3F411D6B8}"/>
              </a:ext>
            </a:extLst>
          </p:cNvPr>
          <p:cNvSpPr/>
          <p:nvPr/>
        </p:nvSpPr>
        <p:spPr>
          <a:xfrm>
            <a:off x="3514271" y="36701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FC98265-2450-1CDE-DCA1-0A566FF26639}"/>
              </a:ext>
            </a:extLst>
          </p:cNvPr>
          <p:cNvSpPr/>
          <p:nvPr/>
        </p:nvSpPr>
        <p:spPr>
          <a:xfrm>
            <a:off x="3514273" y="38225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2B9061B6-6A39-31DD-98C2-7B59CB474A5C}"/>
              </a:ext>
            </a:extLst>
          </p:cNvPr>
          <p:cNvSpPr/>
          <p:nvPr/>
        </p:nvSpPr>
        <p:spPr>
          <a:xfrm>
            <a:off x="3514272" y="39749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67903AC-6C3B-FAAC-744A-9E690B6C2162}"/>
              </a:ext>
            </a:extLst>
          </p:cNvPr>
          <p:cNvSpPr/>
          <p:nvPr/>
        </p:nvSpPr>
        <p:spPr>
          <a:xfrm>
            <a:off x="3514272" y="41273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DD587E51-6BF4-2D9F-50F2-AC2C9BC5A4AD}"/>
              </a:ext>
            </a:extLst>
          </p:cNvPr>
          <p:cNvSpPr/>
          <p:nvPr/>
        </p:nvSpPr>
        <p:spPr>
          <a:xfrm>
            <a:off x="3514271" y="4279701"/>
            <a:ext cx="1140431" cy="924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37858EE-499D-30BC-003B-9D83898AB965}"/>
              </a:ext>
            </a:extLst>
          </p:cNvPr>
          <p:cNvSpPr txBox="1"/>
          <p:nvPr/>
        </p:nvSpPr>
        <p:spPr>
          <a:xfrm>
            <a:off x="3221456" y="4584501"/>
            <a:ext cx="1726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Conhecimento agronômico</a:t>
            </a:r>
          </a:p>
        </p:txBody>
      </p:sp>
      <p:pic>
        <p:nvPicPr>
          <p:cNvPr id="30" name="Picture 14">
            <a:extLst>
              <a:ext uri="{FF2B5EF4-FFF2-40B4-BE49-F238E27FC236}">
                <a16:creationId xmlns:a16="http://schemas.microsoft.com/office/drawing/2014/main" id="{8FDEB037-7ED5-EE61-1B49-AC968FF6E127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271" y="869988"/>
            <a:ext cx="1401889" cy="3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8">
            <a:extLst>
              <a:ext uri="{FF2B5EF4-FFF2-40B4-BE49-F238E27FC236}">
                <a16:creationId xmlns:a16="http://schemas.microsoft.com/office/drawing/2014/main" id="{536E91B1-CF19-B1F5-B302-6C7273E9E3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72" b="10127"/>
          <a:stretch/>
        </p:blipFill>
        <p:spPr bwMode="auto">
          <a:xfrm>
            <a:off x="4076895" y="1417111"/>
            <a:ext cx="742205" cy="3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759850CC-E518-0FD5-75FF-A37E1B09A1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3" t="8203" r="37092" b="15217"/>
          <a:stretch/>
        </p:blipFill>
        <p:spPr bwMode="auto">
          <a:xfrm>
            <a:off x="3514271" y="1304360"/>
            <a:ext cx="492605" cy="47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>
            <a:extLst>
              <a:ext uri="{FF2B5EF4-FFF2-40B4-BE49-F238E27FC236}">
                <a16:creationId xmlns:a16="http://schemas.microsoft.com/office/drawing/2014/main" id="{073C9FF1-5456-2335-04E5-A01960EFF4E6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712" y="1343464"/>
            <a:ext cx="533412" cy="59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D3CC20A0-2498-28D5-C85D-72C19C26C8DB}"/>
              </a:ext>
            </a:extLst>
          </p:cNvPr>
          <p:cNvSpPr txBox="1"/>
          <p:nvPr/>
        </p:nvSpPr>
        <p:spPr>
          <a:xfrm rot="5400000">
            <a:off x="4737293" y="3021675"/>
            <a:ext cx="1725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cap="all" dirty="0" err="1">
                <a:solidFill>
                  <a:schemeClr val="bg1"/>
                </a:solidFill>
              </a:rPr>
              <a:t>cientometria</a:t>
            </a:r>
            <a:endParaRPr lang="pt-BR" cap="all" dirty="0">
              <a:solidFill>
                <a:schemeClr val="bg1"/>
              </a:solidFill>
            </a:endParaRPr>
          </a:p>
        </p:txBody>
      </p:sp>
      <p:sp>
        <p:nvSpPr>
          <p:cNvPr id="35" name="Seta: para a Direita 34">
            <a:extLst>
              <a:ext uri="{FF2B5EF4-FFF2-40B4-BE49-F238E27FC236}">
                <a16:creationId xmlns:a16="http://schemas.microsoft.com/office/drawing/2014/main" id="{DB167967-C667-4148-C768-5387EEE00296}"/>
              </a:ext>
            </a:extLst>
          </p:cNvPr>
          <p:cNvSpPr/>
          <p:nvPr/>
        </p:nvSpPr>
        <p:spPr>
          <a:xfrm>
            <a:off x="4706924" y="2954335"/>
            <a:ext cx="533412" cy="503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837594CC-AE98-FB33-D828-677F98BC2DB4}"/>
              </a:ext>
            </a:extLst>
          </p:cNvPr>
          <p:cNvSpPr/>
          <p:nvPr/>
        </p:nvSpPr>
        <p:spPr>
          <a:xfrm>
            <a:off x="6440704" y="19628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F9F5510-270B-E688-D695-5ACA62F83E6E}"/>
              </a:ext>
            </a:extLst>
          </p:cNvPr>
          <p:cNvSpPr/>
          <p:nvPr/>
        </p:nvSpPr>
        <p:spPr>
          <a:xfrm>
            <a:off x="6440703" y="21152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466A7416-FB5C-9A63-5201-178A45DCB3D1}"/>
              </a:ext>
            </a:extLst>
          </p:cNvPr>
          <p:cNvSpPr/>
          <p:nvPr/>
        </p:nvSpPr>
        <p:spPr>
          <a:xfrm>
            <a:off x="6440703" y="22676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69AF00D3-C9E1-5766-F590-7B117D4449A2}"/>
              </a:ext>
            </a:extLst>
          </p:cNvPr>
          <p:cNvSpPr/>
          <p:nvPr/>
        </p:nvSpPr>
        <p:spPr>
          <a:xfrm>
            <a:off x="6440702" y="24200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C38A9B40-6041-142F-6D4F-309B4EFE011C}"/>
              </a:ext>
            </a:extLst>
          </p:cNvPr>
          <p:cNvSpPr/>
          <p:nvPr/>
        </p:nvSpPr>
        <p:spPr>
          <a:xfrm>
            <a:off x="6440704" y="25724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0B825A8D-2471-42CB-560A-3661B66FE5E1}"/>
              </a:ext>
            </a:extLst>
          </p:cNvPr>
          <p:cNvSpPr/>
          <p:nvPr/>
        </p:nvSpPr>
        <p:spPr>
          <a:xfrm>
            <a:off x="6440703" y="27248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012A25D8-EA56-9A05-25FC-9910BD9FE742}"/>
              </a:ext>
            </a:extLst>
          </p:cNvPr>
          <p:cNvSpPr/>
          <p:nvPr/>
        </p:nvSpPr>
        <p:spPr>
          <a:xfrm>
            <a:off x="6440703" y="28772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339CB91A-086F-D0B9-5203-079CBE74DABF}"/>
              </a:ext>
            </a:extLst>
          </p:cNvPr>
          <p:cNvSpPr/>
          <p:nvPr/>
        </p:nvSpPr>
        <p:spPr>
          <a:xfrm>
            <a:off x="6440702" y="30296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A6F6118C-81FA-0F45-497C-D8597EF504E5}"/>
              </a:ext>
            </a:extLst>
          </p:cNvPr>
          <p:cNvSpPr/>
          <p:nvPr/>
        </p:nvSpPr>
        <p:spPr>
          <a:xfrm>
            <a:off x="6440704" y="31820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6389B742-55F9-5033-2789-78B1C46ECA07}"/>
              </a:ext>
            </a:extLst>
          </p:cNvPr>
          <p:cNvSpPr/>
          <p:nvPr/>
        </p:nvSpPr>
        <p:spPr>
          <a:xfrm>
            <a:off x="6440703" y="33344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42DE9BD5-BB4C-3116-723D-5AB9138D70CF}"/>
              </a:ext>
            </a:extLst>
          </p:cNvPr>
          <p:cNvSpPr/>
          <p:nvPr/>
        </p:nvSpPr>
        <p:spPr>
          <a:xfrm>
            <a:off x="6440703" y="34868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9AA4CEED-8B31-2C39-6F01-4692324EE131}"/>
              </a:ext>
            </a:extLst>
          </p:cNvPr>
          <p:cNvSpPr/>
          <p:nvPr/>
        </p:nvSpPr>
        <p:spPr>
          <a:xfrm>
            <a:off x="6440702" y="36392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B748636-8B1F-F467-42BF-60CEFB3A8A0B}"/>
              </a:ext>
            </a:extLst>
          </p:cNvPr>
          <p:cNvSpPr/>
          <p:nvPr/>
        </p:nvSpPr>
        <p:spPr>
          <a:xfrm>
            <a:off x="6440704" y="37916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CE79D108-53C4-EDD0-C87D-2D518CF9928E}"/>
              </a:ext>
            </a:extLst>
          </p:cNvPr>
          <p:cNvSpPr/>
          <p:nvPr/>
        </p:nvSpPr>
        <p:spPr>
          <a:xfrm>
            <a:off x="6440703" y="39440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0C60834F-C35B-A389-DC4F-198AE7F4D8AC}"/>
              </a:ext>
            </a:extLst>
          </p:cNvPr>
          <p:cNvSpPr/>
          <p:nvPr/>
        </p:nvSpPr>
        <p:spPr>
          <a:xfrm>
            <a:off x="6440703" y="40964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D11B3927-5096-76CD-E7EB-192D20F35E08}"/>
              </a:ext>
            </a:extLst>
          </p:cNvPr>
          <p:cNvSpPr/>
          <p:nvPr/>
        </p:nvSpPr>
        <p:spPr>
          <a:xfrm>
            <a:off x="6440702" y="4248882"/>
            <a:ext cx="1140431" cy="9246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Seta: para a Direita 56">
            <a:extLst>
              <a:ext uri="{FF2B5EF4-FFF2-40B4-BE49-F238E27FC236}">
                <a16:creationId xmlns:a16="http://schemas.microsoft.com/office/drawing/2014/main" id="{1A5CE051-8A1A-F912-D109-28783A0614F6}"/>
              </a:ext>
            </a:extLst>
          </p:cNvPr>
          <p:cNvSpPr/>
          <p:nvPr/>
        </p:nvSpPr>
        <p:spPr>
          <a:xfrm>
            <a:off x="5851217" y="2983448"/>
            <a:ext cx="533412" cy="503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0291E86C-D006-8A2C-594D-C07801EFD4FF}"/>
              </a:ext>
            </a:extLst>
          </p:cNvPr>
          <p:cNvSpPr/>
          <p:nvPr/>
        </p:nvSpPr>
        <p:spPr>
          <a:xfrm>
            <a:off x="8279783" y="2086177"/>
            <a:ext cx="842481" cy="2133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D722127B-CB0C-91D3-E160-C3D12951C4F6}"/>
              </a:ext>
            </a:extLst>
          </p:cNvPr>
          <p:cNvSpPr txBox="1"/>
          <p:nvPr/>
        </p:nvSpPr>
        <p:spPr>
          <a:xfrm rot="5400000">
            <a:off x="7981563" y="3021683"/>
            <a:ext cx="1438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cap="all" dirty="0">
                <a:solidFill>
                  <a:schemeClr val="bg1"/>
                </a:solidFill>
              </a:rPr>
              <a:t>curadoria</a:t>
            </a:r>
          </a:p>
        </p:txBody>
      </p:sp>
      <p:sp>
        <p:nvSpPr>
          <p:cNvPr id="61" name="Seta: para a Direita 60">
            <a:extLst>
              <a:ext uri="{FF2B5EF4-FFF2-40B4-BE49-F238E27FC236}">
                <a16:creationId xmlns:a16="http://schemas.microsoft.com/office/drawing/2014/main" id="{DFCD5530-4B20-DA77-ED25-6D5BA8BB8711}"/>
              </a:ext>
            </a:extLst>
          </p:cNvPr>
          <p:cNvSpPr/>
          <p:nvPr/>
        </p:nvSpPr>
        <p:spPr>
          <a:xfrm>
            <a:off x="7674452" y="2964617"/>
            <a:ext cx="533412" cy="503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EB789B96-0727-8A03-AA0E-903B8D68FF62}"/>
              </a:ext>
            </a:extLst>
          </p:cNvPr>
          <p:cNvSpPr/>
          <p:nvPr/>
        </p:nvSpPr>
        <p:spPr>
          <a:xfrm>
            <a:off x="9814049" y="196631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3ED29B3B-BE0C-0DE8-00A9-BB3983485122}"/>
              </a:ext>
            </a:extLst>
          </p:cNvPr>
          <p:cNvSpPr/>
          <p:nvPr/>
        </p:nvSpPr>
        <p:spPr>
          <a:xfrm>
            <a:off x="9814047" y="242351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555EE9C2-FAFB-BC02-F104-CBD72C9598C5}"/>
              </a:ext>
            </a:extLst>
          </p:cNvPr>
          <p:cNvSpPr/>
          <p:nvPr/>
        </p:nvSpPr>
        <p:spPr>
          <a:xfrm>
            <a:off x="9814049" y="257591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7A1E2085-972B-3DEF-26F9-052DAF3021E1}"/>
              </a:ext>
            </a:extLst>
          </p:cNvPr>
          <p:cNvSpPr/>
          <p:nvPr/>
        </p:nvSpPr>
        <p:spPr>
          <a:xfrm>
            <a:off x="9814047" y="303311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DA7D1140-7392-F581-C690-24E852D5114E}"/>
              </a:ext>
            </a:extLst>
          </p:cNvPr>
          <p:cNvSpPr/>
          <p:nvPr/>
        </p:nvSpPr>
        <p:spPr>
          <a:xfrm>
            <a:off x="9814049" y="318551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E03D6A40-1A04-86BB-2554-32DD6820D07C}"/>
              </a:ext>
            </a:extLst>
          </p:cNvPr>
          <p:cNvSpPr/>
          <p:nvPr/>
        </p:nvSpPr>
        <p:spPr>
          <a:xfrm>
            <a:off x="9814048" y="349031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B27B3987-FFE8-D035-2EAD-E8213074795A}"/>
              </a:ext>
            </a:extLst>
          </p:cNvPr>
          <p:cNvSpPr/>
          <p:nvPr/>
        </p:nvSpPr>
        <p:spPr>
          <a:xfrm>
            <a:off x="9814049" y="379511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99CFE004-B000-BC36-FB6E-163C218099AD}"/>
              </a:ext>
            </a:extLst>
          </p:cNvPr>
          <p:cNvSpPr/>
          <p:nvPr/>
        </p:nvSpPr>
        <p:spPr>
          <a:xfrm>
            <a:off x="9814048" y="409991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1A1DE26A-151B-1A56-AE7D-7EE06FD05682}"/>
              </a:ext>
            </a:extLst>
          </p:cNvPr>
          <p:cNvSpPr/>
          <p:nvPr/>
        </p:nvSpPr>
        <p:spPr>
          <a:xfrm>
            <a:off x="9814047" y="4252314"/>
            <a:ext cx="1140431" cy="92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Seta: para a Direita 70">
            <a:extLst>
              <a:ext uri="{FF2B5EF4-FFF2-40B4-BE49-F238E27FC236}">
                <a16:creationId xmlns:a16="http://schemas.microsoft.com/office/drawing/2014/main" id="{96DE9868-B292-D897-7BC5-559C0BCAA4EE}"/>
              </a:ext>
            </a:extLst>
          </p:cNvPr>
          <p:cNvSpPr/>
          <p:nvPr/>
        </p:nvSpPr>
        <p:spPr>
          <a:xfrm>
            <a:off x="9194183" y="3025416"/>
            <a:ext cx="533412" cy="503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FB1B6A55-72EF-650F-FBBC-8D451F898FE3}"/>
              </a:ext>
            </a:extLst>
          </p:cNvPr>
          <p:cNvSpPr/>
          <p:nvPr/>
        </p:nvSpPr>
        <p:spPr>
          <a:xfrm>
            <a:off x="8207866" y="519843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E0DD7ADA-01C7-3981-D071-1A4963FA17C3}"/>
              </a:ext>
            </a:extLst>
          </p:cNvPr>
          <p:cNvSpPr/>
          <p:nvPr/>
        </p:nvSpPr>
        <p:spPr>
          <a:xfrm>
            <a:off x="8207865" y="535083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6D650E67-D4A7-7B90-A6A8-5BF74928E141}"/>
              </a:ext>
            </a:extLst>
          </p:cNvPr>
          <p:cNvSpPr/>
          <p:nvPr/>
        </p:nvSpPr>
        <p:spPr>
          <a:xfrm>
            <a:off x="8207865" y="550323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FA79A869-CF8E-2125-9CE5-C9C6B15C1282}"/>
              </a:ext>
            </a:extLst>
          </p:cNvPr>
          <p:cNvSpPr/>
          <p:nvPr/>
        </p:nvSpPr>
        <p:spPr>
          <a:xfrm>
            <a:off x="8207864" y="565563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8E98A46A-9B99-DA68-5E53-BDC8EB27F9A8}"/>
              </a:ext>
            </a:extLst>
          </p:cNvPr>
          <p:cNvSpPr/>
          <p:nvPr/>
        </p:nvSpPr>
        <p:spPr>
          <a:xfrm>
            <a:off x="8207866" y="580803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E9F4B4A2-5973-6C42-E0F4-2EEA18732C97}"/>
              </a:ext>
            </a:extLst>
          </p:cNvPr>
          <p:cNvSpPr/>
          <p:nvPr/>
        </p:nvSpPr>
        <p:spPr>
          <a:xfrm>
            <a:off x="8207865" y="596043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E34697A1-0DCF-A51C-95C7-EA96C4AB7354}"/>
              </a:ext>
            </a:extLst>
          </p:cNvPr>
          <p:cNvSpPr/>
          <p:nvPr/>
        </p:nvSpPr>
        <p:spPr>
          <a:xfrm>
            <a:off x="8207865" y="611283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EC96CA17-3F37-517E-5057-9D7EB56273BA}"/>
              </a:ext>
            </a:extLst>
          </p:cNvPr>
          <p:cNvSpPr/>
          <p:nvPr/>
        </p:nvSpPr>
        <p:spPr>
          <a:xfrm>
            <a:off x="8207864" y="6265238"/>
            <a:ext cx="1140431" cy="924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Seta: para a Direita 80">
            <a:extLst>
              <a:ext uri="{FF2B5EF4-FFF2-40B4-BE49-F238E27FC236}">
                <a16:creationId xmlns:a16="http://schemas.microsoft.com/office/drawing/2014/main" id="{45B3684A-4EC0-1B83-7D0C-47BC25469E48}"/>
              </a:ext>
            </a:extLst>
          </p:cNvPr>
          <p:cNvSpPr/>
          <p:nvPr/>
        </p:nvSpPr>
        <p:spPr>
          <a:xfrm rot="5400000">
            <a:off x="8511373" y="4534450"/>
            <a:ext cx="533412" cy="503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F40006CC-3A4E-BF57-9A0B-19004D700D8C}"/>
              </a:ext>
            </a:extLst>
          </p:cNvPr>
          <p:cNvSpPr txBox="1"/>
          <p:nvPr/>
        </p:nvSpPr>
        <p:spPr>
          <a:xfrm>
            <a:off x="6117923" y="4596872"/>
            <a:ext cx="1726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Conhecimento Qualificado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C269727D-ADAC-13E6-9711-88F367581DD9}"/>
              </a:ext>
            </a:extLst>
          </p:cNvPr>
          <p:cNvSpPr txBox="1"/>
          <p:nvPr/>
        </p:nvSpPr>
        <p:spPr>
          <a:xfrm>
            <a:off x="9572602" y="4441729"/>
            <a:ext cx="14846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Conhecimento para incorporação</a:t>
            </a:r>
          </a:p>
        </p:txBody>
      </p:sp>
      <p:pic>
        <p:nvPicPr>
          <p:cNvPr id="85" name="Picture 2">
            <a:extLst>
              <a:ext uri="{FF2B5EF4-FFF2-40B4-BE49-F238E27FC236}">
                <a16:creationId xmlns:a16="http://schemas.microsoft.com/office/drawing/2014/main" id="{4822E358-EB61-868F-3116-444CE1091A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3" t="8203" r="37092" b="15217"/>
          <a:stretch/>
        </p:blipFill>
        <p:spPr bwMode="auto">
          <a:xfrm>
            <a:off x="9089171" y="1500915"/>
            <a:ext cx="492605" cy="47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14">
            <a:extLst>
              <a:ext uri="{FF2B5EF4-FFF2-40B4-BE49-F238E27FC236}">
                <a16:creationId xmlns:a16="http://schemas.microsoft.com/office/drawing/2014/main" id="{5B3DC8A2-74EA-DFC9-18DF-6DC4864149C3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744" y="1203014"/>
            <a:ext cx="1401889" cy="3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8">
            <a:extLst>
              <a:ext uri="{FF2B5EF4-FFF2-40B4-BE49-F238E27FC236}">
                <a16:creationId xmlns:a16="http://schemas.microsoft.com/office/drawing/2014/main" id="{FEE22B00-4FC8-A770-5EB3-8D96655E45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72" b="10127"/>
          <a:stretch/>
        </p:blipFill>
        <p:spPr bwMode="auto">
          <a:xfrm>
            <a:off x="8253330" y="1500687"/>
            <a:ext cx="742205" cy="3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4">
            <a:extLst>
              <a:ext uri="{FF2B5EF4-FFF2-40B4-BE49-F238E27FC236}">
                <a16:creationId xmlns:a16="http://schemas.microsoft.com/office/drawing/2014/main" id="{0F5CB019-5B8B-3308-5A9D-D0487BC475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55" b="25566"/>
          <a:stretch/>
        </p:blipFill>
        <p:spPr bwMode="auto">
          <a:xfrm>
            <a:off x="8329958" y="1710829"/>
            <a:ext cx="633897" cy="32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CaixaDeTexto 88">
            <a:extLst>
              <a:ext uri="{FF2B5EF4-FFF2-40B4-BE49-F238E27FC236}">
                <a16:creationId xmlns:a16="http://schemas.microsoft.com/office/drawing/2014/main" id="{3E69DC01-2055-FAD7-3B3A-9CB21500AE47}"/>
              </a:ext>
            </a:extLst>
          </p:cNvPr>
          <p:cNvSpPr txBox="1"/>
          <p:nvPr/>
        </p:nvSpPr>
        <p:spPr>
          <a:xfrm>
            <a:off x="7849544" y="6417638"/>
            <a:ext cx="1726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Conhecimento </a:t>
            </a:r>
          </a:p>
          <a:p>
            <a:pPr algn="ctr"/>
            <a:r>
              <a:rPr lang="pt-BR" sz="1400" dirty="0"/>
              <a:t>Não-incorporado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5B81566A-5DC6-CBA0-5D46-6776372F2C77}"/>
              </a:ext>
            </a:extLst>
          </p:cNvPr>
          <p:cNvSpPr/>
          <p:nvPr/>
        </p:nvSpPr>
        <p:spPr>
          <a:xfrm>
            <a:off x="11057233" y="195090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tângulo: Cantos Arredondados 91">
            <a:extLst>
              <a:ext uri="{FF2B5EF4-FFF2-40B4-BE49-F238E27FC236}">
                <a16:creationId xmlns:a16="http://schemas.microsoft.com/office/drawing/2014/main" id="{B83493F1-D4E1-F1FC-8CF9-EB906EB5F11B}"/>
              </a:ext>
            </a:extLst>
          </p:cNvPr>
          <p:cNvSpPr/>
          <p:nvPr/>
        </p:nvSpPr>
        <p:spPr>
          <a:xfrm>
            <a:off x="11057231" y="240810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023C287F-C85D-85E6-0A37-B5A082A0902E}"/>
              </a:ext>
            </a:extLst>
          </p:cNvPr>
          <p:cNvSpPr/>
          <p:nvPr/>
        </p:nvSpPr>
        <p:spPr>
          <a:xfrm>
            <a:off x="11057233" y="256050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39827C66-7088-D230-8345-5D5D83948C43}"/>
              </a:ext>
            </a:extLst>
          </p:cNvPr>
          <p:cNvSpPr/>
          <p:nvPr/>
        </p:nvSpPr>
        <p:spPr>
          <a:xfrm>
            <a:off x="11057231" y="301770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tângulo: Cantos Arredondados 94">
            <a:extLst>
              <a:ext uri="{FF2B5EF4-FFF2-40B4-BE49-F238E27FC236}">
                <a16:creationId xmlns:a16="http://schemas.microsoft.com/office/drawing/2014/main" id="{9DBDBECE-8F10-EE42-AA45-27A523507FE4}"/>
              </a:ext>
            </a:extLst>
          </p:cNvPr>
          <p:cNvSpPr/>
          <p:nvPr/>
        </p:nvSpPr>
        <p:spPr>
          <a:xfrm>
            <a:off x="11057233" y="317010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ED830294-B509-6CDC-0698-E54FBD244E88}"/>
              </a:ext>
            </a:extLst>
          </p:cNvPr>
          <p:cNvSpPr/>
          <p:nvPr/>
        </p:nvSpPr>
        <p:spPr>
          <a:xfrm>
            <a:off x="11057232" y="347490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FAF0DF99-ABE5-81CB-5A88-F2ABCBE1766B}"/>
              </a:ext>
            </a:extLst>
          </p:cNvPr>
          <p:cNvSpPr/>
          <p:nvPr/>
        </p:nvSpPr>
        <p:spPr>
          <a:xfrm>
            <a:off x="11057233" y="377970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F3CA24B4-F000-3A07-21CD-C8A3853FFA7F}"/>
              </a:ext>
            </a:extLst>
          </p:cNvPr>
          <p:cNvSpPr/>
          <p:nvPr/>
        </p:nvSpPr>
        <p:spPr>
          <a:xfrm>
            <a:off x="11057232" y="408450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" name="Retângulo: Cantos Arredondados 106">
            <a:extLst>
              <a:ext uri="{FF2B5EF4-FFF2-40B4-BE49-F238E27FC236}">
                <a16:creationId xmlns:a16="http://schemas.microsoft.com/office/drawing/2014/main" id="{549BD341-1C22-EE47-066C-23A885B1107A}"/>
              </a:ext>
            </a:extLst>
          </p:cNvPr>
          <p:cNvSpPr/>
          <p:nvPr/>
        </p:nvSpPr>
        <p:spPr>
          <a:xfrm>
            <a:off x="11057231" y="4236900"/>
            <a:ext cx="190059" cy="9246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E3EC4048-0010-1F1E-13B7-BB5CAFE03CD7}"/>
              </a:ext>
            </a:extLst>
          </p:cNvPr>
          <p:cNvSpPr txBox="1"/>
          <p:nvPr/>
        </p:nvSpPr>
        <p:spPr>
          <a:xfrm>
            <a:off x="9814047" y="1128968"/>
            <a:ext cx="957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Arquivos .</a:t>
            </a:r>
            <a:r>
              <a:rPr lang="pt-BR" sz="1400" dirty="0" err="1"/>
              <a:t>pdf</a:t>
            </a:r>
            <a:endParaRPr lang="pt-BR" sz="1400" dirty="0"/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BF1357C7-941B-2C13-8666-AAED10A7A055}"/>
              </a:ext>
            </a:extLst>
          </p:cNvPr>
          <p:cNvSpPr txBox="1"/>
          <p:nvPr/>
        </p:nvSpPr>
        <p:spPr>
          <a:xfrm>
            <a:off x="10863710" y="1136104"/>
            <a:ext cx="1091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Indexador .</a:t>
            </a:r>
            <a:r>
              <a:rPr lang="pt-BR" sz="1400" dirty="0" err="1"/>
              <a:t>txt</a:t>
            </a:r>
            <a:endParaRPr lang="pt-BR" sz="1400" dirty="0"/>
          </a:p>
        </p:txBody>
      </p: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D6F85EA8-3D5A-B75F-7787-591CCCC83161}"/>
              </a:ext>
            </a:extLst>
          </p:cNvPr>
          <p:cNvCxnSpPr>
            <a:cxnSpLocks/>
            <a:stCxn id="108" idx="2"/>
            <a:endCxn id="62" idx="0"/>
          </p:cNvCxnSpPr>
          <p:nvPr/>
        </p:nvCxnSpPr>
        <p:spPr>
          <a:xfrm>
            <a:off x="10292802" y="1652188"/>
            <a:ext cx="91463" cy="3141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to 110">
            <a:extLst>
              <a:ext uri="{FF2B5EF4-FFF2-40B4-BE49-F238E27FC236}">
                <a16:creationId xmlns:a16="http://schemas.microsoft.com/office/drawing/2014/main" id="{6B8C1354-0F95-A29A-170A-28414CCCAA9B}"/>
              </a:ext>
            </a:extLst>
          </p:cNvPr>
          <p:cNvCxnSpPr>
            <a:cxnSpLocks/>
            <a:stCxn id="109" idx="2"/>
            <a:endCxn id="91" idx="0"/>
          </p:cNvCxnSpPr>
          <p:nvPr/>
        </p:nvCxnSpPr>
        <p:spPr>
          <a:xfrm flipH="1">
            <a:off x="11152263" y="1659324"/>
            <a:ext cx="257416" cy="2915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Picture 6">
            <a:extLst>
              <a:ext uri="{FF2B5EF4-FFF2-40B4-BE49-F238E27FC236}">
                <a16:creationId xmlns:a16="http://schemas.microsoft.com/office/drawing/2014/main" id="{20C1A90C-DEBC-2F06-5905-CCA13042EC0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078" y="4370557"/>
            <a:ext cx="683248" cy="30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4">
            <a:extLst>
              <a:ext uri="{FF2B5EF4-FFF2-40B4-BE49-F238E27FC236}">
                <a16:creationId xmlns:a16="http://schemas.microsoft.com/office/drawing/2014/main" id="{20697040-BFFD-B8E5-E4B3-445A9CF64D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55" b="25566"/>
          <a:stretch/>
        </p:blipFill>
        <p:spPr bwMode="auto">
          <a:xfrm>
            <a:off x="5251187" y="4778810"/>
            <a:ext cx="533412" cy="27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6">
            <a:extLst>
              <a:ext uri="{FF2B5EF4-FFF2-40B4-BE49-F238E27FC236}">
                <a16:creationId xmlns:a16="http://schemas.microsoft.com/office/drawing/2014/main" id="{8D605170-706A-0511-8360-7187974D950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445" y="4339815"/>
            <a:ext cx="683248" cy="30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4">
            <a:extLst>
              <a:ext uri="{FF2B5EF4-FFF2-40B4-BE49-F238E27FC236}">
                <a16:creationId xmlns:a16="http://schemas.microsoft.com/office/drawing/2014/main" id="{6A60CC80-121B-9973-69EE-994435F836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55" b="25566"/>
          <a:stretch/>
        </p:blipFill>
        <p:spPr bwMode="auto">
          <a:xfrm>
            <a:off x="7822554" y="4748068"/>
            <a:ext cx="533412" cy="27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35EDEF38-E676-989C-6896-7CD3A3C8ACCD}"/>
              </a:ext>
            </a:extLst>
          </p:cNvPr>
          <p:cNvSpPr txBox="1"/>
          <p:nvPr/>
        </p:nvSpPr>
        <p:spPr>
          <a:xfrm>
            <a:off x="300959" y="2246965"/>
            <a:ext cx="2159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Captação, qualificação e triagem de conhecimento agronômico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8BF6B3ED-4705-04B4-9751-6E5DBA2A5D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71399" y="-76047"/>
            <a:ext cx="1351785" cy="139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9C88E-47D4-5E7B-A2F1-3F68BEF4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E2FECBD-7A8E-A638-F1FC-30637EDED527}"/>
              </a:ext>
            </a:extLst>
          </p:cNvPr>
          <p:cNvSpPr/>
          <p:nvPr/>
        </p:nvSpPr>
        <p:spPr>
          <a:xfrm>
            <a:off x="322117" y="1194955"/>
            <a:ext cx="2159997" cy="5562035"/>
          </a:xfrm>
          <a:prstGeom prst="roundRect">
            <a:avLst/>
          </a:prstGeom>
          <a:solidFill>
            <a:srgbClr val="90C226">
              <a:alpha val="30196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1CA02D1-67A8-731E-818A-4E43955E8D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6DBC5E6-D97E-0AC7-2576-13603F67DA93}"/>
              </a:ext>
            </a:extLst>
          </p:cNvPr>
          <p:cNvSpPr txBox="1"/>
          <p:nvPr/>
        </p:nvSpPr>
        <p:spPr>
          <a:xfrm>
            <a:off x="875925" y="1291693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9D8A021-A4BF-564F-C449-4E1B05922D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575" y="3273453"/>
            <a:ext cx="1351785" cy="1392397"/>
          </a:xfrm>
          <a:prstGeom prst="rect">
            <a:avLst/>
          </a:prstGeom>
        </p:spPr>
      </p:pic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C0E5D47D-63CA-C89C-3502-05BE1BABA0D7}"/>
              </a:ext>
            </a:extLst>
          </p:cNvPr>
          <p:cNvSpPr txBox="1"/>
          <p:nvPr/>
        </p:nvSpPr>
        <p:spPr>
          <a:xfrm>
            <a:off x="397450" y="5241662"/>
            <a:ext cx="16385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Luís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Zamariolli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Sérgio Negro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Gustavo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8BEEFB2-D3DF-4D68-ECEF-04E4B5AEADA0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F942347-0999-262C-4366-F84B0C60FE65}"/>
              </a:ext>
            </a:extLst>
          </p:cNvPr>
          <p:cNvSpPr/>
          <p:nvPr/>
        </p:nvSpPr>
        <p:spPr>
          <a:xfrm>
            <a:off x="2762995" y="1226111"/>
            <a:ext cx="1996440" cy="8853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CE1CB4B-8459-A34F-E79A-1529B159F447}"/>
              </a:ext>
            </a:extLst>
          </p:cNvPr>
          <p:cNvSpPr/>
          <p:nvPr/>
        </p:nvSpPr>
        <p:spPr>
          <a:xfrm>
            <a:off x="5085606" y="1226864"/>
            <a:ext cx="3357354" cy="8853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AAF7E163-23A4-64DA-AC0C-D5DAC0E6B160}"/>
              </a:ext>
            </a:extLst>
          </p:cNvPr>
          <p:cNvSpPr/>
          <p:nvPr/>
        </p:nvSpPr>
        <p:spPr>
          <a:xfrm>
            <a:off x="5085606" y="2840890"/>
            <a:ext cx="3357353" cy="7147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570C2BB7-1A37-61B3-2D4C-B00458E2CFCE}"/>
              </a:ext>
            </a:extLst>
          </p:cNvPr>
          <p:cNvSpPr/>
          <p:nvPr/>
        </p:nvSpPr>
        <p:spPr>
          <a:xfrm>
            <a:off x="5085605" y="4124437"/>
            <a:ext cx="3357353" cy="67288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3F12E032-4D8E-1794-C134-DECE823D0258}"/>
              </a:ext>
            </a:extLst>
          </p:cNvPr>
          <p:cNvSpPr txBox="1"/>
          <p:nvPr/>
        </p:nvSpPr>
        <p:spPr>
          <a:xfrm>
            <a:off x="2762995" y="1338157"/>
            <a:ext cx="1996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CONHECIMENTO AGRONÔMICO</a:t>
            </a:r>
          </a:p>
        </p:txBody>
      </p: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D3847157-4B6C-F8BB-1A23-BB4252F79B62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4759435" y="1668781"/>
            <a:ext cx="326171" cy="7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2293CA89-1553-DA57-2EC4-01F6122FBDBE}"/>
              </a:ext>
            </a:extLst>
          </p:cNvPr>
          <p:cNvSpPr txBox="1"/>
          <p:nvPr/>
        </p:nvSpPr>
        <p:spPr>
          <a:xfrm>
            <a:off x="5085606" y="1442972"/>
            <a:ext cx="3357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u="sng" dirty="0">
                <a:effectLst/>
                <a:latin typeface="Liberation Serif"/>
                <a:ea typeface="DengXian" panose="02010600030101010101" pitchFamily="2" charset="-122"/>
                <a:cs typeface="Noto Sans" panose="020B050204050409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https://forms.gle/JKUA6J1rAdbjy5ic7</a:t>
            </a:r>
            <a:r>
              <a:rPr lang="pt-BR" sz="1600" dirty="0">
                <a:effectLst/>
                <a:latin typeface="Liberation Serif"/>
                <a:ea typeface="DengXian" panose="02010600030101010101" pitchFamily="2" charset="-122"/>
                <a:cs typeface="Noto Sans" panose="020B0502040504090204" pitchFamily="34" charset="0"/>
              </a:rPr>
              <a:t>.</a:t>
            </a:r>
            <a:endParaRPr lang="pt-BR" sz="1600" dirty="0"/>
          </a:p>
        </p:txBody>
      </p:sp>
      <p:cxnSp>
        <p:nvCxnSpPr>
          <p:cNvPr id="99" name="Conector de Seta Reta 98">
            <a:extLst>
              <a:ext uri="{FF2B5EF4-FFF2-40B4-BE49-F238E27FC236}">
                <a16:creationId xmlns:a16="http://schemas.microsoft.com/office/drawing/2014/main" id="{C70DBA2B-12FB-EAAD-C73D-6A49C853A0A8}"/>
              </a:ext>
            </a:extLst>
          </p:cNvPr>
          <p:cNvCxnSpPr>
            <a:cxnSpLocks/>
            <a:stCxn id="20" idx="2"/>
            <a:endCxn id="29" idx="0"/>
          </p:cNvCxnSpPr>
          <p:nvPr/>
        </p:nvCxnSpPr>
        <p:spPr>
          <a:xfrm>
            <a:off x="6764283" y="2112204"/>
            <a:ext cx="0" cy="7286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FCE28293-4C7A-45D1-8225-C6300C173956}"/>
              </a:ext>
            </a:extLst>
          </p:cNvPr>
          <p:cNvSpPr txBox="1"/>
          <p:nvPr/>
        </p:nvSpPr>
        <p:spPr>
          <a:xfrm>
            <a:off x="5320637" y="4273494"/>
            <a:ext cx="27366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https://acesse.one/x0XFh</a:t>
            </a:r>
          </a:p>
        </p:txBody>
      </p:sp>
      <p:cxnSp>
        <p:nvCxnSpPr>
          <p:cNvPr id="119" name="Conector de Seta Reta 118">
            <a:extLst>
              <a:ext uri="{FF2B5EF4-FFF2-40B4-BE49-F238E27FC236}">
                <a16:creationId xmlns:a16="http://schemas.microsoft.com/office/drawing/2014/main" id="{E08F1B95-34FC-9A9E-C634-AF70D00F7335}"/>
              </a:ext>
            </a:extLst>
          </p:cNvPr>
          <p:cNvCxnSpPr>
            <a:cxnSpLocks/>
            <a:stCxn id="29" idx="2"/>
            <a:endCxn id="37" idx="0"/>
          </p:cNvCxnSpPr>
          <p:nvPr/>
        </p:nvCxnSpPr>
        <p:spPr>
          <a:xfrm flipH="1">
            <a:off x="6764282" y="3555624"/>
            <a:ext cx="1" cy="568813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520C2F9C-1BAC-96BE-0676-E27E569A8832}"/>
              </a:ext>
            </a:extLst>
          </p:cNvPr>
          <p:cNvSpPr txBox="1"/>
          <p:nvPr/>
        </p:nvSpPr>
        <p:spPr>
          <a:xfrm>
            <a:off x="5320637" y="3028594"/>
            <a:ext cx="28872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https://l1nk.dev/MqQB5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75D0DE82-AECC-758D-0588-0FA182F4373B}"/>
              </a:ext>
            </a:extLst>
          </p:cNvPr>
          <p:cNvSpPr txBox="1"/>
          <p:nvPr/>
        </p:nvSpPr>
        <p:spPr>
          <a:xfrm>
            <a:off x="5210811" y="795122"/>
            <a:ext cx="310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Google </a:t>
            </a:r>
            <a:r>
              <a:rPr lang="pt-BR" dirty="0" err="1"/>
              <a:t>forms</a:t>
            </a:r>
            <a:r>
              <a:rPr lang="pt-BR" dirty="0"/>
              <a:t> - </a:t>
            </a:r>
            <a:r>
              <a:rPr lang="pt-BR" dirty="0" err="1"/>
              <a:t>cientometria</a:t>
            </a:r>
            <a:endParaRPr lang="pt-BR" dirty="0"/>
          </a:p>
        </p:txBody>
      </p:sp>
      <p:sp>
        <p:nvSpPr>
          <p:cNvPr id="129" name="CaixaDeTexto 128">
            <a:extLst>
              <a:ext uri="{FF2B5EF4-FFF2-40B4-BE49-F238E27FC236}">
                <a16:creationId xmlns:a16="http://schemas.microsoft.com/office/drawing/2014/main" id="{A9B40DC3-638E-C238-F19C-6E0226606A3B}"/>
              </a:ext>
            </a:extLst>
          </p:cNvPr>
          <p:cNvSpPr txBox="1"/>
          <p:nvPr/>
        </p:nvSpPr>
        <p:spPr>
          <a:xfrm>
            <a:off x="8442958" y="2961863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Google drive</a:t>
            </a:r>
          </a:p>
        </p:txBody>
      </p:sp>
      <p:sp>
        <p:nvSpPr>
          <p:cNvPr id="130" name="CaixaDeTexto 129">
            <a:extLst>
              <a:ext uri="{FF2B5EF4-FFF2-40B4-BE49-F238E27FC236}">
                <a16:creationId xmlns:a16="http://schemas.microsoft.com/office/drawing/2014/main" id="{F11C258C-3C19-0073-EC9B-D839DA356520}"/>
              </a:ext>
            </a:extLst>
          </p:cNvPr>
          <p:cNvSpPr txBox="1"/>
          <p:nvPr/>
        </p:nvSpPr>
        <p:spPr>
          <a:xfrm>
            <a:off x="8442958" y="4258105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Google </a:t>
            </a:r>
            <a:r>
              <a:rPr lang="pt-BR" dirty="0" err="1"/>
              <a:t>spreadsheet</a:t>
            </a:r>
            <a:endParaRPr lang="pt-BR" dirty="0"/>
          </a:p>
        </p:txBody>
      </p:sp>
      <p:sp>
        <p:nvSpPr>
          <p:cNvPr id="131" name="Retângulo: Cantos Arredondados 130">
            <a:extLst>
              <a:ext uri="{FF2B5EF4-FFF2-40B4-BE49-F238E27FC236}">
                <a16:creationId xmlns:a16="http://schemas.microsoft.com/office/drawing/2014/main" id="{FB0F62BA-DAC4-2768-F534-B1426898E323}"/>
              </a:ext>
            </a:extLst>
          </p:cNvPr>
          <p:cNvSpPr/>
          <p:nvPr/>
        </p:nvSpPr>
        <p:spPr>
          <a:xfrm>
            <a:off x="2944521" y="5567857"/>
            <a:ext cx="3357353" cy="67288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3654F0B5-5A72-1476-45F5-9C8CB47F040E}"/>
              </a:ext>
            </a:extLst>
          </p:cNvPr>
          <p:cNvSpPr txBox="1"/>
          <p:nvPr/>
        </p:nvSpPr>
        <p:spPr>
          <a:xfrm>
            <a:off x="7370553" y="5718715"/>
            <a:ext cx="27366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https://acesse.one/QdZJ1</a:t>
            </a:r>
          </a:p>
        </p:txBody>
      </p:sp>
      <p:sp>
        <p:nvSpPr>
          <p:cNvPr id="133" name="Retângulo: Cantos Arredondados 132">
            <a:extLst>
              <a:ext uri="{FF2B5EF4-FFF2-40B4-BE49-F238E27FC236}">
                <a16:creationId xmlns:a16="http://schemas.microsoft.com/office/drawing/2014/main" id="{3444B924-5507-0D39-0CD3-03B1176117D4}"/>
              </a:ext>
            </a:extLst>
          </p:cNvPr>
          <p:cNvSpPr/>
          <p:nvPr/>
        </p:nvSpPr>
        <p:spPr>
          <a:xfrm>
            <a:off x="7181241" y="5567857"/>
            <a:ext cx="3357353" cy="67288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4" name="CaixaDeTexto 133">
            <a:extLst>
              <a:ext uri="{FF2B5EF4-FFF2-40B4-BE49-F238E27FC236}">
                <a16:creationId xmlns:a16="http://schemas.microsoft.com/office/drawing/2014/main" id="{61924532-B59F-E777-1613-4D25C36184DD}"/>
              </a:ext>
            </a:extLst>
          </p:cNvPr>
          <p:cNvSpPr txBox="1"/>
          <p:nvPr/>
        </p:nvSpPr>
        <p:spPr>
          <a:xfrm>
            <a:off x="2981649" y="5735021"/>
            <a:ext cx="27366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https://acesse.one/MxvRm</a:t>
            </a:r>
          </a:p>
        </p:txBody>
      </p:sp>
      <p:cxnSp>
        <p:nvCxnSpPr>
          <p:cNvPr id="136" name="Conector de Seta Reta 135">
            <a:extLst>
              <a:ext uri="{FF2B5EF4-FFF2-40B4-BE49-F238E27FC236}">
                <a16:creationId xmlns:a16="http://schemas.microsoft.com/office/drawing/2014/main" id="{6B9631D9-A81D-0456-07F1-DCB9CF3E3DD1}"/>
              </a:ext>
            </a:extLst>
          </p:cNvPr>
          <p:cNvCxnSpPr>
            <a:cxnSpLocks/>
            <a:stCxn id="37" idx="2"/>
            <a:endCxn id="131" idx="0"/>
          </p:cNvCxnSpPr>
          <p:nvPr/>
        </p:nvCxnSpPr>
        <p:spPr>
          <a:xfrm flipH="1">
            <a:off x="4623198" y="4797319"/>
            <a:ext cx="2141084" cy="770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de Seta Reta 137">
            <a:extLst>
              <a:ext uri="{FF2B5EF4-FFF2-40B4-BE49-F238E27FC236}">
                <a16:creationId xmlns:a16="http://schemas.microsoft.com/office/drawing/2014/main" id="{B93E42DC-8DD0-EAB4-EAD4-6D056FF671EE}"/>
              </a:ext>
            </a:extLst>
          </p:cNvPr>
          <p:cNvCxnSpPr>
            <a:cxnSpLocks/>
            <a:stCxn id="37" idx="2"/>
            <a:endCxn id="133" idx="0"/>
          </p:cNvCxnSpPr>
          <p:nvPr/>
        </p:nvCxnSpPr>
        <p:spPr>
          <a:xfrm>
            <a:off x="6764282" y="4797319"/>
            <a:ext cx="2095636" cy="770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0F577FCB-6E43-23E9-6E08-B7196C0F344B}"/>
              </a:ext>
            </a:extLst>
          </p:cNvPr>
          <p:cNvSpPr txBox="1"/>
          <p:nvPr/>
        </p:nvSpPr>
        <p:spPr>
          <a:xfrm>
            <a:off x="7812100" y="6323611"/>
            <a:ext cx="21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Arquivos aprovados</a:t>
            </a:r>
          </a:p>
        </p:txBody>
      </p:sp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D1C2B00F-D4C6-C4B1-0BF7-6843512B156D}"/>
              </a:ext>
            </a:extLst>
          </p:cNvPr>
          <p:cNvSpPr txBox="1"/>
          <p:nvPr/>
        </p:nvSpPr>
        <p:spPr>
          <a:xfrm>
            <a:off x="3292904" y="6283597"/>
            <a:ext cx="261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Arquivos não-aprovados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73F6246-C01F-613A-7ED9-EBF0868C3ED3}"/>
              </a:ext>
            </a:extLst>
          </p:cNvPr>
          <p:cNvSpPr txBox="1"/>
          <p:nvPr/>
        </p:nvSpPr>
        <p:spPr>
          <a:xfrm>
            <a:off x="300959" y="2246965"/>
            <a:ext cx="2159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Captação, qualificação e triagem de conhecimento agronômico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CE34F6F-2AB9-F180-D848-4C9E3B9839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70559" y="238147"/>
            <a:ext cx="1351785" cy="139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9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05868-988D-BBC8-1C10-8DA40627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B7E9037-EF56-4300-8873-B1564FF0BEBB}"/>
              </a:ext>
            </a:extLst>
          </p:cNvPr>
          <p:cNvSpPr/>
          <p:nvPr/>
        </p:nvSpPr>
        <p:spPr>
          <a:xfrm>
            <a:off x="322117" y="1194955"/>
            <a:ext cx="2159997" cy="5562035"/>
          </a:xfrm>
          <a:prstGeom prst="roundRect">
            <a:avLst/>
          </a:prstGeom>
          <a:solidFill>
            <a:srgbClr val="90C226">
              <a:alpha val="30196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5EA5B71-DB3C-EA3C-38D3-DE73172071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863B432-20D6-1A80-9C25-15B7F487F914}"/>
              </a:ext>
            </a:extLst>
          </p:cNvPr>
          <p:cNvSpPr txBox="1"/>
          <p:nvPr/>
        </p:nvSpPr>
        <p:spPr>
          <a:xfrm>
            <a:off x="875925" y="1291693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8B3D38D-1203-09B4-BEE2-94475FFBAF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575" y="3273453"/>
            <a:ext cx="1351785" cy="1392397"/>
          </a:xfrm>
          <a:prstGeom prst="rect">
            <a:avLst/>
          </a:prstGeom>
        </p:spPr>
      </p:pic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61047244-47FC-12BE-4E11-8451C3098B6E}"/>
              </a:ext>
            </a:extLst>
          </p:cNvPr>
          <p:cNvSpPr txBox="1"/>
          <p:nvPr/>
        </p:nvSpPr>
        <p:spPr>
          <a:xfrm>
            <a:off x="397450" y="5241662"/>
            <a:ext cx="16385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Luís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Zamariolli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Sérgio Negro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Gustavo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2684BA-193B-FF87-ED6F-2CDCB4093D5B}"/>
              </a:ext>
            </a:extLst>
          </p:cNvPr>
          <p:cNvSpPr txBox="1"/>
          <p:nvPr/>
        </p:nvSpPr>
        <p:spPr>
          <a:xfrm>
            <a:off x="1530534" y="101010"/>
            <a:ext cx="81749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Linhas de pesquisa e Potenciais desenvolvimentos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B5D677E-93EC-6348-8FFA-DE4378CA89F4}"/>
              </a:ext>
            </a:extLst>
          </p:cNvPr>
          <p:cNvSpPr txBox="1"/>
          <p:nvPr/>
        </p:nvSpPr>
        <p:spPr>
          <a:xfrm>
            <a:off x="2898005" y="1946200"/>
            <a:ext cx="767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/>
              <a:t>Criação e treinamento de um LLM para auxiliar </a:t>
            </a:r>
            <a:r>
              <a:rPr lang="pt-BR" dirty="0" err="1"/>
              <a:t>cientometria</a:t>
            </a:r>
            <a:r>
              <a:rPr lang="pt-BR" dirty="0"/>
              <a:t> e curadoria na seleção de artigos para aprovação/ reprovação (LLM CC)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CB4A0EC-BCB4-BDD9-CD7F-F5CCB3AAB99B}"/>
              </a:ext>
            </a:extLst>
          </p:cNvPr>
          <p:cNvSpPr txBox="1"/>
          <p:nvPr/>
        </p:nvSpPr>
        <p:spPr>
          <a:xfrm>
            <a:off x="2952572" y="2950287"/>
            <a:ext cx="767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/>
              <a:t>Análise </a:t>
            </a:r>
            <a:r>
              <a:rPr lang="pt-BR" dirty="0" err="1"/>
              <a:t>cientométrica</a:t>
            </a:r>
            <a:r>
              <a:rPr lang="pt-BR" dirty="0"/>
              <a:t> e da curadoria por amostragem, enquanto LLM CC classifica conhecimento agronômico para análise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6064A9E-FD70-17EE-2F39-6AD1717C4F15}"/>
              </a:ext>
            </a:extLst>
          </p:cNvPr>
          <p:cNvSpPr txBox="1"/>
          <p:nvPr/>
        </p:nvSpPr>
        <p:spPr>
          <a:xfrm>
            <a:off x="2952572" y="4145424"/>
            <a:ext cx="767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/>
              <a:t>LLM CC fazer buscas em bases de dados e trazer sugestões para análise </a:t>
            </a:r>
            <a:r>
              <a:rPr lang="pt-BR" dirty="0" err="1"/>
              <a:t>cientométrica</a:t>
            </a:r>
            <a:r>
              <a:rPr lang="pt-BR" dirty="0"/>
              <a:t> e da curadoria.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2CF413-38DE-4801-571E-46C0A5498DEA}"/>
              </a:ext>
            </a:extLst>
          </p:cNvPr>
          <p:cNvSpPr txBox="1"/>
          <p:nvPr/>
        </p:nvSpPr>
        <p:spPr>
          <a:xfrm>
            <a:off x="300959" y="2246965"/>
            <a:ext cx="2159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Captação, qualificação e triagem de conhecimento agronômico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D87BD3D-CF9B-4D43-39A4-E82C1FB78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07941" y="196047"/>
            <a:ext cx="1351785" cy="139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29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9" grpId="0"/>
      <p:bldP spid="37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23EA-363C-5679-AF18-C386D93A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5C3B3A7-3AFD-E215-5771-74A73A79D269}"/>
              </a:ext>
            </a:extLst>
          </p:cNvPr>
          <p:cNvSpPr/>
          <p:nvPr/>
        </p:nvSpPr>
        <p:spPr>
          <a:xfrm>
            <a:off x="322117" y="1194955"/>
            <a:ext cx="2159997" cy="5562035"/>
          </a:xfrm>
          <a:prstGeom prst="roundRect">
            <a:avLst/>
          </a:prstGeom>
          <a:solidFill>
            <a:srgbClr val="90C226">
              <a:alpha val="30196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B57775D-205A-59C8-0CCC-14CA53864E93}"/>
              </a:ext>
            </a:extLst>
          </p:cNvPr>
          <p:cNvSpPr/>
          <p:nvPr/>
        </p:nvSpPr>
        <p:spPr>
          <a:xfrm>
            <a:off x="2578178" y="1194954"/>
            <a:ext cx="2159997" cy="5562035"/>
          </a:xfrm>
          <a:prstGeom prst="roundRect">
            <a:avLst/>
          </a:prstGeom>
          <a:solidFill>
            <a:srgbClr val="00B0F0">
              <a:alpha val="30196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3A784225-BB9B-587E-3AD7-258AFB6BD1E8}"/>
              </a:ext>
            </a:extLst>
          </p:cNvPr>
          <p:cNvSpPr/>
          <p:nvPr/>
        </p:nvSpPr>
        <p:spPr>
          <a:xfrm>
            <a:off x="4834239" y="1165630"/>
            <a:ext cx="2159997" cy="556203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9F331F7A-CC47-36D4-3836-7726CF8A371C}"/>
              </a:ext>
            </a:extLst>
          </p:cNvPr>
          <p:cNvSpPr/>
          <p:nvPr/>
        </p:nvSpPr>
        <p:spPr>
          <a:xfrm>
            <a:off x="7079909" y="1185836"/>
            <a:ext cx="2159997" cy="5562035"/>
          </a:xfrm>
          <a:prstGeom prst="roundRect">
            <a:avLst/>
          </a:prstGeom>
          <a:solidFill>
            <a:srgbClr val="FFFF00">
              <a:alpha val="3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86CF2C76-6C55-B97B-5018-C5FF52D74801}"/>
              </a:ext>
            </a:extLst>
          </p:cNvPr>
          <p:cNvSpPr/>
          <p:nvPr/>
        </p:nvSpPr>
        <p:spPr>
          <a:xfrm>
            <a:off x="9346361" y="117544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62F3A5-7788-33B2-B815-9B0E8BC13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4A28E21-91B2-4FF7-C6D5-71B6A72A9D08}"/>
              </a:ext>
            </a:extLst>
          </p:cNvPr>
          <p:cNvSpPr txBox="1"/>
          <p:nvPr/>
        </p:nvSpPr>
        <p:spPr>
          <a:xfrm>
            <a:off x="875925" y="1291693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E97E450-4E18-E60B-F10D-43E68F56B3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575" y="3273453"/>
            <a:ext cx="1351785" cy="139239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6C59256-E3E8-7B32-B6CB-33C810F66855}"/>
              </a:ext>
            </a:extLst>
          </p:cNvPr>
          <p:cNvSpPr txBox="1"/>
          <p:nvPr/>
        </p:nvSpPr>
        <p:spPr>
          <a:xfrm>
            <a:off x="2578178" y="2219786"/>
            <a:ext cx="2159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Conversão de formatos e estruturação de dados, vetorização e EBR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06C9229-6491-BA44-DE45-EB1629F7198C}"/>
              </a:ext>
            </a:extLst>
          </p:cNvPr>
          <p:cNvSpPr txBox="1"/>
          <p:nvPr/>
        </p:nvSpPr>
        <p:spPr>
          <a:xfrm>
            <a:off x="3088064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02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ACD4C70F-830D-133C-7F1A-B2D164796D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2327" y="3554362"/>
            <a:ext cx="1191698" cy="1111488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A50B4D0E-9790-7E4A-AE22-AE8E89770CD5}"/>
              </a:ext>
            </a:extLst>
          </p:cNvPr>
          <p:cNvSpPr txBox="1"/>
          <p:nvPr/>
        </p:nvSpPr>
        <p:spPr>
          <a:xfrm>
            <a:off x="5285699" y="127056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03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4326930-0278-3D03-3D80-342B89682AB9}"/>
              </a:ext>
            </a:extLst>
          </p:cNvPr>
          <p:cNvSpPr txBox="1"/>
          <p:nvPr/>
        </p:nvSpPr>
        <p:spPr>
          <a:xfrm>
            <a:off x="763581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04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74601815-169B-7DB8-86E9-2292B08E1AA5}"/>
              </a:ext>
            </a:extLst>
          </p:cNvPr>
          <p:cNvSpPr txBox="1"/>
          <p:nvPr/>
        </p:nvSpPr>
        <p:spPr>
          <a:xfrm>
            <a:off x="978878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05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01A1BEA6-9707-E36E-C31F-E8396C08123B}"/>
              </a:ext>
            </a:extLst>
          </p:cNvPr>
          <p:cNvSpPr txBox="1"/>
          <p:nvPr/>
        </p:nvSpPr>
        <p:spPr>
          <a:xfrm>
            <a:off x="4834237" y="2271136"/>
            <a:ext cx="21599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NR, vetorização e EBR</a:t>
            </a:r>
          </a:p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Infraestrutura computacional para o LLM em agronegócios</a:t>
            </a:r>
          </a:p>
        </p:txBody>
      </p:sp>
      <p:pic>
        <p:nvPicPr>
          <p:cNvPr id="83" name="Imagem 82">
            <a:extLst>
              <a:ext uri="{FF2B5EF4-FFF2-40B4-BE49-F238E27FC236}">
                <a16:creationId xmlns:a16="http://schemas.microsoft.com/office/drawing/2014/main" id="{9F540CE7-2A3B-6983-8CD6-DF06C6393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7387" y="3649398"/>
            <a:ext cx="1139727" cy="1337596"/>
          </a:xfrm>
          <a:prstGeom prst="rect">
            <a:avLst/>
          </a:prstGeom>
        </p:spPr>
      </p:pic>
      <p:sp>
        <p:nvSpPr>
          <p:cNvPr id="90" name="CaixaDeTexto 89">
            <a:extLst>
              <a:ext uri="{FF2B5EF4-FFF2-40B4-BE49-F238E27FC236}">
                <a16:creationId xmlns:a16="http://schemas.microsoft.com/office/drawing/2014/main" id="{1C99FC53-0480-9BC0-5422-10C51E069F8E}"/>
              </a:ext>
            </a:extLst>
          </p:cNvPr>
          <p:cNvSpPr txBox="1"/>
          <p:nvPr/>
        </p:nvSpPr>
        <p:spPr>
          <a:xfrm>
            <a:off x="7138332" y="2289108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agronegócio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DBF9D959-5A92-654C-C8F7-B284A253FD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57384" y="3649398"/>
            <a:ext cx="1130803" cy="1079286"/>
          </a:xfrm>
          <a:prstGeom prst="rect">
            <a:avLst/>
          </a:prstGeom>
        </p:spPr>
      </p:pic>
      <p:sp>
        <p:nvSpPr>
          <p:cNvPr id="99" name="CaixaDeTexto 98">
            <a:extLst>
              <a:ext uri="{FF2B5EF4-FFF2-40B4-BE49-F238E27FC236}">
                <a16:creationId xmlns:a16="http://schemas.microsoft.com/office/drawing/2014/main" id="{FCC9DC00-E845-F9D8-D1E6-C30A92DDCA98}"/>
              </a:ext>
            </a:extLst>
          </p:cNvPr>
          <p:cNvSpPr txBox="1"/>
          <p:nvPr/>
        </p:nvSpPr>
        <p:spPr>
          <a:xfrm>
            <a:off x="9371887" y="2271136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agentes inteligentes</a:t>
            </a:r>
          </a:p>
        </p:txBody>
      </p:sp>
      <p:pic>
        <p:nvPicPr>
          <p:cNvPr id="101" name="Imagem 100">
            <a:extLst>
              <a:ext uri="{FF2B5EF4-FFF2-40B4-BE49-F238E27FC236}">
                <a16:creationId xmlns:a16="http://schemas.microsoft.com/office/drawing/2014/main" id="{C80760F6-E2F0-A836-B34C-3B2B20B001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9839570" y="3429000"/>
            <a:ext cx="1224629" cy="1533162"/>
          </a:xfrm>
          <a:prstGeom prst="rect">
            <a:avLst/>
          </a:prstGeom>
        </p:spPr>
      </p:pic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0034CF0B-61E3-FDB7-201C-3A2C84B5ECF0}"/>
              </a:ext>
            </a:extLst>
          </p:cNvPr>
          <p:cNvSpPr txBox="1"/>
          <p:nvPr/>
        </p:nvSpPr>
        <p:spPr>
          <a:xfrm>
            <a:off x="9613822" y="5480488"/>
            <a:ext cx="1625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Hilário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Izaias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0D7F6427-1D2B-BE45-FFE4-87213A28B286}"/>
              </a:ext>
            </a:extLst>
          </p:cNvPr>
          <p:cNvSpPr txBox="1"/>
          <p:nvPr/>
        </p:nvSpPr>
        <p:spPr>
          <a:xfrm>
            <a:off x="7451505" y="5480488"/>
            <a:ext cx="16962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Ricardo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Gomes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2EDE3F61-812D-642F-6558-A510EF18C9A4}"/>
              </a:ext>
            </a:extLst>
          </p:cNvPr>
          <p:cNvSpPr txBox="1"/>
          <p:nvPr/>
        </p:nvSpPr>
        <p:spPr>
          <a:xfrm>
            <a:off x="5005636" y="5477307"/>
            <a:ext cx="15343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Sílvio Barbieri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Jean Acedo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Allan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Siriani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41A97778-8CDE-D3EF-F7F4-6BF46ED1F65F}"/>
              </a:ext>
            </a:extLst>
          </p:cNvPr>
          <p:cNvSpPr txBox="1"/>
          <p:nvPr/>
        </p:nvSpPr>
        <p:spPr>
          <a:xfrm>
            <a:off x="2749575" y="5459706"/>
            <a:ext cx="17940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Dionísio Junior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Leonardo Oliveira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Dirceu Gerardi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B0C59659-D784-3F9F-E194-4159727EAAA6}"/>
              </a:ext>
            </a:extLst>
          </p:cNvPr>
          <p:cNvSpPr txBox="1"/>
          <p:nvPr/>
        </p:nvSpPr>
        <p:spPr>
          <a:xfrm>
            <a:off x="397450" y="5241662"/>
            <a:ext cx="16385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Luís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Zamariolli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Sérgio Negro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Gustavo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8ACE849-2A5A-4EBE-3342-7348085E03A3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0E86EBB-B68D-E54F-595E-456468C499F4}"/>
              </a:ext>
            </a:extLst>
          </p:cNvPr>
          <p:cNvSpPr txBox="1"/>
          <p:nvPr/>
        </p:nvSpPr>
        <p:spPr>
          <a:xfrm>
            <a:off x="300959" y="2246965"/>
            <a:ext cx="2159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Captação, qualificação e triagem de conhecimento agronômico</a:t>
            </a:r>
          </a:p>
        </p:txBody>
      </p:sp>
    </p:spTree>
    <p:extLst>
      <p:ext uri="{BB962C8B-B14F-4D97-AF65-F5344CB8AC3E}">
        <p14:creationId xmlns:p14="http://schemas.microsoft.com/office/powerpoint/2010/main" val="353043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7C159-2FD8-36A2-2115-3F359CCF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D0A8B97-1BFF-91E2-6351-0B3EA9FAD3D1}"/>
              </a:ext>
            </a:extLst>
          </p:cNvPr>
          <p:cNvSpPr/>
          <p:nvPr/>
        </p:nvSpPr>
        <p:spPr>
          <a:xfrm>
            <a:off x="292178" y="1194954"/>
            <a:ext cx="2159997" cy="5562035"/>
          </a:xfrm>
          <a:prstGeom prst="roundRect">
            <a:avLst/>
          </a:prstGeom>
          <a:solidFill>
            <a:srgbClr val="00B0F0">
              <a:alpha val="30196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773A0FB-BD50-EBCB-C3BC-2C6D895A0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108EB03-96F5-3D4B-9FBF-37A8F2626599}"/>
              </a:ext>
            </a:extLst>
          </p:cNvPr>
          <p:cNvSpPr txBox="1"/>
          <p:nvPr/>
        </p:nvSpPr>
        <p:spPr>
          <a:xfrm>
            <a:off x="292178" y="2219786"/>
            <a:ext cx="2159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Conversão de formatos e estruturação de dados,</a:t>
            </a:r>
          </a:p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vetorização e EBR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4E87D77-CB95-D7D5-C9E7-F7BC3DF859E4}"/>
              </a:ext>
            </a:extLst>
          </p:cNvPr>
          <p:cNvSpPr txBox="1"/>
          <p:nvPr/>
        </p:nvSpPr>
        <p:spPr>
          <a:xfrm>
            <a:off x="802064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02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1CAB2AFF-9836-4985-B011-1822E7807D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327" y="3554362"/>
            <a:ext cx="1191698" cy="1111488"/>
          </a:xfrm>
          <a:prstGeom prst="rect">
            <a:avLst/>
          </a:prstGeom>
        </p:spPr>
      </p:pic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779B6F4B-8A0D-13E8-1AC6-C96C2C104FBB}"/>
              </a:ext>
            </a:extLst>
          </p:cNvPr>
          <p:cNvSpPr txBox="1"/>
          <p:nvPr/>
        </p:nvSpPr>
        <p:spPr>
          <a:xfrm>
            <a:off x="463575" y="5459706"/>
            <a:ext cx="17940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Dionísio Junior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Leonardo Oliveira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Dirceu Gerardi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6AA1296-F28E-832F-AD62-F7461F38812A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8F0ABC-8853-CD6C-E63A-13A1833515D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880360" y="2804561"/>
            <a:ext cx="1460348" cy="181223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7815753-EDE7-38DB-CA63-C1CC32C0E19F}"/>
              </a:ext>
            </a:extLst>
          </p:cNvPr>
          <p:cNvSpPr txBox="1"/>
          <p:nvPr/>
        </p:nvSpPr>
        <p:spPr>
          <a:xfrm>
            <a:off x="7189994" y="2342895"/>
            <a:ext cx="2563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[ 0.3, -0.6, 1.0,..., 0.323]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EEEF14A5-D20E-E53B-5DF9-1A5899E59CD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270145" y="2119724"/>
            <a:ext cx="770881" cy="784897"/>
          </a:xfrm>
          <a:prstGeom prst="rect">
            <a:avLst/>
          </a:prstGeom>
        </p:spPr>
      </p:pic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DB1E655A-2755-F23D-90BE-D063CFB2B41F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4210070" y="1912637"/>
            <a:ext cx="292389" cy="1491461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m 20">
            <a:extLst>
              <a:ext uri="{FF2B5EF4-FFF2-40B4-BE49-F238E27FC236}">
                <a16:creationId xmlns:a16="http://schemas.microsoft.com/office/drawing/2014/main" id="{201E7D78-6DD1-5D4B-89EC-C89936FA4E6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046477" y="3351543"/>
            <a:ext cx="1222625" cy="735513"/>
          </a:xfrm>
          <a:prstGeom prst="rect">
            <a:avLst/>
          </a:prstGeom>
        </p:spPr>
      </p:pic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D89B7029-63BD-22F4-92F5-267BE3E84189}"/>
              </a:ext>
            </a:extLst>
          </p:cNvPr>
          <p:cNvCxnSpPr>
            <a:cxnSpLocks/>
            <a:stCxn id="7" idx="3"/>
            <a:endCxn id="21" idx="1"/>
          </p:cNvCxnSpPr>
          <p:nvPr/>
        </p:nvCxnSpPr>
        <p:spPr>
          <a:xfrm>
            <a:off x="4340708" y="3710681"/>
            <a:ext cx="705769" cy="86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6702C4B-1AF0-2450-6FC5-CF96EC68E887}"/>
              </a:ext>
            </a:extLst>
          </p:cNvPr>
          <p:cNvSpPr txBox="1"/>
          <p:nvPr/>
        </p:nvSpPr>
        <p:spPr>
          <a:xfrm>
            <a:off x="7189994" y="3554763"/>
            <a:ext cx="2563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[ 0.8, -0.15, 0.0,..., 0.59]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80781FF-5B54-1DDB-8099-D0036E1E86D4}"/>
              </a:ext>
            </a:extLst>
          </p:cNvPr>
          <p:cNvSpPr/>
          <p:nvPr/>
        </p:nvSpPr>
        <p:spPr>
          <a:xfrm>
            <a:off x="7189994" y="2219786"/>
            <a:ext cx="2563522" cy="58477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47A80B11-CA3B-9675-C5BC-364586FBCD05}"/>
              </a:ext>
            </a:extLst>
          </p:cNvPr>
          <p:cNvSpPr/>
          <p:nvPr/>
        </p:nvSpPr>
        <p:spPr>
          <a:xfrm>
            <a:off x="7189994" y="3426823"/>
            <a:ext cx="2563522" cy="58477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CB6E4243-68F9-C82F-7C7C-ACBF968E3855}"/>
              </a:ext>
            </a:extLst>
          </p:cNvPr>
          <p:cNvCxnSpPr>
            <a:cxnSpLocks/>
            <a:stCxn id="15" idx="3"/>
            <a:endCxn id="26" idx="1"/>
          </p:cNvCxnSpPr>
          <p:nvPr/>
        </p:nvCxnSpPr>
        <p:spPr>
          <a:xfrm>
            <a:off x="6041026" y="2512173"/>
            <a:ext cx="1148968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D7E88D79-560A-7C59-5DB5-CAC49732C69F}"/>
              </a:ext>
            </a:extLst>
          </p:cNvPr>
          <p:cNvCxnSpPr>
            <a:cxnSpLocks/>
            <a:stCxn id="21" idx="3"/>
            <a:endCxn id="28" idx="1"/>
          </p:cNvCxnSpPr>
          <p:nvPr/>
        </p:nvCxnSpPr>
        <p:spPr>
          <a:xfrm flipV="1">
            <a:off x="6269102" y="3719211"/>
            <a:ext cx="920892" cy="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uxograma: Disco Magnético 35">
            <a:extLst>
              <a:ext uri="{FF2B5EF4-FFF2-40B4-BE49-F238E27FC236}">
                <a16:creationId xmlns:a16="http://schemas.microsoft.com/office/drawing/2014/main" id="{3689FBC3-5D79-463F-FA49-87984FF1EB8C}"/>
              </a:ext>
            </a:extLst>
          </p:cNvPr>
          <p:cNvSpPr/>
          <p:nvPr/>
        </p:nvSpPr>
        <p:spPr>
          <a:xfrm>
            <a:off x="10691998" y="2250046"/>
            <a:ext cx="1222625" cy="1686670"/>
          </a:xfrm>
          <a:prstGeom prst="flowChartMagneticDisk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8D9FB98F-FD3D-6390-BFD2-8D3C09105D9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23202" y="3087869"/>
            <a:ext cx="1153469" cy="310044"/>
          </a:xfrm>
          <a:prstGeom prst="rect">
            <a:avLst/>
          </a:prstGeom>
        </p:spPr>
      </p:pic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6C9DCB06-667F-196F-6D37-27A05A7B1B48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753516" y="2512174"/>
            <a:ext cx="93848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150DD51A-EE89-D5B0-85C3-0C71E98343C9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9753516" y="3719211"/>
            <a:ext cx="96968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6700BAAA-FA43-B677-81C9-393C39BBCE96}"/>
              </a:ext>
            </a:extLst>
          </p:cNvPr>
          <p:cNvSpPr txBox="1"/>
          <p:nvPr/>
        </p:nvSpPr>
        <p:spPr>
          <a:xfrm>
            <a:off x="3891994" y="2104046"/>
            <a:ext cx="1048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Extração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D34421-F30D-F344-E72F-8EBACC9ECE0C}"/>
              </a:ext>
            </a:extLst>
          </p:cNvPr>
          <p:cNvSpPr txBox="1"/>
          <p:nvPr/>
        </p:nvSpPr>
        <p:spPr>
          <a:xfrm>
            <a:off x="4169249" y="3842321"/>
            <a:ext cx="1048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Extração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171BDF-F17E-16C9-D8A1-A8D3D7394FDE}"/>
              </a:ext>
            </a:extLst>
          </p:cNvPr>
          <p:cNvSpPr txBox="1"/>
          <p:nvPr/>
        </p:nvSpPr>
        <p:spPr>
          <a:xfrm>
            <a:off x="6002426" y="1777339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vetorização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671372C-8E9C-925E-C9C8-179666D44365}"/>
              </a:ext>
            </a:extLst>
          </p:cNvPr>
          <p:cNvSpPr txBox="1"/>
          <p:nvPr/>
        </p:nvSpPr>
        <p:spPr>
          <a:xfrm>
            <a:off x="6085615" y="4153896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vetorização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146CA5F-864B-5988-5AAC-ABBB8E65DA45}"/>
              </a:ext>
            </a:extLst>
          </p:cNvPr>
          <p:cNvSpPr txBox="1"/>
          <p:nvPr/>
        </p:nvSpPr>
        <p:spPr>
          <a:xfrm>
            <a:off x="9552677" y="1765815"/>
            <a:ext cx="192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armazenamento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FAABD13-830C-D129-2414-ECCB20054422}"/>
              </a:ext>
            </a:extLst>
          </p:cNvPr>
          <p:cNvSpPr txBox="1"/>
          <p:nvPr/>
        </p:nvSpPr>
        <p:spPr>
          <a:xfrm>
            <a:off x="9503607" y="4247468"/>
            <a:ext cx="192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armazenamento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1F1FAB82-BA29-60F1-D51F-B5F90328BF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65569" y="352191"/>
            <a:ext cx="1191698" cy="111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3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CEB82-EDFD-9C7D-1E8C-48C909E9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E837381-8702-8A2A-338F-CF589DA13B06}"/>
              </a:ext>
            </a:extLst>
          </p:cNvPr>
          <p:cNvSpPr/>
          <p:nvPr/>
        </p:nvSpPr>
        <p:spPr>
          <a:xfrm>
            <a:off x="292178" y="1194954"/>
            <a:ext cx="2159997" cy="5562035"/>
          </a:xfrm>
          <a:prstGeom prst="roundRect">
            <a:avLst/>
          </a:prstGeom>
          <a:solidFill>
            <a:srgbClr val="00B0F0">
              <a:alpha val="30196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1346EF2-53AC-F5E6-5BF9-D201C113D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988DD9B-8675-7F74-22E6-9E9CAB45B30F}"/>
              </a:ext>
            </a:extLst>
          </p:cNvPr>
          <p:cNvSpPr txBox="1"/>
          <p:nvPr/>
        </p:nvSpPr>
        <p:spPr>
          <a:xfrm>
            <a:off x="802064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02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15F529F7-7A40-DD0B-AC74-BAC3749DFD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327" y="3554362"/>
            <a:ext cx="1191698" cy="1111488"/>
          </a:xfrm>
          <a:prstGeom prst="rect">
            <a:avLst/>
          </a:prstGeom>
        </p:spPr>
      </p:pic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5041F65B-D8A9-6FB3-6B6D-0C0ED6E7E7A9}"/>
              </a:ext>
            </a:extLst>
          </p:cNvPr>
          <p:cNvSpPr txBox="1"/>
          <p:nvPr/>
        </p:nvSpPr>
        <p:spPr>
          <a:xfrm>
            <a:off x="463575" y="5459706"/>
            <a:ext cx="17940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Dionísio Junior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Leonardo Oliveira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Dirceu Gerardi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42A6BF-7D5B-91FD-7839-DEA36DE4DC43}"/>
              </a:ext>
            </a:extLst>
          </p:cNvPr>
          <p:cNvSpPr txBox="1"/>
          <p:nvPr/>
        </p:nvSpPr>
        <p:spPr>
          <a:xfrm>
            <a:off x="1530534" y="101010"/>
            <a:ext cx="83621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Linhas de pesquisa e Potenciais desenvolvimentos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1C43AE1-E581-8261-5917-709B9EE39F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58640" y="2804561"/>
            <a:ext cx="1460348" cy="181223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78FFEC0-56B6-157B-D218-242660925B25}"/>
              </a:ext>
            </a:extLst>
          </p:cNvPr>
          <p:cNvSpPr txBox="1"/>
          <p:nvPr/>
        </p:nvSpPr>
        <p:spPr>
          <a:xfrm>
            <a:off x="8089154" y="2342895"/>
            <a:ext cx="2563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[ 0.3, -0.6, 1.0,..., 0.323]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4519417-2B51-E83F-0F5D-E061E78850A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687465" y="2119724"/>
            <a:ext cx="770881" cy="784897"/>
          </a:xfrm>
          <a:prstGeom prst="rect">
            <a:avLst/>
          </a:prstGeom>
        </p:spPr>
      </p:pic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3DEBEC8D-8FDE-9B03-5FF4-ED31CE7DD186}"/>
              </a:ext>
            </a:extLst>
          </p:cNvPr>
          <p:cNvCxnSpPr>
            <a:cxnSpLocks/>
            <a:stCxn id="7" idx="0"/>
            <a:endCxn id="15" idx="1"/>
          </p:cNvCxnSpPr>
          <p:nvPr/>
        </p:nvCxnSpPr>
        <p:spPr>
          <a:xfrm rot="5400000" flipH="1" flipV="1">
            <a:off x="5741945" y="1859042"/>
            <a:ext cx="292388" cy="1598651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m 20">
            <a:extLst>
              <a:ext uri="{FF2B5EF4-FFF2-40B4-BE49-F238E27FC236}">
                <a16:creationId xmlns:a16="http://schemas.microsoft.com/office/drawing/2014/main" id="{3E7AAB2D-AC2E-E3E4-C99A-BE531FB2575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63797" y="3351543"/>
            <a:ext cx="1222625" cy="735513"/>
          </a:xfrm>
          <a:prstGeom prst="rect">
            <a:avLst/>
          </a:prstGeom>
        </p:spPr>
      </p:pic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A53E360B-C553-5252-B49E-FE9E5A6E8CD8}"/>
              </a:ext>
            </a:extLst>
          </p:cNvPr>
          <p:cNvCxnSpPr>
            <a:cxnSpLocks/>
            <a:stCxn id="7" idx="3"/>
            <a:endCxn id="21" idx="1"/>
          </p:cNvCxnSpPr>
          <p:nvPr/>
        </p:nvCxnSpPr>
        <p:spPr>
          <a:xfrm>
            <a:off x="5818988" y="3710681"/>
            <a:ext cx="644809" cy="86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E52C8FB-0272-C41E-C8B8-F5E315F46E5D}"/>
              </a:ext>
            </a:extLst>
          </p:cNvPr>
          <p:cNvSpPr txBox="1"/>
          <p:nvPr/>
        </p:nvSpPr>
        <p:spPr>
          <a:xfrm>
            <a:off x="8089154" y="3554763"/>
            <a:ext cx="2563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[ 0.8, -0.15, 0.0,..., 0.59]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24F6348C-7473-1A92-4ADD-2ADD270B3B46}"/>
              </a:ext>
            </a:extLst>
          </p:cNvPr>
          <p:cNvSpPr/>
          <p:nvPr/>
        </p:nvSpPr>
        <p:spPr>
          <a:xfrm>
            <a:off x="8089154" y="2219786"/>
            <a:ext cx="2563522" cy="58477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F7183D9F-CC6D-AF68-921F-F26BC92CC058}"/>
              </a:ext>
            </a:extLst>
          </p:cNvPr>
          <p:cNvSpPr/>
          <p:nvPr/>
        </p:nvSpPr>
        <p:spPr>
          <a:xfrm>
            <a:off x="8089154" y="3426823"/>
            <a:ext cx="2563522" cy="58477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1A02A085-E27E-8470-0618-0E9170662332}"/>
              </a:ext>
            </a:extLst>
          </p:cNvPr>
          <p:cNvCxnSpPr>
            <a:cxnSpLocks/>
            <a:stCxn id="15" idx="3"/>
            <a:endCxn id="26" idx="1"/>
          </p:cNvCxnSpPr>
          <p:nvPr/>
        </p:nvCxnSpPr>
        <p:spPr>
          <a:xfrm>
            <a:off x="7458346" y="2512173"/>
            <a:ext cx="630808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22A9ACF6-156B-9F4A-204A-3872468D1D13}"/>
              </a:ext>
            </a:extLst>
          </p:cNvPr>
          <p:cNvCxnSpPr>
            <a:cxnSpLocks/>
            <a:stCxn id="21" idx="3"/>
            <a:endCxn id="28" idx="1"/>
          </p:cNvCxnSpPr>
          <p:nvPr/>
        </p:nvCxnSpPr>
        <p:spPr>
          <a:xfrm flipV="1">
            <a:off x="7686422" y="3719211"/>
            <a:ext cx="402732" cy="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uxograma: Disco Magnético 35">
            <a:extLst>
              <a:ext uri="{FF2B5EF4-FFF2-40B4-BE49-F238E27FC236}">
                <a16:creationId xmlns:a16="http://schemas.microsoft.com/office/drawing/2014/main" id="{C92AA89F-0BEE-7C15-8FF2-882B62DF6730}"/>
              </a:ext>
            </a:extLst>
          </p:cNvPr>
          <p:cNvSpPr/>
          <p:nvPr/>
        </p:nvSpPr>
        <p:spPr>
          <a:xfrm>
            <a:off x="10859638" y="2250046"/>
            <a:ext cx="1222625" cy="1686670"/>
          </a:xfrm>
          <a:prstGeom prst="flowChartMagneticDisk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58BD5116-70D7-040E-31E1-6D86BDC5FE2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890842" y="3087869"/>
            <a:ext cx="1153469" cy="310044"/>
          </a:xfrm>
          <a:prstGeom prst="rect">
            <a:avLst/>
          </a:prstGeom>
        </p:spPr>
      </p:pic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EB88695E-6E20-D63D-8009-7626021B689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10652676" y="2512174"/>
            <a:ext cx="23816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D7CBB87C-80F6-F09E-4785-4056957443C6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10652676" y="3719211"/>
            <a:ext cx="23816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89A29EEC-7175-2683-3638-1FA5D07EFD9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368205" y="4454724"/>
            <a:ext cx="1409400" cy="74604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825E300B-9A4D-42B6-A29E-9F57089EF80F}"/>
              </a:ext>
            </a:extLst>
          </p:cNvPr>
          <p:cNvSpPr txBox="1"/>
          <p:nvPr/>
        </p:nvSpPr>
        <p:spPr>
          <a:xfrm>
            <a:off x="8045330" y="4643518"/>
            <a:ext cx="2563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[ 0.8, -0.15, 0.0,..., 0.59]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6B6587A-DF50-FEF9-EC48-3CEB6FFA8C4E}"/>
              </a:ext>
            </a:extLst>
          </p:cNvPr>
          <p:cNvSpPr/>
          <p:nvPr/>
        </p:nvSpPr>
        <p:spPr>
          <a:xfrm>
            <a:off x="8045330" y="4515578"/>
            <a:ext cx="2563522" cy="58477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80396465-D3A5-8DB0-1F7B-C82B69032D82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7642598" y="4807966"/>
            <a:ext cx="402732" cy="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E7052FD3-68BB-E9DD-5DD8-C682C9D468D9}"/>
              </a:ext>
            </a:extLst>
          </p:cNvPr>
          <p:cNvCxnSpPr>
            <a:cxnSpLocks/>
            <a:stCxn id="14" idx="3"/>
            <a:endCxn id="36" idx="3"/>
          </p:cNvCxnSpPr>
          <p:nvPr/>
        </p:nvCxnSpPr>
        <p:spPr>
          <a:xfrm flipV="1">
            <a:off x="10608852" y="3936716"/>
            <a:ext cx="862099" cy="871250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id="{BB5AE028-A704-0453-7DB9-B742A707B4EC}"/>
              </a:ext>
            </a:extLst>
          </p:cNvPr>
          <p:cNvCxnSpPr>
            <a:cxnSpLocks/>
            <a:stCxn id="7" idx="2"/>
            <a:endCxn id="12" idx="1"/>
          </p:cNvCxnSpPr>
          <p:nvPr/>
        </p:nvCxnSpPr>
        <p:spPr>
          <a:xfrm rot="16200000" flipH="1">
            <a:off x="5623036" y="4082577"/>
            <a:ext cx="210947" cy="1279391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94D3297-D8AD-B953-5047-8915504AD8E1}"/>
              </a:ext>
            </a:extLst>
          </p:cNvPr>
          <p:cNvSpPr txBox="1"/>
          <p:nvPr/>
        </p:nvSpPr>
        <p:spPr>
          <a:xfrm>
            <a:off x="8089154" y="5517865"/>
            <a:ext cx="2563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[ 0.8, -0.15, 0.0,..., 0.59]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AF2DB817-593A-47A3-E78E-8D61F37B3DBB}"/>
              </a:ext>
            </a:extLst>
          </p:cNvPr>
          <p:cNvSpPr/>
          <p:nvPr/>
        </p:nvSpPr>
        <p:spPr>
          <a:xfrm>
            <a:off x="8089154" y="5389925"/>
            <a:ext cx="2563522" cy="58477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703A5F0E-B74E-9E83-6BD6-2CEA53A7F339}"/>
              </a:ext>
            </a:extLst>
          </p:cNvPr>
          <p:cNvCxnSpPr>
            <a:cxnSpLocks/>
            <a:stCxn id="47" idx="3"/>
            <a:endCxn id="38" idx="1"/>
          </p:cNvCxnSpPr>
          <p:nvPr/>
        </p:nvCxnSpPr>
        <p:spPr>
          <a:xfrm flipV="1">
            <a:off x="7372652" y="5682313"/>
            <a:ext cx="716502" cy="160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4DF8C5DF-8176-52C0-DCB1-7D5D7D8D4EC9}"/>
              </a:ext>
            </a:extLst>
          </p:cNvPr>
          <p:cNvCxnSpPr>
            <a:cxnSpLocks/>
            <a:stCxn id="38" idx="3"/>
            <a:endCxn id="36" idx="3"/>
          </p:cNvCxnSpPr>
          <p:nvPr/>
        </p:nvCxnSpPr>
        <p:spPr>
          <a:xfrm flipV="1">
            <a:off x="10652676" y="3936716"/>
            <a:ext cx="818275" cy="1745597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F7B824CC-AAD0-71C8-E705-7C99F1757AD9}"/>
              </a:ext>
            </a:extLst>
          </p:cNvPr>
          <p:cNvCxnSpPr>
            <a:cxnSpLocks/>
            <a:stCxn id="7" idx="2"/>
            <a:endCxn id="47" idx="1"/>
          </p:cNvCxnSpPr>
          <p:nvPr/>
        </p:nvCxnSpPr>
        <p:spPr>
          <a:xfrm rot="16200000" flipH="1">
            <a:off x="5371207" y="4334407"/>
            <a:ext cx="1081601" cy="164638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m 46">
            <a:extLst>
              <a:ext uri="{FF2B5EF4-FFF2-40B4-BE49-F238E27FC236}">
                <a16:creationId xmlns:a16="http://schemas.microsoft.com/office/drawing/2014/main" id="{2D74B6A1-54C7-A72C-017E-952EB12495B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735200" y="5325423"/>
            <a:ext cx="637452" cy="745955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0E5C4280-0266-0D6B-2E1B-32672D416CA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803235" y="1681098"/>
            <a:ext cx="1486252" cy="996941"/>
          </a:xfrm>
          <a:prstGeom prst="rect">
            <a:avLst/>
          </a:prstGeom>
        </p:spPr>
      </p:pic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12453D15-3053-ACF3-389F-455513E6E45D}"/>
              </a:ext>
            </a:extLst>
          </p:cNvPr>
          <p:cNvCxnSpPr>
            <a:cxnSpLocks/>
            <a:stCxn id="54" idx="2"/>
            <a:endCxn id="7" idx="1"/>
          </p:cNvCxnSpPr>
          <p:nvPr/>
        </p:nvCxnSpPr>
        <p:spPr>
          <a:xfrm rot="16200000" flipH="1">
            <a:off x="3436179" y="2788220"/>
            <a:ext cx="1032642" cy="812279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E7CF8A44-469E-5690-D9CB-14810E6DF49D}"/>
              </a:ext>
            </a:extLst>
          </p:cNvPr>
          <p:cNvSpPr txBox="1"/>
          <p:nvPr/>
        </p:nvSpPr>
        <p:spPr>
          <a:xfrm>
            <a:off x="254226" y="2299504"/>
            <a:ext cx="2159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Conversão de formatos e estruturação de dados, vetorização e EBR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C79A372-4357-0069-3045-9D437EA03A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94993" y="324715"/>
            <a:ext cx="1191698" cy="111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3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13" grpId="0"/>
      <p:bldP spid="14" grpId="0" animBg="1"/>
      <p:bldP spid="37" grpId="0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66117-308F-B25D-7C0C-883E3DE4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10BAB0C-2A21-86FC-C27A-D8775FA60C11}"/>
              </a:ext>
            </a:extLst>
          </p:cNvPr>
          <p:cNvSpPr/>
          <p:nvPr/>
        </p:nvSpPr>
        <p:spPr>
          <a:xfrm>
            <a:off x="322117" y="1194955"/>
            <a:ext cx="2159997" cy="5562035"/>
          </a:xfrm>
          <a:prstGeom prst="roundRect">
            <a:avLst/>
          </a:prstGeom>
          <a:solidFill>
            <a:srgbClr val="90C226">
              <a:alpha val="30196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BC78AB26-50D4-B6BC-8026-30357A07761E}"/>
              </a:ext>
            </a:extLst>
          </p:cNvPr>
          <p:cNvSpPr/>
          <p:nvPr/>
        </p:nvSpPr>
        <p:spPr>
          <a:xfrm>
            <a:off x="2578178" y="1194954"/>
            <a:ext cx="2159997" cy="5562035"/>
          </a:xfrm>
          <a:prstGeom prst="roundRect">
            <a:avLst/>
          </a:prstGeom>
          <a:solidFill>
            <a:srgbClr val="00B0F0">
              <a:alpha val="30196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85C1694F-A17A-6AEA-3506-347A0B892E3E}"/>
              </a:ext>
            </a:extLst>
          </p:cNvPr>
          <p:cNvSpPr/>
          <p:nvPr/>
        </p:nvSpPr>
        <p:spPr>
          <a:xfrm>
            <a:off x="4834239" y="1165630"/>
            <a:ext cx="2159997" cy="556203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86BAA4FF-5725-B5B7-45BA-00B486E8DDB5}"/>
              </a:ext>
            </a:extLst>
          </p:cNvPr>
          <p:cNvSpPr/>
          <p:nvPr/>
        </p:nvSpPr>
        <p:spPr>
          <a:xfrm>
            <a:off x="7079909" y="1185836"/>
            <a:ext cx="2159997" cy="5562035"/>
          </a:xfrm>
          <a:prstGeom prst="roundRect">
            <a:avLst/>
          </a:prstGeom>
          <a:solidFill>
            <a:srgbClr val="FFFF00">
              <a:alpha val="3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B1E607B5-AD56-8882-B31E-66F5205D258A}"/>
              </a:ext>
            </a:extLst>
          </p:cNvPr>
          <p:cNvSpPr/>
          <p:nvPr/>
        </p:nvSpPr>
        <p:spPr>
          <a:xfrm>
            <a:off x="9346361" y="117544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59E0843-A7E6-0A2E-F4DA-67FD9B6CC0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D8B53C5-1F6C-8A5F-AB37-5CA8B28AD6E4}"/>
              </a:ext>
            </a:extLst>
          </p:cNvPr>
          <p:cNvSpPr txBox="1"/>
          <p:nvPr/>
        </p:nvSpPr>
        <p:spPr>
          <a:xfrm>
            <a:off x="875925" y="1291693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B535565-F9EB-904F-BBB5-0D00A47CC5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575" y="3273453"/>
            <a:ext cx="1351785" cy="139239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4BD538D-E339-EA25-7DB2-C1797F2230FC}"/>
              </a:ext>
            </a:extLst>
          </p:cNvPr>
          <p:cNvSpPr txBox="1"/>
          <p:nvPr/>
        </p:nvSpPr>
        <p:spPr>
          <a:xfrm>
            <a:off x="2578178" y="2219786"/>
            <a:ext cx="2159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Conversão de formatos e estruturação de dados, vetorização e EBR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72409AD-5842-5566-E7CE-69F4B8B6AF6C}"/>
              </a:ext>
            </a:extLst>
          </p:cNvPr>
          <p:cNvSpPr txBox="1"/>
          <p:nvPr/>
        </p:nvSpPr>
        <p:spPr>
          <a:xfrm>
            <a:off x="3088064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02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766E9AEB-49EF-E3A3-4C26-944FF9930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2327" y="3554362"/>
            <a:ext cx="1191698" cy="1111488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D47EE9EC-C60E-76A1-8AF7-FCFAF2EE8DA6}"/>
              </a:ext>
            </a:extLst>
          </p:cNvPr>
          <p:cNvSpPr txBox="1"/>
          <p:nvPr/>
        </p:nvSpPr>
        <p:spPr>
          <a:xfrm>
            <a:off x="5285699" y="127056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03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8E1CDA6-A07D-A68C-908C-0B9AD1FF33FF}"/>
              </a:ext>
            </a:extLst>
          </p:cNvPr>
          <p:cNvSpPr txBox="1"/>
          <p:nvPr/>
        </p:nvSpPr>
        <p:spPr>
          <a:xfrm>
            <a:off x="763581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04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B58FC8AE-A1CD-344E-DF0C-AF9667A0DD2E}"/>
              </a:ext>
            </a:extLst>
          </p:cNvPr>
          <p:cNvSpPr txBox="1"/>
          <p:nvPr/>
        </p:nvSpPr>
        <p:spPr>
          <a:xfrm>
            <a:off x="978878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05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89EB16AB-0C47-7075-BC64-3F0BBB687CBB}"/>
              </a:ext>
            </a:extLst>
          </p:cNvPr>
          <p:cNvSpPr txBox="1"/>
          <p:nvPr/>
        </p:nvSpPr>
        <p:spPr>
          <a:xfrm>
            <a:off x="4834237" y="2271136"/>
            <a:ext cx="21599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NR, vetorização e EBR</a:t>
            </a:r>
          </a:p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Infraestrutura computacional para o LLM em agronegócios</a:t>
            </a:r>
          </a:p>
        </p:txBody>
      </p:sp>
      <p:pic>
        <p:nvPicPr>
          <p:cNvPr id="83" name="Imagem 82">
            <a:extLst>
              <a:ext uri="{FF2B5EF4-FFF2-40B4-BE49-F238E27FC236}">
                <a16:creationId xmlns:a16="http://schemas.microsoft.com/office/drawing/2014/main" id="{B72B7FB0-8CF8-E845-AC13-C6D60473CC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7387" y="3649398"/>
            <a:ext cx="1139727" cy="1337596"/>
          </a:xfrm>
          <a:prstGeom prst="rect">
            <a:avLst/>
          </a:prstGeom>
        </p:spPr>
      </p:pic>
      <p:sp>
        <p:nvSpPr>
          <p:cNvPr id="90" name="CaixaDeTexto 89">
            <a:extLst>
              <a:ext uri="{FF2B5EF4-FFF2-40B4-BE49-F238E27FC236}">
                <a16:creationId xmlns:a16="http://schemas.microsoft.com/office/drawing/2014/main" id="{2525B8CD-853D-C743-F006-92BF25CB3763}"/>
              </a:ext>
            </a:extLst>
          </p:cNvPr>
          <p:cNvSpPr txBox="1"/>
          <p:nvPr/>
        </p:nvSpPr>
        <p:spPr>
          <a:xfrm>
            <a:off x="7138332" y="2289108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agronegócio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BF68E38C-E62E-6FA0-1D46-AB15C9846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57384" y="3649398"/>
            <a:ext cx="1130803" cy="1079286"/>
          </a:xfrm>
          <a:prstGeom prst="rect">
            <a:avLst/>
          </a:prstGeom>
        </p:spPr>
      </p:pic>
      <p:sp>
        <p:nvSpPr>
          <p:cNvPr id="99" name="CaixaDeTexto 98">
            <a:extLst>
              <a:ext uri="{FF2B5EF4-FFF2-40B4-BE49-F238E27FC236}">
                <a16:creationId xmlns:a16="http://schemas.microsoft.com/office/drawing/2014/main" id="{C1118352-6119-0A7C-EF07-98A418057BD0}"/>
              </a:ext>
            </a:extLst>
          </p:cNvPr>
          <p:cNvSpPr txBox="1"/>
          <p:nvPr/>
        </p:nvSpPr>
        <p:spPr>
          <a:xfrm>
            <a:off x="9371887" y="2271136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agentes inteligentes</a:t>
            </a:r>
          </a:p>
        </p:txBody>
      </p:sp>
      <p:pic>
        <p:nvPicPr>
          <p:cNvPr id="101" name="Imagem 100">
            <a:extLst>
              <a:ext uri="{FF2B5EF4-FFF2-40B4-BE49-F238E27FC236}">
                <a16:creationId xmlns:a16="http://schemas.microsoft.com/office/drawing/2014/main" id="{EE3960EC-E3BF-A4DF-C573-FA726425AA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9839570" y="3429000"/>
            <a:ext cx="1224629" cy="1533162"/>
          </a:xfrm>
          <a:prstGeom prst="rect">
            <a:avLst/>
          </a:prstGeom>
        </p:spPr>
      </p:pic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413BC59C-2E1A-00B1-F56C-D8BE821E2FD0}"/>
              </a:ext>
            </a:extLst>
          </p:cNvPr>
          <p:cNvSpPr txBox="1"/>
          <p:nvPr/>
        </p:nvSpPr>
        <p:spPr>
          <a:xfrm>
            <a:off x="9613822" y="5480488"/>
            <a:ext cx="1625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Hilário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Izaias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A736ED2D-1591-56B6-ED5B-94D4599504AD}"/>
              </a:ext>
            </a:extLst>
          </p:cNvPr>
          <p:cNvSpPr txBox="1"/>
          <p:nvPr/>
        </p:nvSpPr>
        <p:spPr>
          <a:xfrm>
            <a:off x="7451505" y="5480488"/>
            <a:ext cx="16962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Ricardo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Gomes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9D184393-6C67-002E-1EAC-F49C8FC31609}"/>
              </a:ext>
            </a:extLst>
          </p:cNvPr>
          <p:cNvSpPr txBox="1"/>
          <p:nvPr/>
        </p:nvSpPr>
        <p:spPr>
          <a:xfrm>
            <a:off x="5005636" y="5477307"/>
            <a:ext cx="15343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Sílvio Barbieri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Jean Acedo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Allan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Siriani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EDFA2075-7BFB-69FA-9637-77F7150DA909}"/>
              </a:ext>
            </a:extLst>
          </p:cNvPr>
          <p:cNvSpPr txBox="1"/>
          <p:nvPr/>
        </p:nvSpPr>
        <p:spPr>
          <a:xfrm>
            <a:off x="2749575" y="5459706"/>
            <a:ext cx="17940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Dionísio Junior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Leonardo Oliveira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Dirceu Gerardi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04930BD8-55DC-4A2F-BB61-F87413540F1D}"/>
              </a:ext>
            </a:extLst>
          </p:cNvPr>
          <p:cNvSpPr txBox="1"/>
          <p:nvPr/>
        </p:nvSpPr>
        <p:spPr>
          <a:xfrm>
            <a:off x="397450" y="5241662"/>
            <a:ext cx="16385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Luís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Zamariolli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Sérgio Negro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Gustavo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43943FE-EA67-EF3A-CB73-0B2E66DB5009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99463F1-9038-DDB4-9360-9E993FAF858C}"/>
              </a:ext>
            </a:extLst>
          </p:cNvPr>
          <p:cNvSpPr txBox="1"/>
          <p:nvPr/>
        </p:nvSpPr>
        <p:spPr>
          <a:xfrm>
            <a:off x="300959" y="2246965"/>
            <a:ext cx="2159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Captação, qualificação e triagem de conhecimento agronômico</a:t>
            </a:r>
          </a:p>
        </p:txBody>
      </p:sp>
    </p:spTree>
    <p:extLst>
      <p:ext uri="{BB962C8B-B14F-4D97-AF65-F5344CB8AC3E}">
        <p14:creationId xmlns:p14="http://schemas.microsoft.com/office/powerpoint/2010/main" val="119674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C39AD-76B2-81A7-C51A-86B2E403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24161A18-B94E-C501-FDC2-3D5C4AEAA048}"/>
              </a:ext>
            </a:extLst>
          </p:cNvPr>
          <p:cNvSpPr/>
          <p:nvPr/>
        </p:nvSpPr>
        <p:spPr>
          <a:xfrm>
            <a:off x="102219" y="1165630"/>
            <a:ext cx="2159997" cy="556203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1F521F-A3DB-9B7F-4A99-DE36314A4C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E62EA4AC-1425-7B8D-AAE7-A7B639E56033}"/>
              </a:ext>
            </a:extLst>
          </p:cNvPr>
          <p:cNvSpPr txBox="1"/>
          <p:nvPr/>
        </p:nvSpPr>
        <p:spPr>
          <a:xfrm>
            <a:off x="553679" y="127056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03</a:t>
            </a:r>
          </a:p>
        </p:txBody>
      </p:sp>
      <p:pic>
        <p:nvPicPr>
          <p:cNvPr id="83" name="Imagem 82">
            <a:extLst>
              <a:ext uri="{FF2B5EF4-FFF2-40B4-BE49-F238E27FC236}">
                <a16:creationId xmlns:a16="http://schemas.microsoft.com/office/drawing/2014/main" id="{0ACC79AF-B6EC-9EFC-7CFE-7F86FEA0E1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5367" y="3649398"/>
            <a:ext cx="1139727" cy="1337596"/>
          </a:xfrm>
          <a:prstGeom prst="rect">
            <a:avLst/>
          </a:prstGeom>
        </p:spPr>
      </p:pic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387489D6-5D13-211C-46A9-FCAA43C5CB55}"/>
              </a:ext>
            </a:extLst>
          </p:cNvPr>
          <p:cNvSpPr txBox="1"/>
          <p:nvPr/>
        </p:nvSpPr>
        <p:spPr>
          <a:xfrm>
            <a:off x="273616" y="5477307"/>
            <a:ext cx="15343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Sílvio Barbieri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Jean Acedo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Allan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Siriani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AD4EEC-91EA-3B63-7F68-7D35E49ECBE6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D5EED8D-FE5D-FC2D-6426-F76774F21D7F}"/>
              </a:ext>
            </a:extLst>
          </p:cNvPr>
          <p:cNvSpPr/>
          <p:nvPr/>
        </p:nvSpPr>
        <p:spPr>
          <a:xfrm>
            <a:off x="3108960" y="3191191"/>
            <a:ext cx="1676400" cy="793487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1484F0-C3B9-02F5-ABEB-7C5E2E31EBF7}"/>
              </a:ext>
            </a:extLst>
          </p:cNvPr>
          <p:cNvSpPr txBox="1"/>
          <p:nvPr/>
        </p:nvSpPr>
        <p:spPr>
          <a:xfrm>
            <a:off x="3418810" y="3403268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DATASET</a:t>
            </a:r>
          </a:p>
        </p:txBody>
      </p:sp>
      <p:sp>
        <p:nvSpPr>
          <p:cNvPr id="11" name="Fluxograma: Disco Magnético 10">
            <a:extLst>
              <a:ext uri="{FF2B5EF4-FFF2-40B4-BE49-F238E27FC236}">
                <a16:creationId xmlns:a16="http://schemas.microsoft.com/office/drawing/2014/main" id="{BB2DF8C4-E19F-F0E3-C35C-F0AA0C849DD6}"/>
              </a:ext>
            </a:extLst>
          </p:cNvPr>
          <p:cNvSpPr/>
          <p:nvPr/>
        </p:nvSpPr>
        <p:spPr>
          <a:xfrm>
            <a:off x="5924955" y="984572"/>
            <a:ext cx="856845" cy="793487"/>
          </a:xfrm>
          <a:prstGeom prst="flowChartMagneticDisk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Fluxograma: Disco Magnético 12">
            <a:extLst>
              <a:ext uri="{FF2B5EF4-FFF2-40B4-BE49-F238E27FC236}">
                <a16:creationId xmlns:a16="http://schemas.microsoft.com/office/drawing/2014/main" id="{010C9A90-69C2-EFC4-62EE-5B90EA780450}"/>
              </a:ext>
            </a:extLst>
          </p:cNvPr>
          <p:cNvSpPr/>
          <p:nvPr/>
        </p:nvSpPr>
        <p:spPr>
          <a:xfrm>
            <a:off x="5924955" y="2063430"/>
            <a:ext cx="856845" cy="793487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Fluxograma: Disco Magnético 13">
            <a:extLst>
              <a:ext uri="{FF2B5EF4-FFF2-40B4-BE49-F238E27FC236}">
                <a16:creationId xmlns:a16="http://schemas.microsoft.com/office/drawing/2014/main" id="{20B839F7-CF75-0D3E-752B-05812DDB9131}"/>
              </a:ext>
            </a:extLst>
          </p:cNvPr>
          <p:cNvSpPr/>
          <p:nvPr/>
        </p:nvSpPr>
        <p:spPr>
          <a:xfrm>
            <a:off x="5924955" y="3154167"/>
            <a:ext cx="856845" cy="793487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Fluxograma: Disco Magnético 14">
            <a:extLst>
              <a:ext uri="{FF2B5EF4-FFF2-40B4-BE49-F238E27FC236}">
                <a16:creationId xmlns:a16="http://schemas.microsoft.com/office/drawing/2014/main" id="{854DC4FA-2700-57CF-FDB0-E5EB5F4BA722}"/>
              </a:ext>
            </a:extLst>
          </p:cNvPr>
          <p:cNvSpPr/>
          <p:nvPr/>
        </p:nvSpPr>
        <p:spPr>
          <a:xfrm>
            <a:off x="5924955" y="4194514"/>
            <a:ext cx="856845" cy="793487"/>
          </a:xfrm>
          <a:prstGeom prst="flowChartMagneticDisk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Fluxograma: Disco Magnético 15">
            <a:extLst>
              <a:ext uri="{FF2B5EF4-FFF2-40B4-BE49-F238E27FC236}">
                <a16:creationId xmlns:a16="http://schemas.microsoft.com/office/drawing/2014/main" id="{15CD4448-672A-1350-5D58-31ABA7463DA1}"/>
              </a:ext>
            </a:extLst>
          </p:cNvPr>
          <p:cNvSpPr/>
          <p:nvPr/>
        </p:nvSpPr>
        <p:spPr>
          <a:xfrm>
            <a:off x="5924955" y="5171023"/>
            <a:ext cx="856845" cy="793487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653CFEE-7271-398F-15A4-4346B3D44F63}"/>
              </a:ext>
            </a:extLst>
          </p:cNvPr>
          <p:cNvSpPr txBox="1"/>
          <p:nvPr/>
        </p:nvSpPr>
        <p:spPr>
          <a:xfrm>
            <a:off x="5984942" y="1351682"/>
            <a:ext cx="7368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MILVUS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0F15C22-771C-7BB1-B186-D1D4AF735A35}"/>
              </a:ext>
            </a:extLst>
          </p:cNvPr>
          <p:cNvSpPr txBox="1"/>
          <p:nvPr/>
        </p:nvSpPr>
        <p:spPr>
          <a:xfrm>
            <a:off x="5869686" y="2389024"/>
            <a:ext cx="967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WEAVIATE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477564D-B414-CA0B-9A56-48E30EA73308}"/>
              </a:ext>
            </a:extLst>
          </p:cNvPr>
          <p:cNvSpPr txBox="1"/>
          <p:nvPr/>
        </p:nvSpPr>
        <p:spPr>
          <a:xfrm>
            <a:off x="5891589" y="3517809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PINECONE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73ACEA3-C627-50BC-18A3-C4D311918658}"/>
              </a:ext>
            </a:extLst>
          </p:cNvPr>
          <p:cNvSpPr txBox="1"/>
          <p:nvPr/>
        </p:nvSpPr>
        <p:spPr>
          <a:xfrm>
            <a:off x="5923039" y="4551954"/>
            <a:ext cx="89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PgVector</a:t>
            </a:r>
            <a:endParaRPr lang="pt-BR" sz="14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C43DC88-3305-6A0F-CAA6-81BC7A97BBF9}"/>
              </a:ext>
            </a:extLst>
          </p:cNvPr>
          <p:cNvSpPr txBox="1"/>
          <p:nvPr/>
        </p:nvSpPr>
        <p:spPr>
          <a:xfrm>
            <a:off x="5969206" y="5528825"/>
            <a:ext cx="845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QDRANT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6B3F77E-1069-8D34-DD9C-D1CFF0FD9B0B}"/>
              </a:ext>
            </a:extLst>
          </p:cNvPr>
          <p:cNvSpPr/>
          <p:nvPr/>
        </p:nvSpPr>
        <p:spPr>
          <a:xfrm>
            <a:off x="7528560" y="685785"/>
            <a:ext cx="1204933" cy="55620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6E5D892-8178-8C86-303B-4CC66224A69D}"/>
              </a:ext>
            </a:extLst>
          </p:cNvPr>
          <p:cNvSpPr txBox="1"/>
          <p:nvPr/>
        </p:nvSpPr>
        <p:spPr>
          <a:xfrm rot="5400000">
            <a:off x="5909597" y="3317754"/>
            <a:ext cx="4425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COMPARAÇÃO DESEMPENHO &amp; CUSTO</a:t>
            </a:r>
          </a:p>
        </p:txBody>
      </p: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A534DA2F-4A29-7348-3C3D-BD274F44F56C}"/>
              </a:ext>
            </a:extLst>
          </p:cNvPr>
          <p:cNvCxnSpPr>
            <a:cxnSpLocks/>
            <a:stCxn id="2" idx="3"/>
            <a:endCxn id="11" idx="2"/>
          </p:cNvCxnSpPr>
          <p:nvPr/>
        </p:nvCxnSpPr>
        <p:spPr>
          <a:xfrm flipV="1">
            <a:off x="4785360" y="1381316"/>
            <a:ext cx="1139595" cy="2206619"/>
          </a:xfrm>
          <a:prstGeom prst="bentConnector3">
            <a:avLst/>
          </a:prstGeom>
          <a:ln w="28575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D277206A-3478-01E4-06B6-B8F9D3612719}"/>
              </a:ext>
            </a:extLst>
          </p:cNvPr>
          <p:cNvCxnSpPr>
            <a:cxnSpLocks/>
            <a:stCxn id="2" idx="3"/>
            <a:endCxn id="16" idx="2"/>
          </p:cNvCxnSpPr>
          <p:nvPr/>
        </p:nvCxnSpPr>
        <p:spPr>
          <a:xfrm>
            <a:off x="4785360" y="3587935"/>
            <a:ext cx="1139595" cy="1979832"/>
          </a:xfrm>
          <a:prstGeom prst="bentConnector3">
            <a:avLst>
              <a:gd name="adj1" fmla="val 50000"/>
            </a:avLst>
          </a:prstGeom>
          <a:ln w="28575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C8ACC046-C1E7-1E86-9B06-93710CA9BBF5}"/>
              </a:ext>
            </a:extLst>
          </p:cNvPr>
          <p:cNvCxnSpPr>
            <a:cxnSpLocks/>
            <a:stCxn id="2" idx="3"/>
            <a:endCxn id="21" idx="1"/>
          </p:cNvCxnSpPr>
          <p:nvPr/>
        </p:nvCxnSpPr>
        <p:spPr>
          <a:xfrm>
            <a:off x="4785360" y="3587935"/>
            <a:ext cx="1137679" cy="1117908"/>
          </a:xfrm>
          <a:prstGeom prst="bentConnector3">
            <a:avLst>
              <a:gd name="adj1" fmla="val 50000"/>
            </a:avLst>
          </a:prstGeom>
          <a:ln w="28575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D535E9A7-C74D-3876-93B2-EB9A3A8C9D99}"/>
              </a:ext>
            </a:extLst>
          </p:cNvPr>
          <p:cNvCxnSpPr>
            <a:cxnSpLocks/>
            <a:stCxn id="2" idx="3"/>
            <a:endCxn id="18" idx="1"/>
          </p:cNvCxnSpPr>
          <p:nvPr/>
        </p:nvCxnSpPr>
        <p:spPr>
          <a:xfrm flipV="1">
            <a:off x="4785360" y="2542913"/>
            <a:ext cx="1084326" cy="1045022"/>
          </a:xfrm>
          <a:prstGeom prst="bentConnector3">
            <a:avLst>
              <a:gd name="adj1" fmla="val 50000"/>
            </a:avLst>
          </a:prstGeom>
          <a:ln w="28575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4E229747-D6F7-1F8F-D94A-11CA6B988D62}"/>
              </a:ext>
            </a:extLst>
          </p:cNvPr>
          <p:cNvCxnSpPr>
            <a:cxnSpLocks/>
            <a:stCxn id="2" idx="3"/>
            <a:endCxn id="14" idx="2"/>
          </p:cNvCxnSpPr>
          <p:nvPr/>
        </p:nvCxnSpPr>
        <p:spPr>
          <a:xfrm flipV="1">
            <a:off x="4785360" y="3550911"/>
            <a:ext cx="1139595" cy="37024"/>
          </a:xfrm>
          <a:prstGeom prst="bentConnector3">
            <a:avLst>
              <a:gd name="adj1" fmla="val 50000"/>
            </a:avLst>
          </a:prstGeom>
          <a:ln w="28575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eta: para a Direita 42">
            <a:extLst>
              <a:ext uri="{FF2B5EF4-FFF2-40B4-BE49-F238E27FC236}">
                <a16:creationId xmlns:a16="http://schemas.microsoft.com/office/drawing/2014/main" id="{E9F9D48C-20C8-E2FF-7D8B-02A5D6FD46AF}"/>
              </a:ext>
            </a:extLst>
          </p:cNvPr>
          <p:cNvSpPr/>
          <p:nvPr/>
        </p:nvSpPr>
        <p:spPr>
          <a:xfrm>
            <a:off x="6872948" y="1286540"/>
            <a:ext cx="504474" cy="307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Seta: para a Direita 45">
            <a:extLst>
              <a:ext uri="{FF2B5EF4-FFF2-40B4-BE49-F238E27FC236}">
                <a16:creationId xmlns:a16="http://schemas.microsoft.com/office/drawing/2014/main" id="{0E8B2C42-B4B6-5371-CD6A-5D244008A10F}"/>
              </a:ext>
            </a:extLst>
          </p:cNvPr>
          <p:cNvSpPr/>
          <p:nvPr/>
        </p:nvSpPr>
        <p:spPr>
          <a:xfrm>
            <a:off x="6872948" y="2330736"/>
            <a:ext cx="504474" cy="307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Seta: para a Direita 46">
            <a:extLst>
              <a:ext uri="{FF2B5EF4-FFF2-40B4-BE49-F238E27FC236}">
                <a16:creationId xmlns:a16="http://schemas.microsoft.com/office/drawing/2014/main" id="{27F3014D-5386-5C96-F16A-4071E1779B44}"/>
              </a:ext>
            </a:extLst>
          </p:cNvPr>
          <p:cNvSpPr/>
          <p:nvPr/>
        </p:nvSpPr>
        <p:spPr>
          <a:xfrm>
            <a:off x="6856907" y="3466802"/>
            <a:ext cx="504474" cy="307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Seta: para a Direita 48">
            <a:extLst>
              <a:ext uri="{FF2B5EF4-FFF2-40B4-BE49-F238E27FC236}">
                <a16:creationId xmlns:a16="http://schemas.microsoft.com/office/drawing/2014/main" id="{2DEC14C4-C749-0DAF-7EE6-200B420820A2}"/>
              </a:ext>
            </a:extLst>
          </p:cNvPr>
          <p:cNvSpPr/>
          <p:nvPr/>
        </p:nvSpPr>
        <p:spPr>
          <a:xfrm>
            <a:off x="6872948" y="4488838"/>
            <a:ext cx="504474" cy="307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Seta: para a Direita 49">
            <a:extLst>
              <a:ext uri="{FF2B5EF4-FFF2-40B4-BE49-F238E27FC236}">
                <a16:creationId xmlns:a16="http://schemas.microsoft.com/office/drawing/2014/main" id="{B6B10EE9-C884-1F71-83BE-B6FCB0B110F9}"/>
              </a:ext>
            </a:extLst>
          </p:cNvPr>
          <p:cNvSpPr/>
          <p:nvPr/>
        </p:nvSpPr>
        <p:spPr>
          <a:xfrm>
            <a:off x="6856907" y="5356985"/>
            <a:ext cx="504474" cy="307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FAAEBBC7-DDE9-0DA4-ED82-01B591F13779}"/>
              </a:ext>
            </a:extLst>
          </p:cNvPr>
          <p:cNvSpPr txBox="1"/>
          <p:nvPr/>
        </p:nvSpPr>
        <p:spPr>
          <a:xfrm>
            <a:off x="8948617" y="974500"/>
            <a:ext cx="1495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Desempenho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D224795D-1D57-B8B5-839B-B35F310D2819}"/>
              </a:ext>
            </a:extLst>
          </p:cNvPr>
          <p:cNvSpPr txBox="1"/>
          <p:nvPr/>
        </p:nvSpPr>
        <p:spPr>
          <a:xfrm>
            <a:off x="8948617" y="1486713"/>
            <a:ext cx="2672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Acessos/segundos (QPS)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8C25C19-10BC-4F9F-9DE4-AE8FD360955A}"/>
              </a:ext>
            </a:extLst>
          </p:cNvPr>
          <p:cNvSpPr txBox="1"/>
          <p:nvPr/>
        </p:nvSpPr>
        <p:spPr>
          <a:xfrm>
            <a:off x="8948617" y="1873620"/>
            <a:ext cx="109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Recall 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93BD48D4-A4E8-6BAF-B361-E01C8BEC46DD}"/>
              </a:ext>
            </a:extLst>
          </p:cNvPr>
          <p:cNvSpPr txBox="1"/>
          <p:nvPr/>
        </p:nvSpPr>
        <p:spPr>
          <a:xfrm>
            <a:off x="8953756" y="2266955"/>
            <a:ext cx="1749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err="1"/>
              <a:t>Load</a:t>
            </a:r>
            <a:r>
              <a:rPr lang="pt-BR" sz="1600" dirty="0"/>
              <a:t> </a:t>
            </a:r>
            <a:r>
              <a:rPr lang="pt-BR" sz="1600" dirty="0" err="1"/>
              <a:t>duration</a:t>
            </a:r>
            <a:endParaRPr lang="pt-BR" sz="1600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79B5C092-4032-C34E-345F-66336247EAAA}"/>
              </a:ext>
            </a:extLst>
          </p:cNvPr>
          <p:cNvSpPr txBox="1"/>
          <p:nvPr/>
        </p:nvSpPr>
        <p:spPr>
          <a:xfrm>
            <a:off x="8953756" y="2740022"/>
            <a:ext cx="17315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Serial </a:t>
            </a:r>
            <a:r>
              <a:rPr lang="pt-BR" sz="1600" dirty="0" err="1"/>
              <a:t>latency</a:t>
            </a:r>
            <a:endParaRPr lang="pt-BR" sz="1600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13C12436-13C9-6809-197C-F1A7C5DB1E5D}"/>
              </a:ext>
            </a:extLst>
          </p:cNvPr>
          <p:cNvSpPr/>
          <p:nvPr/>
        </p:nvSpPr>
        <p:spPr>
          <a:xfrm>
            <a:off x="8948617" y="701766"/>
            <a:ext cx="2689704" cy="2484558"/>
          </a:xfrm>
          <a:prstGeom prst="roundRect">
            <a:avLst>
              <a:gd name="adj" fmla="val 8735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3C73E90-AD9A-E1FF-1470-998BD7176EB0}"/>
              </a:ext>
            </a:extLst>
          </p:cNvPr>
          <p:cNvSpPr txBox="1"/>
          <p:nvPr/>
        </p:nvSpPr>
        <p:spPr>
          <a:xfrm>
            <a:off x="8964986" y="3467296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Custo </a:t>
            </a:r>
            <a:r>
              <a:rPr lang="pt-BR" baseline="30000" dirty="0">
                <a:solidFill>
                  <a:srgbClr val="FF0000"/>
                </a:solidFill>
              </a:rPr>
              <a:t>(*)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877045D-828E-4F47-D8E3-8016F1F77133}"/>
              </a:ext>
            </a:extLst>
          </p:cNvPr>
          <p:cNvSpPr txBox="1"/>
          <p:nvPr/>
        </p:nvSpPr>
        <p:spPr>
          <a:xfrm>
            <a:off x="8964986" y="3855960"/>
            <a:ext cx="21900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Acessos/US$ (QP$)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56418B6D-67C8-696F-84F7-59818DABEA15}"/>
              </a:ext>
            </a:extLst>
          </p:cNvPr>
          <p:cNvSpPr/>
          <p:nvPr/>
        </p:nvSpPr>
        <p:spPr>
          <a:xfrm>
            <a:off x="8964986" y="3320837"/>
            <a:ext cx="2689704" cy="10530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9C0F425E-BDF7-A427-AD9F-7B4FA41788BC}"/>
              </a:ext>
            </a:extLst>
          </p:cNvPr>
          <p:cNvSpPr txBox="1"/>
          <p:nvPr/>
        </p:nvSpPr>
        <p:spPr>
          <a:xfrm>
            <a:off x="8998488" y="5083750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Ranking 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2B4E05C7-9F06-4311-A05D-645A87064DFB}"/>
              </a:ext>
            </a:extLst>
          </p:cNvPr>
          <p:cNvSpPr txBox="1"/>
          <p:nvPr/>
        </p:nvSpPr>
        <p:spPr>
          <a:xfrm>
            <a:off x="10187107" y="4683641"/>
            <a:ext cx="126964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1400" dirty="0" err="1"/>
              <a:t>Qdrant</a:t>
            </a:r>
            <a:endParaRPr lang="pt-BR" sz="1400" dirty="0"/>
          </a:p>
          <a:p>
            <a:pPr marL="342900" indent="-342900">
              <a:buFont typeface="+mj-lt"/>
              <a:buAutoNum type="arabicPeriod"/>
            </a:pPr>
            <a:r>
              <a:rPr lang="pt-BR" sz="1400" dirty="0" err="1"/>
              <a:t>Milvus</a:t>
            </a:r>
            <a:endParaRPr lang="pt-BR" sz="1400" dirty="0"/>
          </a:p>
          <a:p>
            <a:pPr marL="342900" indent="-342900">
              <a:buFont typeface="+mj-lt"/>
              <a:buAutoNum type="arabicPeriod"/>
            </a:pPr>
            <a:r>
              <a:rPr lang="pt-BR" sz="1400" dirty="0" err="1"/>
              <a:t>Weaviate</a:t>
            </a:r>
            <a:endParaRPr lang="pt-BR" sz="1400" dirty="0"/>
          </a:p>
          <a:p>
            <a:pPr marL="342900" indent="-342900">
              <a:buFont typeface="+mj-lt"/>
              <a:buAutoNum type="arabicPeriod"/>
            </a:pPr>
            <a:r>
              <a:rPr lang="pt-BR" sz="1400" dirty="0" err="1"/>
              <a:t>Pinecone</a:t>
            </a:r>
            <a:endParaRPr lang="pt-BR" sz="1400" dirty="0"/>
          </a:p>
          <a:p>
            <a:pPr marL="342900" indent="-342900">
              <a:buFont typeface="+mj-lt"/>
              <a:buAutoNum type="arabicPeriod"/>
            </a:pPr>
            <a:r>
              <a:rPr lang="pt-BR" sz="1400" dirty="0" err="1"/>
              <a:t>PgVector</a:t>
            </a:r>
            <a:endParaRPr lang="pt-BR" sz="1400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B2E706B3-69AC-384F-9A47-2428B3053B22}"/>
              </a:ext>
            </a:extLst>
          </p:cNvPr>
          <p:cNvSpPr/>
          <p:nvPr/>
        </p:nvSpPr>
        <p:spPr>
          <a:xfrm>
            <a:off x="8981027" y="4551955"/>
            <a:ext cx="2689704" cy="13315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Colchete Esquerdo 66">
            <a:extLst>
              <a:ext uri="{FF2B5EF4-FFF2-40B4-BE49-F238E27FC236}">
                <a16:creationId xmlns:a16="http://schemas.microsoft.com/office/drawing/2014/main" id="{7057878D-831E-0FB0-E063-BD16E5899C8F}"/>
              </a:ext>
            </a:extLst>
          </p:cNvPr>
          <p:cNvSpPr/>
          <p:nvPr/>
        </p:nvSpPr>
        <p:spPr>
          <a:xfrm>
            <a:off x="10084379" y="4683641"/>
            <a:ext cx="148448" cy="1152961"/>
          </a:xfrm>
          <a:prstGeom prst="leftBracke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DA5BE81-8F16-6938-99F9-5108D52EE276}"/>
              </a:ext>
            </a:extLst>
          </p:cNvPr>
          <p:cNvSpPr txBox="1"/>
          <p:nvPr/>
        </p:nvSpPr>
        <p:spPr>
          <a:xfrm>
            <a:off x="5373253" y="6463338"/>
            <a:ext cx="49530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(*) Comparação de custo incompleta por falta de dados do BD MILVUS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4D0646A-3C36-7095-628E-1840202816B0}"/>
              </a:ext>
            </a:extLst>
          </p:cNvPr>
          <p:cNvSpPr txBox="1"/>
          <p:nvPr/>
        </p:nvSpPr>
        <p:spPr>
          <a:xfrm>
            <a:off x="114240" y="2007630"/>
            <a:ext cx="21599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NR, vetorização e EBR</a:t>
            </a:r>
          </a:p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Infraestrutura computacional para o LLM em agronegócios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1C6E5EA-6EA2-81CF-0B5D-F6AA850D64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0388" y="238078"/>
            <a:ext cx="1139727" cy="133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5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11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1" grpId="0"/>
      <p:bldP spid="22" grpId="0"/>
      <p:bldP spid="23" grpId="0" animBg="1"/>
      <p:bldP spid="24" grpId="0"/>
      <p:bldP spid="43" grpId="0" animBg="1"/>
      <p:bldP spid="46" grpId="0" animBg="1"/>
      <p:bldP spid="47" grpId="0" animBg="1"/>
      <p:bldP spid="49" grpId="0" animBg="1"/>
      <p:bldP spid="50" grpId="0" animBg="1"/>
      <p:bldP spid="51" grpId="0"/>
      <p:bldP spid="52" grpId="0"/>
      <p:bldP spid="53" grpId="0"/>
      <p:bldP spid="54" grpId="0"/>
      <p:bldP spid="55" grpId="0"/>
      <p:bldP spid="56" grpId="0" animBg="1"/>
      <p:bldP spid="57" grpId="0"/>
      <p:bldP spid="58" grpId="0"/>
      <p:bldP spid="63" grpId="0" animBg="1"/>
      <p:bldP spid="64" grpId="0"/>
      <p:bldP spid="65" grpId="0"/>
      <p:bldP spid="66" grpId="0" animBg="1"/>
      <p:bldP spid="67" grpId="0" animBg="1"/>
      <p:bldP spid="6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6118-CF78-EDBC-DBBA-8E5301DE2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F2CBD00A-740C-0081-20E5-2DDF975956CD}"/>
              </a:ext>
            </a:extLst>
          </p:cNvPr>
          <p:cNvSpPr/>
          <p:nvPr/>
        </p:nvSpPr>
        <p:spPr>
          <a:xfrm>
            <a:off x="102219" y="1165630"/>
            <a:ext cx="2159997" cy="556203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CDC0CF7-20A3-110A-7BF9-83C2AFB9CA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D195B03-9410-7797-24B4-A42842768EF9}"/>
              </a:ext>
            </a:extLst>
          </p:cNvPr>
          <p:cNvSpPr txBox="1"/>
          <p:nvPr/>
        </p:nvSpPr>
        <p:spPr>
          <a:xfrm>
            <a:off x="553679" y="127056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03</a:t>
            </a:r>
          </a:p>
        </p:txBody>
      </p:sp>
      <p:pic>
        <p:nvPicPr>
          <p:cNvPr id="83" name="Imagem 82">
            <a:extLst>
              <a:ext uri="{FF2B5EF4-FFF2-40B4-BE49-F238E27FC236}">
                <a16:creationId xmlns:a16="http://schemas.microsoft.com/office/drawing/2014/main" id="{413DCBAB-B38D-8B18-4407-5128F262B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5367" y="3649398"/>
            <a:ext cx="1139727" cy="1337596"/>
          </a:xfrm>
          <a:prstGeom prst="rect">
            <a:avLst/>
          </a:prstGeom>
        </p:spPr>
      </p:pic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B8ACE9F2-21F5-1297-4EF1-14ECFB5AA5AB}"/>
              </a:ext>
            </a:extLst>
          </p:cNvPr>
          <p:cNvSpPr txBox="1"/>
          <p:nvPr/>
        </p:nvSpPr>
        <p:spPr>
          <a:xfrm>
            <a:off x="273616" y="5477307"/>
            <a:ext cx="15343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Sílvio Barbieri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Jean Acedo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Allan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Siriani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D8FA18-B916-6D36-F83E-F783301106FF}"/>
              </a:ext>
            </a:extLst>
          </p:cNvPr>
          <p:cNvSpPr txBox="1"/>
          <p:nvPr/>
        </p:nvSpPr>
        <p:spPr>
          <a:xfrm>
            <a:off x="1530534" y="101010"/>
            <a:ext cx="83621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Linhas de pesquisa e Potenciais desenvolvimentos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179925-E3CB-A6E4-13DE-52F40CCCC0E2}"/>
              </a:ext>
            </a:extLst>
          </p:cNvPr>
          <p:cNvSpPr txBox="1"/>
          <p:nvPr/>
        </p:nvSpPr>
        <p:spPr>
          <a:xfrm>
            <a:off x="2898005" y="1946200"/>
            <a:ext cx="7673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/>
              <a:t>Completar comparação com todos os dados de custos.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7F5762-E14C-0C7D-F50B-EA59927ECC88}"/>
              </a:ext>
            </a:extLst>
          </p:cNvPr>
          <p:cNvSpPr txBox="1"/>
          <p:nvPr/>
        </p:nvSpPr>
        <p:spPr>
          <a:xfrm>
            <a:off x="2952572" y="2950287"/>
            <a:ext cx="767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/>
              <a:t>Desenvolver e colocar em operação dashboard para comparação e medição de desempenho enquanto operação do sistema.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F753206-F059-6F10-791B-A353C66C2BFB}"/>
              </a:ext>
            </a:extLst>
          </p:cNvPr>
          <p:cNvSpPr txBox="1"/>
          <p:nvPr/>
        </p:nvSpPr>
        <p:spPr>
          <a:xfrm>
            <a:off x="2952572" y="4145424"/>
            <a:ext cx="767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/>
              <a:t>Desenvolver e colocar em operação dashboard para comparação e medição de desempenho com outros sistemas /banco de dados.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F32B25E-5CC9-54E0-F636-3237A93FB991}"/>
              </a:ext>
            </a:extLst>
          </p:cNvPr>
          <p:cNvSpPr txBox="1"/>
          <p:nvPr/>
        </p:nvSpPr>
        <p:spPr>
          <a:xfrm>
            <a:off x="114240" y="2007630"/>
            <a:ext cx="21599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NR, vetorização e EBR</a:t>
            </a:r>
          </a:p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Infraestrutura computacional para o LLM em agronegócios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DC337FD-CE7B-8650-4D12-5894FF82F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94069" y="496832"/>
            <a:ext cx="1139727" cy="133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4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FD406-3830-26DF-EE03-F22DFD3C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AC1E27A-0DD2-203A-EF0A-C0B0997C3688}"/>
              </a:ext>
            </a:extLst>
          </p:cNvPr>
          <p:cNvSpPr/>
          <p:nvPr/>
        </p:nvSpPr>
        <p:spPr>
          <a:xfrm>
            <a:off x="322117" y="1194955"/>
            <a:ext cx="2159997" cy="5562035"/>
          </a:xfrm>
          <a:prstGeom prst="roundRect">
            <a:avLst/>
          </a:prstGeom>
          <a:solidFill>
            <a:srgbClr val="90C226">
              <a:alpha val="30196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D788EB9-C5F2-4C2E-73CC-E018AB340717}"/>
              </a:ext>
            </a:extLst>
          </p:cNvPr>
          <p:cNvSpPr/>
          <p:nvPr/>
        </p:nvSpPr>
        <p:spPr>
          <a:xfrm>
            <a:off x="2578178" y="1194954"/>
            <a:ext cx="2159997" cy="5562035"/>
          </a:xfrm>
          <a:prstGeom prst="roundRect">
            <a:avLst/>
          </a:prstGeom>
          <a:solidFill>
            <a:srgbClr val="00B0F0">
              <a:alpha val="30196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FEFC8387-C874-3E71-8AD4-9BCFED0605C0}"/>
              </a:ext>
            </a:extLst>
          </p:cNvPr>
          <p:cNvSpPr/>
          <p:nvPr/>
        </p:nvSpPr>
        <p:spPr>
          <a:xfrm>
            <a:off x="4834239" y="1165630"/>
            <a:ext cx="2159997" cy="556203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C154A210-57DB-8668-CEA7-CB8442F60B91}"/>
              </a:ext>
            </a:extLst>
          </p:cNvPr>
          <p:cNvSpPr/>
          <p:nvPr/>
        </p:nvSpPr>
        <p:spPr>
          <a:xfrm>
            <a:off x="7079909" y="1185836"/>
            <a:ext cx="2159997" cy="5562035"/>
          </a:xfrm>
          <a:prstGeom prst="roundRect">
            <a:avLst/>
          </a:prstGeom>
          <a:solidFill>
            <a:srgbClr val="FFFF00">
              <a:alpha val="3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9BF94B92-E3F7-3BCA-BAB5-383F4D99E65C}"/>
              </a:ext>
            </a:extLst>
          </p:cNvPr>
          <p:cNvSpPr/>
          <p:nvPr/>
        </p:nvSpPr>
        <p:spPr>
          <a:xfrm>
            <a:off x="9346361" y="117544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4317FE-ECE9-1C16-8082-DA06118DF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F95FDA4-F42E-51A7-8794-99293F560D44}"/>
              </a:ext>
            </a:extLst>
          </p:cNvPr>
          <p:cNvSpPr txBox="1"/>
          <p:nvPr/>
        </p:nvSpPr>
        <p:spPr>
          <a:xfrm>
            <a:off x="875925" y="1291693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6AFD749-E9E7-7088-B46B-326F8D6180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575" y="3273453"/>
            <a:ext cx="1351785" cy="139239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5987BF5-14E3-757D-D200-D42F84BC63FD}"/>
              </a:ext>
            </a:extLst>
          </p:cNvPr>
          <p:cNvSpPr txBox="1"/>
          <p:nvPr/>
        </p:nvSpPr>
        <p:spPr>
          <a:xfrm>
            <a:off x="2578178" y="2219786"/>
            <a:ext cx="2159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Conversão de formatos e estruturação de dados, vetorização e EBR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0932165-A2FC-C0A4-3807-326A48BF7DDA}"/>
              </a:ext>
            </a:extLst>
          </p:cNvPr>
          <p:cNvSpPr txBox="1"/>
          <p:nvPr/>
        </p:nvSpPr>
        <p:spPr>
          <a:xfrm>
            <a:off x="3088064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02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DED7244E-7356-C756-72F2-E62DFAD342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2327" y="3554362"/>
            <a:ext cx="1191698" cy="1111488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2F16262B-5768-CE5F-2F79-AECC4DF0C8C1}"/>
              </a:ext>
            </a:extLst>
          </p:cNvPr>
          <p:cNvSpPr txBox="1"/>
          <p:nvPr/>
        </p:nvSpPr>
        <p:spPr>
          <a:xfrm>
            <a:off x="5285699" y="127056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03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D7C5F2C-3FB9-B082-2821-4676AC7B2AD9}"/>
              </a:ext>
            </a:extLst>
          </p:cNvPr>
          <p:cNvSpPr txBox="1"/>
          <p:nvPr/>
        </p:nvSpPr>
        <p:spPr>
          <a:xfrm>
            <a:off x="763581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04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0C0900D8-86BD-97E2-B2EC-72126A924D5B}"/>
              </a:ext>
            </a:extLst>
          </p:cNvPr>
          <p:cNvSpPr txBox="1"/>
          <p:nvPr/>
        </p:nvSpPr>
        <p:spPr>
          <a:xfrm>
            <a:off x="978878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05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E217FAC9-B526-4CFE-9409-870F4F8FD2CF}"/>
              </a:ext>
            </a:extLst>
          </p:cNvPr>
          <p:cNvSpPr txBox="1"/>
          <p:nvPr/>
        </p:nvSpPr>
        <p:spPr>
          <a:xfrm>
            <a:off x="4834237" y="2271136"/>
            <a:ext cx="21599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NR, vetorização e EBR</a:t>
            </a:r>
          </a:p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Infraestrutura computacional para o LLM em agronegócios</a:t>
            </a:r>
          </a:p>
        </p:txBody>
      </p:sp>
      <p:pic>
        <p:nvPicPr>
          <p:cNvPr id="83" name="Imagem 82">
            <a:extLst>
              <a:ext uri="{FF2B5EF4-FFF2-40B4-BE49-F238E27FC236}">
                <a16:creationId xmlns:a16="http://schemas.microsoft.com/office/drawing/2014/main" id="{4A5F201C-1943-52CA-6228-45F73D28F4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7387" y="3649398"/>
            <a:ext cx="1139727" cy="1337596"/>
          </a:xfrm>
          <a:prstGeom prst="rect">
            <a:avLst/>
          </a:prstGeom>
        </p:spPr>
      </p:pic>
      <p:sp>
        <p:nvSpPr>
          <p:cNvPr id="90" name="CaixaDeTexto 89">
            <a:extLst>
              <a:ext uri="{FF2B5EF4-FFF2-40B4-BE49-F238E27FC236}">
                <a16:creationId xmlns:a16="http://schemas.microsoft.com/office/drawing/2014/main" id="{3B736DB8-046B-D852-AAA8-5374A258A7CB}"/>
              </a:ext>
            </a:extLst>
          </p:cNvPr>
          <p:cNvSpPr txBox="1"/>
          <p:nvPr/>
        </p:nvSpPr>
        <p:spPr>
          <a:xfrm>
            <a:off x="7138332" y="2289108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agronegócio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5F2F4169-6C97-D240-B44A-3353A86E6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57384" y="3649398"/>
            <a:ext cx="1130803" cy="1079286"/>
          </a:xfrm>
          <a:prstGeom prst="rect">
            <a:avLst/>
          </a:prstGeom>
        </p:spPr>
      </p:pic>
      <p:sp>
        <p:nvSpPr>
          <p:cNvPr id="99" name="CaixaDeTexto 98">
            <a:extLst>
              <a:ext uri="{FF2B5EF4-FFF2-40B4-BE49-F238E27FC236}">
                <a16:creationId xmlns:a16="http://schemas.microsoft.com/office/drawing/2014/main" id="{915F6830-2087-56AD-0CAD-985A6D0F5752}"/>
              </a:ext>
            </a:extLst>
          </p:cNvPr>
          <p:cNvSpPr txBox="1"/>
          <p:nvPr/>
        </p:nvSpPr>
        <p:spPr>
          <a:xfrm>
            <a:off x="9371887" y="2271136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agentes inteligentes</a:t>
            </a:r>
          </a:p>
        </p:txBody>
      </p:sp>
      <p:pic>
        <p:nvPicPr>
          <p:cNvPr id="101" name="Imagem 100">
            <a:extLst>
              <a:ext uri="{FF2B5EF4-FFF2-40B4-BE49-F238E27FC236}">
                <a16:creationId xmlns:a16="http://schemas.microsoft.com/office/drawing/2014/main" id="{0C7E61F8-B867-7B1C-FF23-AAC0E93DE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9839570" y="3429000"/>
            <a:ext cx="1224629" cy="1533162"/>
          </a:xfrm>
          <a:prstGeom prst="rect">
            <a:avLst/>
          </a:prstGeom>
        </p:spPr>
      </p:pic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291372FA-5339-FF0A-5913-99E7106F8BDA}"/>
              </a:ext>
            </a:extLst>
          </p:cNvPr>
          <p:cNvSpPr txBox="1"/>
          <p:nvPr/>
        </p:nvSpPr>
        <p:spPr>
          <a:xfrm>
            <a:off x="9613822" y="5480488"/>
            <a:ext cx="1625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Hilário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Izaias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5503C121-B4E5-5C8E-C9A4-7B06D4E3604C}"/>
              </a:ext>
            </a:extLst>
          </p:cNvPr>
          <p:cNvSpPr txBox="1"/>
          <p:nvPr/>
        </p:nvSpPr>
        <p:spPr>
          <a:xfrm>
            <a:off x="7451505" y="5480488"/>
            <a:ext cx="16962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Ricardo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Gomes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18F78838-D9E7-B373-BFE9-D86F953910D7}"/>
              </a:ext>
            </a:extLst>
          </p:cNvPr>
          <p:cNvSpPr txBox="1"/>
          <p:nvPr/>
        </p:nvSpPr>
        <p:spPr>
          <a:xfrm>
            <a:off x="5005636" y="5477307"/>
            <a:ext cx="15343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Sílvio Barbieri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Jean Acedo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Allan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Siriani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58B2407D-DC69-ADB5-61A9-FB0DF7A6C0CC}"/>
              </a:ext>
            </a:extLst>
          </p:cNvPr>
          <p:cNvSpPr txBox="1"/>
          <p:nvPr/>
        </p:nvSpPr>
        <p:spPr>
          <a:xfrm>
            <a:off x="2749575" y="5459706"/>
            <a:ext cx="17940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Dionísio Junior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Leonardo Oliveira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Dirceu Gerardi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43E8FCC8-D8A1-513A-64DE-CEC358F33C5E}"/>
              </a:ext>
            </a:extLst>
          </p:cNvPr>
          <p:cNvSpPr txBox="1"/>
          <p:nvPr/>
        </p:nvSpPr>
        <p:spPr>
          <a:xfrm>
            <a:off x="397450" y="5241662"/>
            <a:ext cx="16385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Luís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Zamariolli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Sérgio Negro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Gustavo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8126A11-39AD-D02A-DEFA-6F93E54D8DB4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910FF3A-766B-0EE9-CAFB-6F51E3A40D02}"/>
              </a:ext>
            </a:extLst>
          </p:cNvPr>
          <p:cNvSpPr txBox="1"/>
          <p:nvPr/>
        </p:nvSpPr>
        <p:spPr>
          <a:xfrm>
            <a:off x="300959" y="2246965"/>
            <a:ext cx="2159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Captação, qualificação e triagem de conhecimento agronômico</a:t>
            </a:r>
          </a:p>
        </p:txBody>
      </p:sp>
    </p:spTree>
    <p:extLst>
      <p:ext uri="{BB962C8B-B14F-4D97-AF65-F5344CB8AC3E}">
        <p14:creationId xmlns:p14="http://schemas.microsoft.com/office/powerpoint/2010/main" val="243700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F6067-9623-0172-F127-A8DF1FA1E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8EEAABD9-270D-46E6-7C73-54455004F71C}"/>
              </a:ext>
            </a:extLst>
          </p:cNvPr>
          <p:cNvSpPr/>
          <p:nvPr/>
        </p:nvSpPr>
        <p:spPr>
          <a:xfrm>
            <a:off x="160949" y="1185836"/>
            <a:ext cx="2159997" cy="5562035"/>
          </a:xfrm>
          <a:prstGeom prst="roundRect">
            <a:avLst/>
          </a:prstGeom>
          <a:solidFill>
            <a:srgbClr val="FFFF00">
              <a:alpha val="3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C54BDB-E2DE-A4BD-2450-75BF8567B7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48" name="CaixaDeTexto 47">
            <a:extLst>
              <a:ext uri="{FF2B5EF4-FFF2-40B4-BE49-F238E27FC236}">
                <a16:creationId xmlns:a16="http://schemas.microsoft.com/office/drawing/2014/main" id="{9339525C-D7E0-453A-AF5A-0C31911166F3}"/>
              </a:ext>
            </a:extLst>
          </p:cNvPr>
          <p:cNvSpPr txBox="1"/>
          <p:nvPr/>
        </p:nvSpPr>
        <p:spPr>
          <a:xfrm>
            <a:off x="71685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04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E4CD7939-0CC8-A10A-42A1-D4878E5E9E98}"/>
              </a:ext>
            </a:extLst>
          </p:cNvPr>
          <p:cNvSpPr txBox="1"/>
          <p:nvPr/>
        </p:nvSpPr>
        <p:spPr>
          <a:xfrm>
            <a:off x="219372" y="2289108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agronegócio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E73153EB-B5AF-4642-A62E-39C4310CED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8424" y="3649398"/>
            <a:ext cx="1130803" cy="1079286"/>
          </a:xfrm>
          <a:prstGeom prst="rect">
            <a:avLst/>
          </a:prstGeom>
        </p:spPr>
      </p:pic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6CAEC1E2-954F-004C-BA60-13DE3D60A837}"/>
              </a:ext>
            </a:extLst>
          </p:cNvPr>
          <p:cNvSpPr txBox="1"/>
          <p:nvPr/>
        </p:nvSpPr>
        <p:spPr>
          <a:xfrm>
            <a:off x="532545" y="5480488"/>
            <a:ext cx="16962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Ricardo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Gomes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AE3C17-BE2F-1F30-9857-FE6B85163585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21" name="Cilindro 20">
            <a:extLst>
              <a:ext uri="{FF2B5EF4-FFF2-40B4-BE49-F238E27FC236}">
                <a16:creationId xmlns:a16="http://schemas.microsoft.com/office/drawing/2014/main" id="{C2D2E847-8A4C-FD6B-0933-B26283A619D8}"/>
              </a:ext>
            </a:extLst>
          </p:cNvPr>
          <p:cNvSpPr/>
          <p:nvPr/>
        </p:nvSpPr>
        <p:spPr>
          <a:xfrm>
            <a:off x="3326428" y="4404551"/>
            <a:ext cx="1248803" cy="153374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28FFCB5F-86C7-1EE6-752E-4E804B301C40}"/>
              </a:ext>
            </a:extLst>
          </p:cNvPr>
          <p:cNvSpPr txBox="1"/>
          <p:nvPr/>
        </p:nvSpPr>
        <p:spPr>
          <a:xfrm>
            <a:off x="3369953" y="4909001"/>
            <a:ext cx="1161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Base </a:t>
            </a:r>
            <a:r>
              <a:rPr lang="pt-BR" altLang="zh-CN" dirty="0"/>
              <a:t>d</a:t>
            </a:r>
            <a:r>
              <a:rPr lang="pt-BR" dirty="0"/>
              <a:t>e dados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597BCBD-65EC-2109-7F34-95768B4F2B52}"/>
              </a:ext>
            </a:extLst>
          </p:cNvPr>
          <p:cNvSpPr txBox="1"/>
          <p:nvPr/>
        </p:nvSpPr>
        <p:spPr>
          <a:xfrm>
            <a:off x="4334546" y="729320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Constituente</a:t>
            </a:r>
            <a:r>
              <a:rPr lang="pt-BR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básicos de um LLM</a:t>
            </a:r>
            <a:endParaRPr lang="pt-BR" dirty="0"/>
          </a:p>
        </p:txBody>
      </p:sp>
      <p:sp>
        <p:nvSpPr>
          <p:cNvPr id="49" name="Rectangle 1">
            <a:extLst>
              <a:ext uri="{FF2B5EF4-FFF2-40B4-BE49-F238E27FC236}">
                <a16:creationId xmlns:a16="http://schemas.microsoft.com/office/drawing/2014/main" id="{ED2443BB-12CA-6CF7-4AA6-1EF1D640C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1595" y="3801740"/>
            <a:ext cx="5346205" cy="29546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Inclui (parâmetros aprendidos durante o treinamento).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 como a “memória” do sistema, guardando os padrões de linguagem e conhecimentos.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Não é mais um banco de dados clássico (SQL,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NoSQL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etc.), mas sim uma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rede neural congelada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 bilhões de parâmetros.</a:t>
            </a:r>
          </a:p>
        </p:txBody>
      </p:sp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ED270AC1-9F8F-414B-8ECB-9035D00324B6}"/>
              </a:ext>
            </a:extLst>
          </p:cNvPr>
          <p:cNvSpPr/>
          <p:nvPr/>
        </p:nvSpPr>
        <p:spPr>
          <a:xfrm>
            <a:off x="4816549" y="4881982"/>
            <a:ext cx="754911" cy="6174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D8DD4BB-95C0-BE79-A1F7-3C675A0FB8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98531" y="393397"/>
            <a:ext cx="1130803" cy="107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38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5" grpId="0"/>
      <p:bldP spid="49" grpId="0" animBg="1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075F-A0B9-D608-72FD-441F077F6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75073DE-8D50-9AE1-F9CE-1C4D3C3C916C}"/>
              </a:ext>
            </a:extLst>
          </p:cNvPr>
          <p:cNvSpPr/>
          <p:nvPr/>
        </p:nvSpPr>
        <p:spPr>
          <a:xfrm>
            <a:off x="160949" y="1185836"/>
            <a:ext cx="2159997" cy="5562035"/>
          </a:xfrm>
          <a:prstGeom prst="roundRect">
            <a:avLst/>
          </a:prstGeom>
          <a:solidFill>
            <a:srgbClr val="FFFF00">
              <a:alpha val="3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5DF0C99-68B2-E646-5EFE-BD2D7C8529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48" name="CaixaDeTexto 47">
            <a:extLst>
              <a:ext uri="{FF2B5EF4-FFF2-40B4-BE49-F238E27FC236}">
                <a16:creationId xmlns:a16="http://schemas.microsoft.com/office/drawing/2014/main" id="{94273BAE-DCB1-6F42-51E5-61DDF4DEB7BD}"/>
              </a:ext>
            </a:extLst>
          </p:cNvPr>
          <p:cNvSpPr txBox="1"/>
          <p:nvPr/>
        </p:nvSpPr>
        <p:spPr>
          <a:xfrm>
            <a:off x="71685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04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DCFA4771-D7AE-7223-8D72-ECC2845AA8B8}"/>
              </a:ext>
            </a:extLst>
          </p:cNvPr>
          <p:cNvSpPr txBox="1"/>
          <p:nvPr/>
        </p:nvSpPr>
        <p:spPr>
          <a:xfrm>
            <a:off x="219372" y="2289108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agronegócio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2810D8BB-754B-E151-2815-8207F87F7C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8424" y="3649398"/>
            <a:ext cx="1130803" cy="1079286"/>
          </a:xfrm>
          <a:prstGeom prst="rect">
            <a:avLst/>
          </a:prstGeom>
        </p:spPr>
      </p:pic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67A80D1E-6A8F-C439-A99E-0EB815149E7C}"/>
              </a:ext>
            </a:extLst>
          </p:cNvPr>
          <p:cNvSpPr txBox="1"/>
          <p:nvPr/>
        </p:nvSpPr>
        <p:spPr>
          <a:xfrm>
            <a:off x="532545" y="5480488"/>
            <a:ext cx="16962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Ricardo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Gomes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D2947A-4CE2-88A9-4EC1-B55CF0FD5942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21" name="Cilindro 20">
            <a:extLst>
              <a:ext uri="{FF2B5EF4-FFF2-40B4-BE49-F238E27FC236}">
                <a16:creationId xmlns:a16="http://schemas.microsoft.com/office/drawing/2014/main" id="{BDD3D284-9714-ACC6-50E6-5901CC44B165}"/>
              </a:ext>
            </a:extLst>
          </p:cNvPr>
          <p:cNvSpPr/>
          <p:nvPr/>
        </p:nvSpPr>
        <p:spPr>
          <a:xfrm>
            <a:off x="3326428" y="4404551"/>
            <a:ext cx="1248803" cy="153374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463BA639-9111-5D36-F6F8-C7908C65676C}"/>
              </a:ext>
            </a:extLst>
          </p:cNvPr>
          <p:cNvSpPr txBox="1"/>
          <p:nvPr/>
        </p:nvSpPr>
        <p:spPr>
          <a:xfrm>
            <a:off x="3369953" y="4909001"/>
            <a:ext cx="1161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Base </a:t>
            </a:r>
            <a:r>
              <a:rPr lang="pt-BR" altLang="zh-CN" dirty="0"/>
              <a:t>d</a:t>
            </a:r>
            <a:r>
              <a:rPr lang="pt-BR" dirty="0"/>
              <a:t>e dados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F0EABB76-1604-8D61-AD3C-17212C0F0EEB}"/>
              </a:ext>
            </a:extLst>
          </p:cNvPr>
          <p:cNvSpPr txBox="1"/>
          <p:nvPr/>
        </p:nvSpPr>
        <p:spPr>
          <a:xfrm>
            <a:off x="4334546" y="729320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Constituente</a:t>
            </a:r>
            <a:r>
              <a:rPr lang="pt-BR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básicos de um LLM</a:t>
            </a:r>
            <a:endParaRPr lang="pt-BR" dirty="0"/>
          </a:p>
        </p:txBody>
      </p:sp>
      <p:sp>
        <p:nvSpPr>
          <p:cNvPr id="49" name="Rectangle 1">
            <a:extLst>
              <a:ext uri="{FF2B5EF4-FFF2-40B4-BE49-F238E27FC236}">
                <a16:creationId xmlns:a16="http://schemas.microsoft.com/office/drawing/2014/main" id="{C32FF043-36DB-0584-72BB-BEF9F65E5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1595" y="1377787"/>
            <a:ext cx="5346205" cy="26776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pt-BR" altLang="pt-BR" dirty="0">
                <a:latin typeface="Arial" panose="020B0604020202020204" pitchFamily="34" charset="0"/>
              </a:rPr>
              <a:t>É o motor de raciocínio.</a:t>
            </a:r>
          </a:p>
          <a:p>
            <a:pPr marL="285750" lvl="0" indent="-285750" algn="just" eaLnBrk="0" fontAlgn="base" hangingPunct="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pt-BR" altLang="pt-BR" dirty="0">
                <a:latin typeface="Arial" panose="020B0604020202020204" pitchFamily="34" charset="0"/>
              </a:rPr>
              <a:t>Recebe a entrada do usuário (texto) e processa usando os pesos aprendidos para gerar a saída (resposta).</a:t>
            </a:r>
          </a:p>
          <a:p>
            <a:pPr marL="285750" lvl="0" indent="-285750" algn="just" eaLnBrk="0" fontAlgn="base" hangingPunct="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pt-BR" altLang="pt-BR" dirty="0">
                <a:latin typeface="Arial" panose="020B0604020202020204" pitchFamily="34" charset="0"/>
              </a:rPr>
              <a:t>É o que realmente faz a predição da próxima palavra/token em tempo real.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C225E559-947F-A170-DB6C-51FD6520A626}"/>
              </a:ext>
            </a:extLst>
          </p:cNvPr>
          <p:cNvSpPr/>
          <p:nvPr/>
        </p:nvSpPr>
        <p:spPr>
          <a:xfrm>
            <a:off x="4816549" y="2319529"/>
            <a:ext cx="754911" cy="6174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1149510-F693-D6AF-AE70-83534C17D8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76517" y="2299694"/>
            <a:ext cx="946955" cy="903814"/>
          </a:xfrm>
          <a:prstGeom prst="rect">
            <a:avLst/>
          </a:prstGeom>
        </p:spPr>
      </p:pic>
      <p:sp>
        <p:nvSpPr>
          <p:cNvPr id="6" name="Seta: de Cima para Baixo 5">
            <a:extLst>
              <a:ext uri="{FF2B5EF4-FFF2-40B4-BE49-F238E27FC236}">
                <a16:creationId xmlns:a16="http://schemas.microsoft.com/office/drawing/2014/main" id="{35D68E8D-E8DD-846E-C332-2E53B6831AD5}"/>
              </a:ext>
            </a:extLst>
          </p:cNvPr>
          <p:cNvSpPr/>
          <p:nvPr/>
        </p:nvSpPr>
        <p:spPr>
          <a:xfrm>
            <a:off x="3678865" y="3442224"/>
            <a:ext cx="542261" cy="86396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BC266F6-82EF-35D2-0ECE-AFD9FDFF4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63399" y="246240"/>
            <a:ext cx="1130803" cy="107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3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2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26A3F-F2EE-B481-F6DA-2EFF9243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5A07B2FF-0788-DDCA-FE5A-A58C1871E935}"/>
              </a:ext>
            </a:extLst>
          </p:cNvPr>
          <p:cNvSpPr/>
          <p:nvPr/>
        </p:nvSpPr>
        <p:spPr>
          <a:xfrm>
            <a:off x="160949" y="1185836"/>
            <a:ext cx="2159997" cy="5562035"/>
          </a:xfrm>
          <a:prstGeom prst="roundRect">
            <a:avLst/>
          </a:prstGeom>
          <a:solidFill>
            <a:srgbClr val="FFFF00">
              <a:alpha val="3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20A87A-5668-7E2A-5CE3-7B2CF31F68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48" name="CaixaDeTexto 47">
            <a:extLst>
              <a:ext uri="{FF2B5EF4-FFF2-40B4-BE49-F238E27FC236}">
                <a16:creationId xmlns:a16="http://schemas.microsoft.com/office/drawing/2014/main" id="{F01B41F1-F474-0504-66C0-0C198656750B}"/>
              </a:ext>
            </a:extLst>
          </p:cNvPr>
          <p:cNvSpPr txBox="1"/>
          <p:nvPr/>
        </p:nvSpPr>
        <p:spPr>
          <a:xfrm>
            <a:off x="71685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04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A8B804A6-9709-B776-A759-05932F995512}"/>
              </a:ext>
            </a:extLst>
          </p:cNvPr>
          <p:cNvSpPr txBox="1"/>
          <p:nvPr/>
        </p:nvSpPr>
        <p:spPr>
          <a:xfrm>
            <a:off x="219372" y="2289108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agronegócio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7EC9DE17-A24E-6402-6B65-D03B8789AB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8424" y="3649398"/>
            <a:ext cx="1130803" cy="1079286"/>
          </a:xfrm>
          <a:prstGeom prst="rect">
            <a:avLst/>
          </a:prstGeom>
        </p:spPr>
      </p:pic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302C517F-A823-9220-5FD3-033677678319}"/>
              </a:ext>
            </a:extLst>
          </p:cNvPr>
          <p:cNvSpPr txBox="1"/>
          <p:nvPr/>
        </p:nvSpPr>
        <p:spPr>
          <a:xfrm>
            <a:off x="532545" y="5480488"/>
            <a:ext cx="16962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Ricardo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Gomes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2159DC1-A3C1-40B3-3025-53D2E38AFF1A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21" name="Cilindro 20">
            <a:extLst>
              <a:ext uri="{FF2B5EF4-FFF2-40B4-BE49-F238E27FC236}">
                <a16:creationId xmlns:a16="http://schemas.microsoft.com/office/drawing/2014/main" id="{8B05FD40-D2D4-FA5B-92DF-0C994B7C7662}"/>
              </a:ext>
            </a:extLst>
          </p:cNvPr>
          <p:cNvSpPr/>
          <p:nvPr/>
        </p:nvSpPr>
        <p:spPr>
          <a:xfrm>
            <a:off x="3326428" y="4404551"/>
            <a:ext cx="1248803" cy="153374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AB2AFE2-6328-2DFD-C2F5-1F6880867C6C}"/>
              </a:ext>
            </a:extLst>
          </p:cNvPr>
          <p:cNvSpPr txBox="1"/>
          <p:nvPr/>
        </p:nvSpPr>
        <p:spPr>
          <a:xfrm>
            <a:off x="3369953" y="4909001"/>
            <a:ext cx="1161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Base </a:t>
            </a:r>
            <a:r>
              <a:rPr lang="pt-BR" altLang="zh-CN" dirty="0"/>
              <a:t>d</a:t>
            </a:r>
            <a:r>
              <a:rPr lang="pt-BR" dirty="0"/>
              <a:t>e dados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030B7E49-DA18-42FB-331F-97DBE38582E1}"/>
              </a:ext>
            </a:extLst>
          </p:cNvPr>
          <p:cNvSpPr txBox="1"/>
          <p:nvPr/>
        </p:nvSpPr>
        <p:spPr>
          <a:xfrm>
            <a:off x="4334546" y="729320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Constituente</a:t>
            </a:r>
            <a:r>
              <a:rPr lang="pt-BR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básicos de um LLM</a:t>
            </a:r>
            <a:endParaRPr lang="pt-BR" dirty="0"/>
          </a:p>
        </p:txBody>
      </p:sp>
      <p:sp>
        <p:nvSpPr>
          <p:cNvPr id="49" name="Rectangle 1">
            <a:extLst>
              <a:ext uri="{FF2B5EF4-FFF2-40B4-BE49-F238E27FC236}">
                <a16:creationId xmlns:a16="http://schemas.microsoft.com/office/drawing/2014/main" id="{7BD3A769-E8CA-8618-D653-B45CE1D93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0109" y="1326086"/>
            <a:ext cx="3465025" cy="10772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altLang="pt-BR" dirty="0">
                <a:latin typeface="Arial" panose="020B0604020202020204" pitchFamily="34" charset="0"/>
              </a:rPr>
              <a:t>conecta o usuário ao modelo.</a:t>
            </a:r>
          </a:p>
          <a:p>
            <a:pPr marL="285750" lvl="0" indent="-285750" algn="just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altLang="pt-BR" dirty="0">
                <a:latin typeface="Arial" panose="020B0604020202020204" pitchFamily="34" charset="0"/>
              </a:rPr>
              <a:t>chat ou app, voz, ou API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CAD95730-CA23-02E3-8585-8205DC683589}"/>
              </a:ext>
            </a:extLst>
          </p:cNvPr>
          <p:cNvSpPr/>
          <p:nvPr/>
        </p:nvSpPr>
        <p:spPr>
          <a:xfrm>
            <a:off x="6803049" y="3456473"/>
            <a:ext cx="754911" cy="6174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524C5E-93D3-8A5A-AA59-04D5A6DE7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76517" y="2299694"/>
            <a:ext cx="946955" cy="903814"/>
          </a:xfrm>
          <a:prstGeom prst="rect">
            <a:avLst/>
          </a:prstGeom>
        </p:spPr>
      </p:pic>
      <p:sp>
        <p:nvSpPr>
          <p:cNvPr id="6" name="Seta: de Cima para Baixo 5">
            <a:extLst>
              <a:ext uri="{FF2B5EF4-FFF2-40B4-BE49-F238E27FC236}">
                <a16:creationId xmlns:a16="http://schemas.microsoft.com/office/drawing/2014/main" id="{D1D1FCC3-C161-6C2F-8C1B-027A0EC0C770}"/>
              </a:ext>
            </a:extLst>
          </p:cNvPr>
          <p:cNvSpPr/>
          <p:nvPr/>
        </p:nvSpPr>
        <p:spPr>
          <a:xfrm>
            <a:off x="3678865" y="3442224"/>
            <a:ext cx="542261" cy="86396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8208F57-8C07-9331-FA2E-C34321873A56}"/>
              </a:ext>
            </a:extLst>
          </p:cNvPr>
          <p:cNvSpPr/>
          <p:nvPr/>
        </p:nvSpPr>
        <p:spPr>
          <a:xfrm>
            <a:off x="5706647" y="2289108"/>
            <a:ext cx="871870" cy="353753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369A84-A33C-D372-F03C-8669E2D6E4C5}"/>
              </a:ext>
            </a:extLst>
          </p:cNvPr>
          <p:cNvSpPr txBox="1"/>
          <p:nvPr/>
        </p:nvSpPr>
        <p:spPr>
          <a:xfrm>
            <a:off x="5814880" y="2923842"/>
            <a:ext cx="62068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800" dirty="0"/>
              <a:t>I</a:t>
            </a:r>
          </a:p>
          <a:p>
            <a:pPr algn="ctr"/>
            <a:r>
              <a:rPr lang="pt-BR" sz="4800" dirty="0"/>
              <a:t>H</a:t>
            </a:r>
          </a:p>
          <a:p>
            <a:pPr algn="ctr"/>
            <a:r>
              <a:rPr lang="pt-BR" sz="4800" dirty="0"/>
              <a:t>M</a:t>
            </a:r>
          </a:p>
        </p:txBody>
      </p:sp>
      <p:sp>
        <p:nvSpPr>
          <p:cNvPr id="9" name="Seta: de Cima para Baixo 8">
            <a:extLst>
              <a:ext uri="{FF2B5EF4-FFF2-40B4-BE49-F238E27FC236}">
                <a16:creationId xmlns:a16="http://schemas.microsoft.com/office/drawing/2014/main" id="{532B97CF-6302-FF3E-0D4F-5594A3360747}"/>
              </a:ext>
            </a:extLst>
          </p:cNvPr>
          <p:cNvSpPr/>
          <p:nvPr/>
        </p:nvSpPr>
        <p:spPr>
          <a:xfrm rot="5400000">
            <a:off x="4737826" y="2209230"/>
            <a:ext cx="542261" cy="111219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de Cima para Baixo 9">
            <a:extLst>
              <a:ext uri="{FF2B5EF4-FFF2-40B4-BE49-F238E27FC236}">
                <a16:creationId xmlns:a16="http://schemas.microsoft.com/office/drawing/2014/main" id="{9A431516-5F5A-86D6-6B5F-7ADD4EDD5F0B}"/>
              </a:ext>
            </a:extLst>
          </p:cNvPr>
          <p:cNvSpPr/>
          <p:nvPr/>
        </p:nvSpPr>
        <p:spPr>
          <a:xfrm rot="5400000">
            <a:off x="4861943" y="4567834"/>
            <a:ext cx="542261" cy="86396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245F4B-3F95-35AE-5284-BA804A11FCE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616771" y="2437560"/>
            <a:ext cx="1872667" cy="393398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8990B5E-A4F0-266E-6B91-610F574160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00248" y="246800"/>
            <a:ext cx="1130803" cy="107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3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2" grpId="0" animBg="1"/>
      <p:bldP spid="7" grpId="0" animBg="1"/>
      <p:bldP spid="8" grpId="0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6CC6-5667-028F-FB4F-28FB91A9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592BA6D-6760-9150-8738-AC78E7CB2C80}"/>
              </a:ext>
            </a:extLst>
          </p:cNvPr>
          <p:cNvSpPr/>
          <p:nvPr/>
        </p:nvSpPr>
        <p:spPr>
          <a:xfrm>
            <a:off x="160949" y="1185836"/>
            <a:ext cx="2159997" cy="5562035"/>
          </a:xfrm>
          <a:prstGeom prst="roundRect">
            <a:avLst/>
          </a:prstGeom>
          <a:solidFill>
            <a:srgbClr val="FFFF00">
              <a:alpha val="3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3D47D02-6D95-DB84-CFC2-DEF4A3E5A3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48" name="CaixaDeTexto 47">
            <a:extLst>
              <a:ext uri="{FF2B5EF4-FFF2-40B4-BE49-F238E27FC236}">
                <a16:creationId xmlns:a16="http://schemas.microsoft.com/office/drawing/2014/main" id="{B8F03C15-B443-FDC9-2FD6-8977DC14FD3D}"/>
              </a:ext>
            </a:extLst>
          </p:cNvPr>
          <p:cNvSpPr txBox="1"/>
          <p:nvPr/>
        </p:nvSpPr>
        <p:spPr>
          <a:xfrm>
            <a:off x="71685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04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DC4360B6-903A-4C25-19BD-73B276BD8D4F}"/>
              </a:ext>
            </a:extLst>
          </p:cNvPr>
          <p:cNvSpPr txBox="1"/>
          <p:nvPr/>
        </p:nvSpPr>
        <p:spPr>
          <a:xfrm>
            <a:off x="219372" y="2289108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agronegócio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49ECC0A1-B360-B984-F1BA-6D4CF7DE2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8424" y="3649398"/>
            <a:ext cx="1130803" cy="1079286"/>
          </a:xfrm>
          <a:prstGeom prst="rect">
            <a:avLst/>
          </a:prstGeom>
        </p:spPr>
      </p:pic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17ADF55B-391B-2B7C-18CF-364A5A4FBD55}"/>
              </a:ext>
            </a:extLst>
          </p:cNvPr>
          <p:cNvSpPr txBox="1"/>
          <p:nvPr/>
        </p:nvSpPr>
        <p:spPr>
          <a:xfrm>
            <a:off x="532545" y="5480488"/>
            <a:ext cx="16962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Ricardo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Gomes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D6F3108-71EC-1603-B307-046F0612B970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4C56215-2EDD-79C6-46F4-B625902D0098}"/>
              </a:ext>
            </a:extLst>
          </p:cNvPr>
          <p:cNvPicPr>
            <a:picLocks noChangeAspect="1"/>
          </p:cNvPicPr>
          <p:nvPr/>
        </p:nvPicPr>
        <p:blipFill>
          <a:blip/>
          <a:srcRect t="1061"/>
          <a:stretch>
            <a:fillRect/>
          </a:stretch>
        </p:blipFill>
        <p:spPr>
          <a:xfrm>
            <a:off x="8139175" y="2458620"/>
            <a:ext cx="1138943" cy="100866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D8F86D4-6F16-B9C5-6E46-DE6042914E0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765148" y="3829808"/>
            <a:ext cx="2006084" cy="73908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34C33F5-47A4-6740-CB50-42019192218F}"/>
              </a:ext>
            </a:extLst>
          </p:cNvPr>
          <p:cNvPicPr>
            <a:picLocks noChangeAspect="1"/>
          </p:cNvPicPr>
          <p:nvPr/>
        </p:nvPicPr>
        <p:blipFill>
          <a:blip/>
          <a:srcRect l="16658" t="28748" r="9924" b="13399"/>
          <a:stretch>
            <a:fillRect/>
          </a:stretch>
        </p:blipFill>
        <p:spPr>
          <a:xfrm>
            <a:off x="9771232" y="3983682"/>
            <a:ext cx="2161745" cy="58477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001D8F3-22DA-9FCD-1DEE-D61808FD1E9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033251" y="4903166"/>
            <a:ext cx="1657148" cy="83493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834B27B-3987-7827-4DC3-B9D6351E34A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055261" y="4929696"/>
            <a:ext cx="1877716" cy="781869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8440EF38-A5DF-2222-7589-EAC1216B407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830281" y="2496902"/>
            <a:ext cx="1949449" cy="932098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0707B19E-2DD3-BA05-B04E-8A09BCD185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67313" y="497050"/>
            <a:ext cx="946955" cy="90381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6DED50A-4BFF-F52F-8444-078D0932ED92}"/>
              </a:ext>
            </a:extLst>
          </p:cNvPr>
          <p:cNvSpPr txBox="1"/>
          <p:nvPr/>
        </p:nvSpPr>
        <p:spPr>
          <a:xfrm>
            <a:off x="2379369" y="1503736"/>
            <a:ext cx="4016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Selecionar Transformers de mercado para testes.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AACB78F-82EF-E9AD-59D6-827E9BFFAE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699" b="89967" l="9790" r="93706">
                        <a14:foregroundMark x1="88112" y1="53512" x2="88112" y2="53512"/>
                        <a14:foregroundMark x1="88112" y1="52174" x2="88112" y2="52174"/>
                        <a14:foregroundMark x1="89510" y1="52843" x2="89510" y2="52843"/>
                        <a14:foregroundMark x1="63986" y1="46154" x2="63986" y2="46154"/>
                        <a14:foregroundMark x1="93706" y1="23077" x2="93706" y2="230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33899" y="1287468"/>
            <a:ext cx="1120232" cy="1171152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1AE74F8E-B9B2-DDE2-FCFE-35B83EAA2486}"/>
              </a:ext>
            </a:extLst>
          </p:cNvPr>
          <p:cNvSpPr/>
          <p:nvPr/>
        </p:nvSpPr>
        <p:spPr>
          <a:xfrm>
            <a:off x="7644984" y="4728684"/>
            <a:ext cx="2126248" cy="1327342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3DC594B-35A0-77ED-CC63-50CE12FE3898}"/>
              </a:ext>
            </a:extLst>
          </p:cNvPr>
          <p:cNvSpPr txBox="1"/>
          <p:nvPr/>
        </p:nvSpPr>
        <p:spPr>
          <a:xfrm>
            <a:off x="8033494" y="6230508"/>
            <a:ext cx="1503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cap="all" dirty="0">
                <a:solidFill>
                  <a:srgbClr val="FF0000"/>
                </a:solidFill>
              </a:rPr>
              <a:t>Uso atual</a:t>
            </a:r>
          </a:p>
        </p:txBody>
      </p:sp>
    </p:spTree>
    <p:extLst>
      <p:ext uri="{BB962C8B-B14F-4D97-AF65-F5344CB8AC3E}">
        <p14:creationId xmlns:p14="http://schemas.microsoft.com/office/powerpoint/2010/main" val="372941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7BF24-E998-806B-2ED0-1166DBD42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B046332A-DD63-385C-473F-212A354D24FC}"/>
              </a:ext>
            </a:extLst>
          </p:cNvPr>
          <p:cNvSpPr/>
          <p:nvPr/>
        </p:nvSpPr>
        <p:spPr>
          <a:xfrm>
            <a:off x="160949" y="1185836"/>
            <a:ext cx="2159997" cy="5562035"/>
          </a:xfrm>
          <a:prstGeom prst="roundRect">
            <a:avLst/>
          </a:prstGeom>
          <a:solidFill>
            <a:srgbClr val="FFFF00">
              <a:alpha val="3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E66B50-3D0F-397B-AFBB-AA4B895466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48" name="CaixaDeTexto 47">
            <a:extLst>
              <a:ext uri="{FF2B5EF4-FFF2-40B4-BE49-F238E27FC236}">
                <a16:creationId xmlns:a16="http://schemas.microsoft.com/office/drawing/2014/main" id="{A488A681-8E29-0859-1E49-50F851FFD4B0}"/>
              </a:ext>
            </a:extLst>
          </p:cNvPr>
          <p:cNvSpPr txBox="1"/>
          <p:nvPr/>
        </p:nvSpPr>
        <p:spPr>
          <a:xfrm>
            <a:off x="71685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04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6B6D8EFC-305A-D457-74EB-CAD1FD4B645B}"/>
              </a:ext>
            </a:extLst>
          </p:cNvPr>
          <p:cNvSpPr txBox="1"/>
          <p:nvPr/>
        </p:nvSpPr>
        <p:spPr>
          <a:xfrm>
            <a:off x="219372" y="2289108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agronegócio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A3281594-09EA-BFFB-FFC7-A40B80E862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8424" y="3649398"/>
            <a:ext cx="1130803" cy="1079286"/>
          </a:xfrm>
          <a:prstGeom prst="rect">
            <a:avLst/>
          </a:prstGeom>
        </p:spPr>
      </p:pic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9F60C7EB-96EE-2F9F-59A1-B9EB67A20114}"/>
              </a:ext>
            </a:extLst>
          </p:cNvPr>
          <p:cNvSpPr txBox="1"/>
          <p:nvPr/>
        </p:nvSpPr>
        <p:spPr>
          <a:xfrm>
            <a:off x="532545" y="5480488"/>
            <a:ext cx="16962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Ricardo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Gomes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0B7E459-8F03-F3B7-0AE1-536CB143E53D}"/>
              </a:ext>
            </a:extLst>
          </p:cNvPr>
          <p:cNvSpPr txBox="1"/>
          <p:nvPr/>
        </p:nvSpPr>
        <p:spPr>
          <a:xfrm>
            <a:off x="1530534" y="101010"/>
            <a:ext cx="83621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Linhas de pesquisa e Potenciais desenvolvimentos</a:t>
            </a:r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169AF478-F1D0-B4C2-E49B-619EAB69A1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67313" y="497050"/>
            <a:ext cx="946955" cy="90381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894792E-0D9C-4EB4-A2EB-41B9FD4454B9}"/>
              </a:ext>
            </a:extLst>
          </p:cNvPr>
          <p:cNvSpPr txBox="1"/>
          <p:nvPr/>
        </p:nvSpPr>
        <p:spPr>
          <a:xfrm>
            <a:off x="2379369" y="1503736"/>
            <a:ext cx="4016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Selecionar Transformers de mercado para testes.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E89AAB0-CA67-D95A-9866-DC66C9CB63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699" b="89967" l="9790" r="93706">
                        <a14:foregroundMark x1="88112" y1="53512" x2="88112" y2="53512"/>
                        <a14:foregroundMark x1="88112" y1="52174" x2="88112" y2="52174"/>
                        <a14:foregroundMark x1="89510" y1="52843" x2="89510" y2="52843"/>
                        <a14:foregroundMark x1="63986" y1="46154" x2="63986" y2="46154"/>
                        <a14:foregroundMark x1="93706" y1="23077" x2="93706" y2="230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33899" y="1287468"/>
            <a:ext cx="1120232" cy="117115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61D2BEA-CAB1-E69E-23AB-5A31CBC63723}"/>
              </a:ext>
            </a:extLst>
          </p:cNvPr>
          <p:cNvSpPr txBox="1"/>
          <p:nvPr/>
        </p:nvSpPr>
        <p:spPr>
          <a:xfrm>
            <a:off x="2437792" y="2859243"/>
            <a:ext cx="4016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 startAt="2"/>
            </a:pPr>
            <a:r>
              <a:rPr lang="pt-BR" sz="2400" dirty="0"/>
              <a:t>Criar e testar plat.  benchmark automático entre os </a:t>
            </a:r>
            <a:r>
              <a:rPr lang="pt-BR" sz="2400" dirty="0" err="1"/>
              <a:t>transformers</a:t>
            </a:r>
            <a:endParaRPr lang="pt-BR" sz="2400" dirty="0"/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FED3E21E-C902-1164-ADA5-AF9A8C32DF2F}"/>
              </a:ext>
            </a:extLst>
          </p:cNvPr>
          <p:cNvSpPr/>
          <p:nvPr/>
        </p:nvSpPr>
        <p:spPr>
          <a:xfrm>
            <a:off x="7436698" y="3716957"/>
            <a:ext cx="1230146" cy="793487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19448D8B-45C1-F9C8-644B-7E2E564AAB8A}"/>
              </a:ext>
            </a:extLst>
          </p:cNvPr>
          <p:cNvSpPr txBox="1"/>
          <p:nvPr/>
        </p:nvSpPr>
        <p:spPr>
          <a:xfrm>
            <a:off x="7360280" y="3793367"/>
            <a:ext cx="1306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BASE DE DADOS</a:t>
            </a:r>
          </a:p>
        </p:txBody>
      </p:sp>
      <p:sp>
        <p:nvSpPr>
          <p:cNvPr id="73" name="Fluxograma: Disco Magnético 72">
            <a:extLst>
              <a:ext uri="{FF2B5EF4-FFF2-40B4-BE49-F238E27FC236}">
                <a16:creationId xmlns:a16="http://schemas.microsoft.com/office/drawing/2014/main" id="{A861F4C8-3E11-680F-B0D2-7D15F193605A}"/>
              </a:ext>
            </a:extLst>
          </p:cNvPr>
          <p:cNvSpPr/>
          <p:nvPr/>
        </p:nvSpPr>
        <p:spPr>
          <a:xfrm>
            <a:off x="9275022" y="2636485"/>
            <a:ext cx="856845" cy="793487"/>
          </a:xfrm>
          <a:prstGeom prst="flowChartMagneticDisk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Fluxograma: Disco Magnético 73">
            <a:extLst>
              <a:ext uri="{FF2B5EF4-FFF2-40B4-BE49-F238E27FC236}">
                <a16:creationId xmlns:a16="http://schemas.microsoft.com/office/drawing/2014/main" id="{08C2E575-5BED-30BB-A009-B9F5A7DA6C91}"/>
              </a:ext>
            </a:extLst>
          </p:cNvPr>
          <p:cNvSpPr/>
          <p:nvPr/>
        </p:nvSpPr>
        <p:spPr>
          <a:xfrm>
            <a:off x="9275022" y="3715343"/>
            <a:ext cx="856845" cy="793487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Fluxograma: Disco Magnético 74">
            <a:extLst>
              <a:ext uri="{FF2B5EF4-FFF2-40B4-BE49-F238E27FC236}">
                <a16:creationId xmlns:a16="http://schemas.microsoft.com/office/drawing/2014/main" id="{00F9DDF6-09A2-3D85-B2A0-4589C985910C}"/>
              </a:ext>
            </a:extLst>
          </p:cNvPr>
          <p:cNvSpPr/>
          <p:nvPr/>
        </p:nvSpPr>
        <p:spPr>
          <a:xfrm>
            <a:off x="9275022" y="4940830"/>
            <a:ext cx="856845" cy="793487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E31E9786-4374-6278-94A7-843FB15D27DB}"/>
              </a:ext>
            </a:extLst>
          </p:cNvPr>
          <p:cNvSpPr txBox="1"/>
          <p:nvPr/>
        </p:nvSpPr>
        <p:spPr>
          <a:xfrm>
            <a:off x="9490256" y="2859243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T1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247F04E0-1BF4-B2AE-96AA-10AF908BC209}"/>
              </a:ext>
            </a:extLst>
          </p:cNvPr>
          <p:cNvSpPr txBox="1"/>
          <p:nvPr/>
        </p:nvSpPr>
        <p:spPr>
          <a:xfrm>
            <a:off x="9456572" y="3984170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T2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2ED9C34A-A029-34D6-F627-1BCCA1FDFEEC}"/>
              </a:ext>
            </a:extLst>
          </p:cNvPr>
          <p:cNvSpPr txBox="1"/>
          <p:nvPr/>
        </p:nvSpPr>
        <p:spPr>
          <a:xfrm>
            <a:off x="9485317" y="5179347"/>
            <a:ext cx="47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Tn</a:t>
            </a:r>
            <a:endParaRPr lang="pt-BR" sz="2000" dirty="0"/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60DC9A27-B731-3A04-E147-024E0CFAAB79}"/>
              </a:ext>
            </a:extLst>
          </p:cNvPr>
          <p:cNvSpPr/>
          <p:nvPr/>
        </p:nvSpPr>
        <p:spPr>
          <a:xfrm>
            <a:off x="10773697" y="2453198"/>
            <a:ext cx="1204933" cy="35087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8593E3CC-968D-D61A-6013-690E63B9A062}"/>
              </a:ext>
            </a:extLst>
          </p:cNvPr>
          <p:cNvSpPr txBox="1"/>
          <p:nvPr/>
        </p:nvSpPr>
        <p:spPr>
          <a:xfrm rot="5400000">
            <a:off x="9969769" y="3813519"/>
            <a:ext cx="2873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/>
              <a:t>COMPARAÇÃO</a:t>
            </a:r>
          </a:p>
          <a:p>
            <a:pPr algn="ctr"/>
            <a:r>
              <a:rPr lang="pt-BR" sz="2000" dirty="0"/>
              <a:t> DESEMPENHO &amp; CUSTO</a:t>
            </a:r>
          </a:p>
        </p:txBody>
      </p:sp>
      <p:cxnSp>
        <p:nvCxnSpPr>
          <p:cNvPr id="81" name="Conector: Angulado 80">
            <a:extLst>
              <a:ext uri="{FF2B5EF4-FFF2-40B4-BE49-F238E27FC236}">
                <a16:creationId xmlns:a16="http://schemas.microsoft.com/office/drawing/2014/main" id="{DF03B4D2-F648-2E0E-84B2-4B556F1A4BFB}"/>
              </a:ext>
            </a:extLst>
          </p:cNvPr>
          <p:cNvCxnSpPr>
            <a:cxnSpLocks/>
            <a:stCxn id="71" idx="3"/>
            <a:endCxn id="73" idx="2"/>
          </p:cNvCxnSpPr>
          <p:nvPr/>
        </p:nvCxnSpPr>
        <p:spPr>
          <a:xfrm flipV="1">
            <a:off x="8666844" y="3033229"/>
            <a:ext cx="608178" cy="1080472"/>
          </a:xfrm>
          <a:prstGeom prst="bentConnector3">
            <a:avLst/>
          </a:prstGeom>
          <a:ln w="28575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: Angulado 81">
            <a:extLst>
              <a:ext uri="{FF2B5EF4-FFF2-40B4-BE49-F238E27FC236}">
                <a16:creationId xmlns:a16="http://schemas.microsoft.com/office/drawing/2014/main" id="{A2140BE9-A5ED-9DBA-2A47-471E24F62E3E}"/>
              </a:ext>
            </a:extLst>
          </p:cNvPr>
          <p:cNvCxnSpPr>
            <a:cxnSpLocks/>
            <a:stCxn id="71" idx="3"/>
            <a:endCxn id="74" idx="2"/>
          </p:cNvCxnSpPr>
          <p:nvPr/>
        </p:nvCxnSpPr>
        <p:spPr>
          <a:xfrm flipV="1">
            <a:off x="8666844" y="4112087"/>
            <a:ext cx="608178" cy="1614"/>
          </a:xfrm>
          <a:prstGeom prst="bentConnector3">
            <a:avLst>
              <a:gd name="adj1" fmla="val 50000"/>
            </a:avLst>
          </a:prstGeom>
          <a:ln w="28575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: Angulado 82">
            <a:extLst>
              <a:ext uri="{FF2B5EF4-FFF2-40B4-BE49-F238E27FC236}">
                <a16:creationId xmlns:a16="http://schemas.microsoft.com/office/drawing/2014/main" id="{2BC8CBFE-62CB-C870-C973-30E48A1FE10F}"/>
              </a:ext>
            </a:extLst>
          </p:cNvPr>
          <p:cNvCxnSpPr>
            <a:cxnSpLocks/>
            <a:stCxn id="71" idx="3"/>
            <a:endCxn id="75" idx="2"/>
          </p:cNvCxnSpPr>
          <p:nvPr/>
        </p:nvCxnSpPr>
        <p:spPr>
          <a:xfrm>
            <a:off x="8666844" y="4113701"/>
            <a:ext cx="608178" cy="1223873"/>
          </a:xfrm>
          <a:prstGeom prst="bentConnector3">
            <a:avLst>
              <a:gd name="adj1" fmla="val 50000"/>
            </a:avLst>
          </a:prstGeom>
          <a:ln w="28575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Seta: para a Direita 83">
            <a:extLst>
              <a:ext uri="{FF2B5EF4-FFF2-40B4-BE49-F238E27FC236}">
                <a16:creationId xmlns:a16="http://schemas.microsoft.com/office/drawing/2014/main" id="{2B386DE7-F4AD-ADCC-2E57-D045153EE2E9}"/>
              </a:ext>
            </a:extLst>
          </p:cNvPr>
          <p:cNvSpPr/>
          <p:nvPr/>
        </p:nvSpPr>
        <p:spPr>
          <a:xfrm>
            <a:off x="10223015" y="2938453"/>
            <a:ext cx="504474" cy="307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Seta: para a Direita 84">
            <a:extLst>
              <a:ext uri="{FF2B5EF4-FFF2-40B4-BE49-F238E27FC236}">
                <a16:creationId xmlns:a16="http://schemas.microsoft.com/office/drawing/2014/main" id="{5ADF6302-BB18-DAAC-2CCD-317ADC58369D}"/>
              </a:ext>
            </a:extLst>
          </p:cNvPr>
          <p:cNvSpPr/>
          <p:nvPr/>
        </p:nvSpPr>
        <p:spPr>
          <a:xfrm>
            <a:off x="10223015" y="3982649"/>
            <a:ext cx="504474" cy="307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Seta: para a Direita 85">
            <a:extLst>
              <a:ext uri="{FF2B5EF4-FFF2-40B4-BE49-F238E27FC236}">
                <a16:creationId xmlns:a16="http://schemas.microsoft.com/office/drawing/2014/main" id="{49407A16-3259-2FC9-E8E0-6600C02020E3}"/>
              </a:ext>
            </a:extLst>
          </p:cNvPr>
          <p:cNvSpPr/>
          <p:nvPr/>
        </p:nvSpPr>
        <p:spPr>
          <a:xfrm>
            <a:off x="10206974" y="5118715"/>
            <a:ext cx="504474" cy="307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65E55F9E-2764-1906-9817-604D5A5330F8}"/>
              </a:ext>
            </a:extLst>
          </p:cNvPr>
          <p:cNvSpPr txBox="1"/>
          <p:nvPr/>
        </p:nvSpPr>
        <p:spPr>
          <a:xfrm rot="5400000">
            <a:off x="9525712" y="4493485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...</a:t>
            </a:r>
          </a:p>
        </p:txBody>
      </p:sp>
      <p:pic>
        <p:nvPicPr>
          <p:cNvPr id="89" name="Imagem 88">
            <a:extLst>
              <a:ext uri="{FF2B5EF4-FFF2-40B4-BE49-F238E27FC236}">
                <a16:creationId xmlns:a16="http://schemas.microsoft.com/office/drawing/2014/main" id="{53C1A3EF-273B-D9FB-0F11-7E66DB326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561" b="93540" l="3722" r="92308">
                        <a14:foregroundMark x1="87097" y1="81654" x2="87097" y2="81654"/>
                        <a14:foregroundMark x1="87097" y1="81654" x2="87097" y2="81654"/>
                        <a14:foregroundMark x1="87097" y1="81654" x2="87097" y2="81654"/>
                        <a14:foregroundMark x1="87097" y1="77261" x2="87097" y2="77261"/>
                        <a14:foregroundMark x1="92308" y1="91731" x2="92308" y2="91731"/>
                        <a14:foregroundMark x1="8189" y1="80362" x2="8189" y2="80362"/>
                        <a14:foregroundMark x1="3970" y1="80103" x2="3970" y2="80103"/>
                        <a14:foregroundMark x1="25806" y1="89664" x2="25806" y2="89664"/>
                        <a14:foregroundMark x1="25806" y1="89664" x2="25806" y2="89664"/>
                        <a14:foregroundMark x1="73945" y1="93540" x2="73945" y2="935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0443" y="2813384"/>
            <a:ext cx="946829" cy="90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80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1" grpId="0" animBg="1"/>
      <p:bldP spid="72" grpId="0"/>
      <p:bldP spid="73" grpId="0" animBg="1"/>
      <p:bldP spid="74" grpId="0" animBg="1"/>
      <p:bldP spid="75" grpId="0" animBg="1"/>
      <p:bldP spid="76" grpId="0"/>
      <p:bldP spid="77" grpId="0"/>
      <p:bldP spid="78" grpId="0"/>
      <p:bldP spid="79" grpId="0" animBg="1"/>
      <p:bldP spid="80" grpId="0"/>
      <p:bldP spid="84" grpId="0" animBg="1"/>
      <p:bldP spid="85" grpId="0" animBg="1"/>
      <p:bldP spid="86" grpId="0" animBg="1"/>
      <p:bldP spid="8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1B4B1-857B-4502-0737-F4BF9E954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9999FB8C-B936-E58A-7C3D-005483C6BEC0}"/>
              </a:ext>
            </a:extLst>
          </p:cNvPr>
          <p:cNvSpPr/>
          <p:nvPr/>
        </p:nvSpPr>
        <p:spPr>
          <a:xfrm>
            <a:off x="160949" y="1185836"/>
            <a:ext cx="2159997" cy="5562035"/>
          </a:xfrm>
          <a:prstGeom prst="roundRect">
            <a:avLst/>
          </a:prstGeom>
          <a:solidFill>
            <a:srgbClr val="FFFF00">
              <a:alpha val="3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7E2DE1-5652-35D9-53F6-FFE8668165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48" name="CaixaDeTexto 47">
            <a:extLst>
              <a:ext uri="{FF2B5EF4-FFF2-40B4-BE49-F238E27FC236}">
                <a16:creationId xmlns:a16="http://schemas.microsoft.com/office/drawing/2014/main" id="{D234BEB1-8E13-7BB7-566A-8E90D945FAD7}"/>
              </a:ext>
            </a:extLst>
          </p:cNvPr>
          <p:cNvSpPr txBox="1"/>
          <p:nvPr/>
        </p:nvSpPr>
        <p:spPr>
          <a:xfrm>
            <a:off x="71685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04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F76040CF-DA68-E730-F846-DA06A50DF0B7}"/>
              </a:ext>
            </a:extLst>
          </p:cNvPr>
          <p:cNvSpPr txBox="1"/>
          <p:nvPr/>
        </p:nvSpPr>
        <p:spPr>
          <a:xfrm>
            <a:off x="219372" y="2289108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agronegócio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748FA3EE-FAE0-0CC2-1AD9-E292F75650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8424" y="3649398"/>
            <a:ext cx="1130803" cy="1079286"/>
          </a:xfrm>
          <a:prstGeom prst="rect">
            <a:avLst/>
          </a:prstGeom>
        </p:spPr>
      </p:pic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58175686-A9F4-CBFF-EE94-C12CAABB55DD}"/>
              </a:ext>
            </a:extLst>
          </p:cNvPr>
          <p:cNvSpPr txBox="1"/>
          <p:nvPr/>
        </p:nvSpPr>
        <p:spPr>
          <a:xfrm>
            <a:off x="532545" y="5480488"/>
            <a:ext cx="16962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Ricardo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Gomes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88A2B39-5EDA-8067-BB4C-03590E00EA74}"/>
              </a:ext>
            </a:extLst>
          </p:cNvPr>
          <p:cNvSpPr txBox="1"/>
          <p:nvPr/>
        </p:nvSpPr>
        <p:spPr>
          <a:xfrm>
            <a:off x="1530534" y="101010"/>
            <a:ext cx="83621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Linhas de pesquisa e Potenciais desenvolvimentos</a:t>
            </a:r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A6CB5213-6BB0-CADA-87C8-7F4068AE7A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67313" y="497050"/>
            <a:ext cx="946955" cy="90381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2042627-0582-A03B-E02D-6AB577BBC2A9}"/>
              </a:ext>
            </a:extLst>
          </p:cNvPr>
          <p:cNvSpPr txBox="1"/>
          <p:nvPr/>
        </p:nvSpPr>
        <p:spPr>
          <a:xfrm>
            <a:off x="2379369" y="1503736"/>
            <a:ext cx="4016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Selecionar Transformers de mercado para testes.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43A0A37-3231-B879-D44A-4A45A173B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699" b="89967" l="9790" r="93706">
                        <a14:foregroundMark x1="88112" y1="53512" x2="88112" y2="53512"/>
                        <a14:foregroundMark x1="88112" y1="52174" x2="88112" y2="52174"/>
                        <a14:foregroundMark x1="89510" y1="52843" x2="89510" y2="52843"/>
                        <a14:foregroundMark x1="63986" y1="46154" x2="63986" y2="46154"/>
                        <a14:foregroundMark x1="93706" y1="23077" x2="93706" y2="230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33899" y="1287468"/>
            <a:ext cx="1120232" cy="117115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C6B5D4F-DDC4-56BA-9A03-5C7703CF22EC}"/>
              </a:ext>
            </a:extLst>
          </p:cNvPr>
          <p:cNvSpPr txBox="1"/>
          <p:nvPr/>
        </p:nvSpPr>
        <p:spPr>
          <a:xfrm>
            <a:off x="2437792" y="2859243"/>
            <a:ext cx="4016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 startAt="2"/>
            </a:pPr>
            <a:r>
              <a:rPr lang="pt-BR" sz="2400" dirty="0"/>
              <a:t>Criar e testar plat.  benchmark automático entre os </a:t>
            </a:r>
            <a:r>
              <a:rPr lang="pt-BR" sz="2400" dirty="0" err="1"/>
              <a:t>transformers</a:t>
            </a:r>
            <a:endParaRPr lang="pt-BR" sz="2400" dirty="0"/>
          </a:p>
        </p:txBody>
      </p:sp>
      <p:pic>
        <p:nvPicPr>
          <p:cNvPr id="89" name="Imagem 88">
            <a:extLst>
              <a:ext uri="{FF2B5EF4-FFF2-40B4-BE49-F238E27FC236}">
                <a16:creationId xmlns:a16="http://schemas.microsoft.com/office/drawing/2014/main" id="{83B03BA0-6AD1-528E-A6E9-8667F1CC29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561" b="93540" l="3722" r="92308">
                        <a14:foregroundMark x1="87097" y1="81654" x2="87097" y2="81654"/>
                        <a14:foregroundMark x1="87097" y1="81654" x2="87097" y2="81654"/>
                        <a14:foregroundMark x1="87097" y1="81654" x2="87097" y2="81654"/>
                        <a14:foregroundMark x1="87097" y1="77261" x2="87097" y2="77261"/>
                        <a14:foregroundMark x1="92308" y1="91731" x2="92308" y2="91731"/>
                        <a14:foregroundMark x1="8189" y1="80362" x2="8189" y2="80362"/>
                        <a14:foregroundMark x1="3970" y1="80103" x2="3970" y2="80103"/>
                        <a14:foregroundMark x1="25806" y1="89664" x2="25806" y2="89664"/>
                        <a14:foregroundMark x1="25806" y1="89664" x2="25806" y2="89664"/>
                        <a14:foregroundMark x1="73945" y1="93540" x2="73945" y2="935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0443" y="2813384"/>
            <a:ext cx="946829" cy="90923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DE1BF2E-15B6-782F-FE22-48430F833463}"/>
              </a:ext>
            </a:extLst>
          </p:cNvPr>
          <p:cNvSpPr txBox="1"/>
          <p:nvPr/>
        </p:nvSpPr>
        <p:spPr>
          <a:xfrm>
            <a:off x="2437792" y="4754099"/>
            <a:ext cx="40163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 startAt="3"/>
            </a:pPr>
            <a:r>
              <a:rPr lang="pt-BR" sz="2400" dirty="0"/>
              <a:t>Investigar possibilidade de uso de SLM (</a:t>
            </a:r>
            <a:r>
              <a:rPr lang="pt-BR" sz="2400" dirty="0" err="1"/>
              <a:t>Small</a:t>
            </a:r>
            <a:r>
              <a:rPr lang="pt-BR" sz="2400" dirty="0"/>
              <a:t> </a:t>
            </a:r>
            <a:r>
              <a:rPr lang="pt-BR" sz="2400" dirty="0" err="1"/>
              <a:t>Language</a:t>
            </a:r>
            <a:r>
              <a:rPr lang="pt-BR" sz="2400" dirty="0"/>
              <a:t> Models) em vez de LLM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EDB0625-E59B-F73E-B819-56F6E9781AC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949765" y="4127015"/>
            <a:ext cx="3764503" cy="219674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D860D85-31E5-661A-093A-EC12946D235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30443" y="4945619"/>
            <a:ext cx="1150202" cy="62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88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90E75-F104-B9B7-9291-98C60D59C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D104A67-6DC4-D9FB-2028-114641D2878D}"/>
              </a:ext>
            </a:extLst>
          </p:cNvPr>
          <p:cNvSpPr/>
          <p:nvPr/>
        </p:nvSpPr>
        <p:spPr>
          <a:xfrm>
            <a:off x="322117" y="1194955"/>
            <a:ext cx="2159997" cy="5562035"/>
          </a:xfrm>
          <a:prstGeom prst="roundRect">
            <a:avLst/>
          </a:prstGeom>
          <a:solidFill>
            <a:srgbClr val="90C226">
              <a:alpha val="30196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BBA835C-53D1-FDD9-3C95-2492FA9237FE}"/>
              </a:ext>
            </a:extLst>
          </p:cNvPr>
          <p:cNvSpPr/>
          <p:nvPr/>
        </p:nvSpPr>
        <p:spPr>
          <a:xfrm>
            <a:off x="2578178" y="1194954"/>
            <a:ext cx="2159997" cy="5562035"/>
          </a:xfrm>
          <a:prstGeom prst="roundRect">
            <a:avLst/>
          </a:prstGeom>
          <a:solidFill>
            <a:srgbClr val="00B0F0">
              <a:alpha val="30196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F00D114D-5432-C4C5-0C6D-A402B1395B33}"/>
              </a:ext>
            </a:extLst>
          </p:cNvPr>
          <p:cNvSpPr/>
          <p:nvPr/>
        </p:nvSpPr>
        <p:spPr>
          <a:xfrm>
            <a:off x="4834239" y="1165630"/>
            <a:ext cx="2159997" cy="556203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6A1BA9A8-0714-EDEE-C09E-9536378FE0C8}"/>
              </a:ext>
            </a:extLst>
          </p:cNvPr>
          <p:cNvSpPr/>
          <p:nvPr/>
        </p:nvSpPr>
        <p:spPr>
          <a:xfrm>
            <a:off x="7079909" y="1185836"/>
            <a:ext cx="2159997" cy="5562035"/>
          </a:xfrm>
          <a:prstGeom prst="roundRect">
            <a:avLst/>
          </a:prstGeom>
          <a:solidFill>
            <a:srgbClr val="FFFF00">
              <a:alpha val="3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D7F6E6DF-9E67-3F41-52FA-C3C55496075F}"/>
              </a:ext>
            </a:extLst>
          </p:cNvPr>
          <p:cNvSpPr/>
          <p:nvPr/>
        </p:nvSpPr>
        <p:spPr>
          <a:xfrm>
            <a:off x="9346361" y="117544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0F9DCE7-1674-7ED8-2F4A-B08C9DCFC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6FEF664-8487-E57E-1A98-457A444881C9}"/>
              </a:ext>
            </a:extLst>
          </p:cNvPr>
          <p:cNvSpPr txBox="1"/>
          <p:nvPr/>
        </p:nvSpPr>
        <p:spPr>
          <a:xfrm>
            <a:off x="875925" y="1291693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92E02A5-3404-4745-487F-DAFBD954A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575" y="3273453"/>
            <a:ext cx="1351785" cy="139239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3281A8C-55D2-53BD-F662-8AEB664BEFD1}"/>
              </a:ext>
            </a:extLst>
          </p:cNvPr>
          <p:cNvSpPr txBox="1"/>
          <p:nvPr/>
        </p:nvSpPr>
        <p:spPr>
          <a:xfrm>
            <a:off x="2578178" y="2219786"/>
            <a:ext cx="2159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Conversão de formatos e estruturação de dados, vetorização e EBR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4103993-B272-1B7C-74BE-F2AC6D2AD327}"/>
              </a:ext>
            </a:extLst>
          </p:cNvPr>
          <p:cNvSpPr txBox="1"/>
          <p:nvPr/>
        </p:nvSpPr>
        <p:spPr>
          <a:xfrm>
            <a:off x="3088064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02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81D38A0B-AED6-18BA-07FC-93EB953541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2327" y="3554362"/>
            <a:ext cx="1191698" cy="1111488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E9595B51-B5B8-E0B0-11A8-D8C51E429795}"/>
              </a:ext>
            </a:extLst>
          </p:cNvPr>
          <p:cNvSpPr txBox="1"/>
          <p:nvPr/>
        </p:nvSpPr>
        <p:spPr>
          <a:xfrm>
            <a:off x="5285699" y="127056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03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DC72125B-52E1-6D7B-F366-819B24F7485C}"/>
              </a:ext>
            </a:extLst>
          </p:cNvPr>
          <p:cNvSpPr txBox="1"/>
          <p:nvPr/>
        </p:nvSpPr>
        <p:spPr>
          <a:xfrm>
            <a:off x="763581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04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76079F2A-B28A-D971-07C0-D485FDE6E256}"/>
              </a:ext>
            </a:extLst>
          </p:cNvPr>
          <p:cNvSpPr txBox="1"/>
          <p:nvPr/>
        </p:nvSpPr>
        <p:spPr>
          <a:xfrm>
            <a:off x="978878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05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D84A5D1A-17C3-A1E9-2594-489CBC2448A8}"/>
              </a:ext>
            </a:extLst>
          </p:cNvPr>
          <p:cNvSpPr txBox="1"/>
          <p:nvPr/>
        </p:nvSpPr>
        <p:spPr>
          <a:xfrm>
            <a:off x="4834237" y="2271136"/>
            <a:ext cx="21599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NR, vetorização e EBR</a:t>
            </a:r>
          </a:p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Infraestrutura computacional para o LLM em agronegócios</a:t>
            </a:r>
          </a:p>
        </p:txBody>
      </p:sp>
      <p:pic>
        <p:nvPicPr>
          <p:cNvPr id="83" name="Imagem 82">
            <a:extLst>
              <a:ext uri="{FF2B5EF4-FFF2-40B4-BE49-F238E27FC236}">
                <a16:creationId xmlns:a16="http://schemas.microsoft.com/office/drawing/2014/main" id="{BBC52457-B0D0-5DE3-AC08-6EA41F24F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7387" y="3649398"/>
            <a:ext cx="1139727" cy="1337596"/>
          </a:xfrm>
          <a:prstGeom prst="rect">
            <a:avLst/>
          </a:prstGeom>
        </p:spPr>
      </p:pic>
      <p:sp>
        <p:nvSpPr>
          <p:cNvPr id="90" name="CaixaDeTexto 89">
            <a:extLst>
              <a:ext uri="{FF2B5EF4-FFF2-40B4-BE49-F238E27FC236}">
                <a16:creationId xmlns:a16="http://schemas.microsoft.com/office/drawing/2014/main" id="{69B722BA-08D1-0805-3B9B-C815F6EEFD91}"/>
              </a:ext>
            </a:extLst>
          </p:cNvPr>
          <p:cNvSpPr txBox="1"/>
          <p:nvPr/>
        </p:nvSpPr>
        <p:spPr>
          <a:xfrm>
            <a:off x="7138332" y="2289108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agronegócio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7BBC906D-4540-0AD5-1ECE-A6D27D9447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57384" y="3649398"/>
            <a:ext cx="1130803" cy="1079286"/>
          </a:xfrm>
          <a:prstGeom prst="rect">
            <a:avLst/>
          </a:prstGeom>
        </p:spPr>
      </p:pic>
      <p:sp>
        <p:nvSpPr>
          <p:cNvPr id="99" name="CaixaDeTexto 98">
            <a:extLst>
              <a:ext uri="{FF2B5EF4-FFF2-40B4-BE49-F238E27FC236}">
                <a16:creationId xmlns:a16="http://schemas.microsoft.com/office/drawing/2014/main" id="{55B9BC2C-A77F-0BC7-6498-726E27BB704A}"/>
              </a:ext>
            </a:extLst>
          </p:cNvPr>
          <p:cNvSpPr txBox="1"/>
          <p:nvPr/>
        </p:nvSpPr>
        <p:spPr>
          <a:xfrm>
            <a:off x="9371887" y="2271136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agentes inteligentes</a:t>
            </a:r>
          </a:p>
        </p:txBody>
      </p:sp>
      <p:pic>
        <p:nvPicPr>
          <p:cNvPr id="101" name="Imagem 100">
            <a:extLst>
              <a:ext uri="{FF2B5EF4-FFF2-40B4-BE49-F238E27FC236}">
                <a16:creationId xmlns:a16="http://schemas.microsoft.com/office/drawing/2014/main" id="{C2768CF3-8FBF-B823-AD69-3F498BB607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9839570" y="3429000"/>
            <a:ext cx="1224629" cy="1533162"/>
          </a:xfrm>
          <a:prstGeom prst="rect">
            <a:avLst/>
          </a:prstGeom>
        </p:spPr>
      </p:pic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7684272C-451B-6349-D5C9-762DE5FF8E3B}"/>
              </a:ext>
            </a:extLst>
          </p:cNvPr>
          <p:cNvSpPr txBox="1"/>
          <p:nvPr/>
        </p:nvSpPr>
        <p:spPr>
          <a:xfrm>
            <a:off x="9613822" y="5480488"/>
            <a:ext cx="1625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Hilário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Izaias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413AF745-84C4-E3DB-D1DF-DAFF6FFD3903}"/>
              </a:ext>
            </a:extLst>
          </p:cNvPr>
          <p:cNvSpPr txBox="1"/>
          <p:nvPr/>
        </p:nvSpPr>
        <p:spPr>
          <a:xfrm>
            <a:off x="7451505" y="5480488"/>
            <a:ext cx="16962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Ricardo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Gomes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1BA824EB-E543-69D3-3071-CCA3378D923F}"/>
              </a:ext>
            </a:extLst>
          </p:cNvPr>
          <p:cNvSpPr txBox="1"/>
          <p:nvPr/>
        </p:nvSpPr>
        <p:spPr>
          <a:xfrm>
            <a:off x="5005636" y="5477307"/>
            <a:ext cx="15343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Sílvio Barbieri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Jean Acedo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Allan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Siriani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FBEC506D-678A-C5DB-D3FD-170E06A68BD9}"/>
              </a:ext>
            </a:extLst>
          </p:cNvPr>
          <p:cNvSpPr txBox="1"/>
          <p:nvPr/>
        </p:nvSpPr>
        <p:spPr>
          <a:xfrm>
            <a:off x="2749575" y="5459706"/>
            <a:ext cx="17940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Dionísio Junior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Leonardo Oliveira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Dirceu Gerardi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A04D6534-0CD6-74C0-8A28-AB005CE95978}"/>
              </a:ext>
            </a:extLst>
          </p:cNvPr>
          <p:cNvSpPr txBox="1"/>
          <p:nvPr/>
        </p:nvSpPr>
        <p:spPr>
          <a:xfrm>
            <a:off x="397450" y="5241662"/>
            <a:ext cx="16385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Luís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Zamariolli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Sérgio Negro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Gustavo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2B0DE70-5048-6360-68FD-05365360B864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F842899-A2D7-0120-ABE7-1AA6E64B6884}"/>
              </a:ext>
            </a:extLst>
          </p:cNvPr>
          <p:cNvSpPr txBox="1"/>
          <p:nvPr/>
        </p:nvSpPr>
        <p:spPr>
          <a:xfrm>
            <a:off x="300959" y="2246965"/>
            <a:ext cx="2159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Captação, qualificação e triagem de conhecimento agronômico</a:t>
            </a:r>
          </a:p>
        </p:txBody>
      </p:sp>
    </p:spTree>
    <p:extLst>
      <p:ext uri="{BB962C8B-B14F-4D97-AF65-F5344CB8AC3E}">
        <p14:creationId xmlns:p14="http://schemas.microsoft.com/office/powerpoint/2010/main" val="349088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E8F26-CC46-E4D6-F605-146C431ED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63FF388-6A59-C77A-91C0-0F2C47E939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557B006-92FA-C85F-1E27-1E905074705F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3283187-22A3-BBB5-8FE7-BD104FF38341}"/>
              </a:ext>
            </a:extLst>
          </p:cNvPr>
          <p:cNvSpPr/>
          <p:nvPr/>
        </p:nvSpPr>
        <p:spPr>
          <a:xfrm>
            <a:off x="127401" y="117544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36AF8C9-A7C9-C432-41DC-EE7257F464AA}"/>
              </a:ext>
            </a:extLst>
          </p:cNvPr>
          <p:cNvSpPr txBox="1"/>
          <p:nvPr/>
        </p:nvSpPr>
        <p:spPr>
          <a:xfrm>
            <a:off x="56982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05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7322C8F-F314-9858-BDB1-FDD4360EACEC}"/>
              </a:ext>
            </a:extLst>
          </p:cNvPr>
          <p:cNvSpPr txBox="1"/>
          <p:nvPr/>
        </p:nvSpPr>
        <p:spPr>
          <a:xfrm>
            <a:off x="152927" y="2271136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agentes inteligentes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23117A87-4367-ADF7-02BE-B4C9E0A62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620610" y="3429000"/>
            <a:ext cx="1224629" cy="1533162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88762BE1-BD91-5B58-0BC4-00EF919A748C}"/>
              </a:ext>
            </a:extLst>
          </p:cNvPr>
          <p:cNvSpPr txBox="1"/>
          <p:nvPr/>
        </p:nvSpPr>
        <p:spPr>
          <a:xfrm>
            <a:off x="394862" y="5480488"/>
            <a:ext cx="1625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Hilário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Izaias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94F84D6-4D87-2BBF-A158-8060FE063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10495123" y="393397"/>
            <a:ext cx="1224629" cy="1533162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28F032FA-668D-055F-20AE-8BCD3711D6FA}"/>
              </a:ext>
            </a:extLst>
          </p:cNvPr>
          <p:cNvSpPr txBox="1"/>
          <p:nvPr/>
        </p:nvSpPr>
        <p:spPr>
          <a:xfrm>
            <a:off x="2577489" y="1655872"/>
            <a:ext cx="1765911" cy="46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LLM V0.1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8544F2A-8B05-A717-E0E3-F7E84D658F5C}"/>
              </a:ext>
            </a:extLst>
          </p:cNvPr>
          <p:cNvSpPr txBox="1"/>
          <p:nvPr/>
        </p:nvSpPr>
        <p:spPr>
          <a:xfrm>
            <a:off x="4548149" y="1159978"/>
            <a:ext cx="5946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Baseado no </a:t>
            </a:r>
            <a:r>
              <a:rPr lang="pt-BR" sz="2400" dirty="0" err="1"/>
              <a:t>LLama</a:t>
            </a:r>
            <a:endParaRPr lang="pt-BR" sz="24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C2C10FA-9252-F129-A815-1CD5C58D86E0}"/>
              </a:ext>
            </a:extLst>
          </p:cNvPr>
          <p:cNvSpPr txBox="1"/>
          <p:nvPr/>
        </p:nvSpPr>
        <p:spPr>
          <a:xfrm>
            <a:off x="4548149" y="1666883"/>
            <a:ext cx="5946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altLang="zh-CN" sz="2400" dirty="0"/>
              <a:t>Arquivo anexado a cada sessão de consulta</a:t>
            </a:r>
            <a:endParaRPr lang="pt-BR" sz="24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ED923EB-B3BC-00CA-38F6-DCFE6FD38273}"/>
              </a:ext>
            </a:extLst>
          </p:cNvPr>
          <p:cNvSpPr txBox="1"/>
          <p:nvPr/>
        </p:nvSpPr>
        <p:spPr>
          <a:xfrm>
            <a:off x="4548149" y="2592412"/>
            <a:ext cx="5946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Usuário de um único tipo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456C8D7-0C28-743B-965D-7FC521DF5F65}"/>
              </a:ext>
            </a:extLst>
          </p:cNvPr>
          <p:cNvSpPr txBox="1"/>
          <p:nvPr/>
        </p:nvSpPr>
        <p:spPr>
          <a:xfrm>
            <a:off x="4559984" y="3175792"/>
            <a:ext cx="5946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Sem visibilidade das fases intermediárias do LLM</a:t>
            </a:r>
          </a:p>
        </p:txBody>
      </p:sp>
      <p:sp>
        <p:nvSpPr>
          <p:cNvPr id="24" name="Colchete Esquerdo 23">
            <a:extLst>
              <a:ext uri="{FF2B5EF4-FFF2-40B4-BE49-F238E27FC236}">
                <a16:creationId xmlns:a16="http://schemas.microsoft.com/office/drawing/2014/main" id="{7576F63A-D4FC-DF8F-62C1-4D3CC3ED581E}"/>
              </a:ext>
            </a:extLst>
          </p:cNvPr>
          <p:cNvSpPr/>
          <p:nvPr/>
        </p:nvSpPr>
        <p:spPr>
          <a:xfrm>
            <a:off x="4343400" y="1051560"/>
            <a:ext cx="242110" cy="2955229"/>
          </a:xfrm>
          <a:prstGeom prst="leftBracket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F5CEF9B1-3348-7902-0985-AD2B2026622E}"/>
              </a:ext>
            </a:extLst>
          </p:cNvPr>
          <p:cNvPicPr>
            <a:picLocks noChangeAspect="1"/>
          </p:cNvPicPr>
          <p:nvPr/>
        </p:nvPicPr>
        <p:blipFill>
          <a:blip/>
          <a:srcRect l="13906" t="32658" r="13748" b="9680"/>
          <a:stretch>
            <a:fillRect/>
          </a:stretch>
        </p:blipFill>
        <p:spPr>
          <a:xfrm>
            <a:off x="3104570" y="4150420"/>
            <a:ext cx="6788086" cy="19669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26714890-C4DD-EC00-895E-1C9A0F14244F}"/>
              </a:ext>
            </a:extLst>
          </p:cNvPr>
          <p:cNvSpPr txBox="1"/>
          <p:nvPr/>
        </p:nvSpPr>
        <p:spPr>
          <a:xfrm>
            <a:off x="3590090" y="1362204"/>
            <a:ext cx="663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(1)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8693227-DFFE-A26B-1306-62A8343B2365}"/>
              </a:ext>
            </a:extLst>
          </p:cNvPr>
          <p:cNvSpPr txBox="1"/>
          <p:nvPr/>
        </p:nvSpPr>
        <p:spPr>
          <a:xfrm>
            <a:off x="2287398" y="6304989"/>
            <a:ext cx="9849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(1) </a:t>
            </a:r>
            <a:r>
              <a:rPr lang="pt-BR" sz="1600" dirty="0" err="1"/>
              <a:t>Apresetado</a:t>
            </a:r>
            <a:r>
              <a:rPr lang="pt-BR" sz="1600" dirty="0"/>
              <a:t> na reunião de </a:t>
            </a:r>
            <a:r>
              <a:rPr lang="pt-BR" sz="1600" dirty="0" err="1"/>
              <a:t>PPs</a:t>
            </a:r>
            <a:r>
              <a:rPr lang="pt-BR" sz="1600" dirty="0"/>
              <a:t> em out 2024 e no Encontro de </a:t>
            </a:r>
            <a:r>
              <a:rPr lang="pt-BR" sz="1600" dirty="0" err="1"/>
              <a:t>Ciencia</a:t>
            </a:r>
            <a:r>
              <a:rPr lang="pt-BR" sz="1600" dirty="0"/>
              <a:t> de dados  5-7 outubro 2024, CPS</a:t>
            </a:r>
          </a:p>
        </p:txBody>
      </p:sp>
    </p:spTree>
    <p:extLst>
      <p:ext uri="{BB962C8B-B14F-4D97-AF65-F5344CB8AC3E}">
        <p14:creationId xmlns:p14="http://schemas.microsoft.com/office/powerpoint/2010/main" val="69625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FD42D-456E-F476-8B22-E9E0E1578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271046B-0C9E-03BC-82F1-6A8C9E35D1C1}"/>
              </a:ext>
            </a:extLst>
          </p:cNvPr>
          <p:cNvSpPr txBox="1"/>
          <p:nvPr/>
        </p:nvSpPr>
        <p:spPr>
          <a:xfrm>
            <a:off x="226694" y="322189"/>
            <a:ext cx="11834864" cy="45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 startAt="3"/>
            </a:pPr>
            <a:r>
              <a:rPr lang="pt-BR" dirty="0">
                <a:solidFill>
                  <a:srgbClr val="FF0000"/>
                </a:solidFill>
              </a:rPr>
              <a:t>Geração de uma versão experimental do SB100 para comparação com as versões manuais.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22E5CD3-12CF-C978-F883-F88C5E030AEC}"/>
              </a:ext>
            </a:extLst>
          </p:cNvPr>
          <p:cNvSpPr txBox="1"/>
          <p:nvPr/>
        </p:nvSpPr>
        <p:spPr>
          <a:xfrm>
            <a:off x="613410" y="1031622"/>
            <a:ext cx="4050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https://agrobotfatec.streamlit.app/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97A4BED-91AD-C0A1-BFAA-131B3537CD6E}"/>
              </a:ext>
            </a:extLst>
          </p:cNvPr>
          <p:cNvPicPr>
            <a:picLocks noChangeAspect="1"/>
          </p:cNvPicPr>
          <p:nvPr/>
        </p:nvPicPr>
        <p:blipFill>
          <a:blip/>
          <a:srcRect l="13906" t="32658" r="13748" b="9680"/>
          <a:stretch>
            <a:fillRect/>
          </a:stretch>
        </p:blipFill>
        <p:spPr>
          <a:xfrm>
            <a:off x="643890" y="2025681"/>
            <a:ext cx="3653790" cy="10587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597C46AD-F314-7D8D-7CF8-4243CBDC9B9A}"/>
              </a:ext>
            </a:extLst>
          </p:cNvPr>
          <p:cNvSpPr/>
          <p:nvPr/>
        </p:nvSpPr>
        <p:spPr>
          <a:xfrm>
            <a:off x="2303145" y="1441147"/>
            <a:ext cx="335280" cy="4495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0A9E7A0-95D5-6228-BA77-6C7EE178164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94911" y="1867647"/>
            <a:ext cx="3036569" cy="1240494"/>
          </a:xfrm>
          <a:prstGeom prst="rect">
            <a:avLst/>
          </a:prstGeom>
          <a:ln>
            <a:noFill/>
          </a:ln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34BD7B5-39B2-A106-0614-94129E27E52B}"/>
              </a:ext>
            </a:extLst>
          </p:cNvPr>
          <p:cNvSpPr/>
          <p:nvPr/>
        </p:nvSpPr>
        <p:spPr>
          <a:xfrm>
            <a:off x="3423285" y="2532640"/>
            <a:ext cx="874395" cy="4267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3C8516BF-0ACE-568A-BD33-B98D28E6E8A5}"/>
              </a:ext>
            </a:extLst>
          </p:cNvPr>
          <p:cNvSpPr/>
          <p:nvPr/>
        </p:nvSpPr>
        <p:spPr>
          <a:xfrm rot="16200000">
            <a:off x="4495800" y="2353570"/>
            <a:ext cx="335280" cy="4495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31E33EC2-3B33-59AC-ED6B-D17A435E50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94910" y="3108141"/>
            <a:ext cx="3174248" cy="320859"/>
          </a:xfrm>
          <a:prstGeom prst="rect">
            <a:avLst/>
          </a:prstGeom>
          <a:ln>
            <a:noFill/>
          </a:ln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1A5D448F-1A20-F68E-C20F-22237F595741}"/>
              </a:ext>
            </a:extLst>
          </p:cNvPr>
          <p:cNvSpPr/>
          <p:nvPr/>
        </p:nvSpPr>
        <p:spPr>
          <a:xfrm>
            <a:off x="4994910" y="1615501"/>
            <a:ext cx="3174248" cy="18619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1255E169-DE77-EE68-8A7D-B7D56CDD526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15369" y="3767247"/>
            <a:ext cx="3653790" cy="1492640"/>
          </a:xfrm>
          <a:prstGeom prst="rect">
            <a:avLst/>
          </a:prstGeom>
          <a:ln>
            <a:noFill/>
          </a:ln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4C820B1B-D318-4FCA-875B-F7104DCD23D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15368" y="5259887"/>
            <a:ext cx="3653790" cy="369332"/>
          </a:xfrm>
          <a:prstGeom prst="rect">
            <a:avLst/>
          </a:prstGeom>
          <a:ln>
            <a:noFill/>
          </a:ln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3D9C1BF0-2F45-3B99-33BD-8AEB760048DC}"/>
              </a:ext>
            </a:extLst>
          </p:cNvPr>
          <p:cNvSpPr/>
          <p:nvPr/>
        </p:nvSpPr>
        <p:spPr>
          <a:xfrm>
            <a:off x="4515368" y="3767246"/>
            <a:ext cx="3653790" cy="2950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24AA2D68-9F1C-6F21-DC28-4C39B45EAEF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908299" y="1900494"/>
            <a:ext cx="3036569" cy="1240494"/>
          </a:xfrm>
          <a:prstGeom prst="rect">
            <a:avLst/>
          </a:prstGeom>
          <a:ln>
            <a:noFill/>
          </a:ln>
        </p:spPr>
      </p:pic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1194148A-CCAD-F583-BC6C-57AA60B7411A}"/>
              </a:ext>
            </a:extLst>
          </p:cNvPr>
          <p:cNvSpPr/>
          <p:nvPr/>
        </p:nvSpPr>
        <p:spPr>
          <a:xfrm rot="16200000">
            <a:off x="8317748" y="2294977"/>
            <a:ext cx="335280" cy="4495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6A497D62-502E-D0EC-7907-4C02D9D020F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908298" y="3140988"/>
            <a:ext cx="3174248" cy="320859"/>
          </a:xfrm>
          <a:prstGeom prst="rect">
            <a:avLst/>
          </a:prstGeom>
          <a:ln>
            <a:noFill/>
          </a:ln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8325C7D7-0B64-6F1F-A2FF-0CA7DA072BE9}"/>
              </a:ext>
            </a:extLst>
          </p:cNvPr>
          <p:cNvSpPr/>
          <p:nvPr/>
        </p:nvSpPr>
        <p:spPr>
          <a:xfrm>
            <a:off x="8908298" y="1648348"/>
            <a:ext cx="3174248" cy="18619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8C087E0-5697-31AC-125A-174A54598D86}"/>
              </a:ext>
            </a:extLst>
          </p:cNvPr>
          <p:cNvSpPr txBox="1"/>
          <p:nvPr/>
        </p:nvSpPr>
        <p:spPr>
          <a:xfrm>
            <a:off x="10050598" y="4381482"/>
            <a:ext cx="20390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i="1" dirty="0">
                <a:solidFill>
                  <a:srgbClr val="FF0000"/>
                </a:solidFill>
              </a:rPr>
              <a:t>Pergunta: Como se deve calcular a quantidade de calcário para ter uma correção de solo para um terreno com PH acido?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162E45C-E107-8B2E-57A1-E7E8455498B6}"/>
              </a:ext>
            </a:extLst>
          </p:cNvPr>
          <p:cNvSpPr/>
          <p:nvPr/>
        </p:nvSpPr>
        <p:spPr>
          <a:xfrm>
            <a:off x="10050598" y="4348635"/>
            <a:ext cx="2046670" cy="1469650"/>
          </a:xfrm>
          <a:prstGeom prst="roundRect">
            <a:avLst/>
          </a:prstGeom>
          <a:noFill/>
          <a:ln w="3810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689A6B4-29CC-7577-8AE5-A3A76514B99B}"/>
              </a:ext>
            </a:extLst>
          </p:cNvPr>
          <p:cNvCxnSpPr>
            <a:cxnSpLocks/>
            <a:stCxn id="24" idx="2"/>
            <a:endCxn id="28" idx="0"/>
          </p:cNvCxnSpPr>
          <p:nvPr/>
        </p:nvCxnSpPr>
        <p:spPr>
          <a:xfrm>
            <a:off x="10495422" y="3510320"/>
            <a:ext cx="578511" cy="83831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AEB4E9C-AE5A-B195-28FA-9AE9D954F316}"/>
              </a:ext>
            </a:extLst>
          </p:cNvPr>
          <p:cNvSpPr txBox="1"/>
          <p:nvPr/>
        </p:nvSpPr>
        <p:spPr>
          <a:xfrm>
            <a:off x="194828" y="3306537"/>
            <a:ext cx="4050030" cy="332700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pt-BR" sz="1200" i="1" dirty="0">
                <a:solidFill>
                  <a:srgbClr val="0070C0"/>
                </a:solidFill>
              </a:rPr>
              <a:t>a calagem deve ser calculada para elevar a saturação por bases (V) a </a:t>
            </a:r>
            <a:r>
              <a:rPr lang="pt-BR" sz="1200" b="1" i="1" dirty="0">
                <a:solidFill>
                  <a:srgbClr val="0070C0"/>
                </a:solidFill>
              </a:rPr>
              <a:t>70%</a:t>
            </a:r>
            <a:r>
              <a:rPr lang="pt-BR" sz="1200" i="1" dirty="0">
                <a:solidFill>
                  <a:srgbClr val="0070C0"/>
                </a:solidFill>
              </a:rPr>
              <a:t> na camada de 0–20/25 cm.</a:t>
            </a:r>
          </a:p>
          <a:p>
            <a:pPr>
              <a:lnSpc>
                <a:spcPct val="110000"/>
              </a:lnSpc>
            </a:pPr>
            <a:br>
              <a:rPr lang="pt-BR" sz="1200" i="1" dirty="0">
                <a:solidFill>
                  <a:srgbClr val="0070C0"/>
                </a:solidFill>
              </a:rPr>
            </a:br>
            <a:r>
              <a:rPr lang="pt-BR" sz="1200" i="1" dirty="0">
                <a:solidFill>
                  <a:srgbClr val="0070C0"/>
                </a:solidFill>
              </a:rPr>
              <a:t>É necessário usar a </a:t>
            </a:r>
            <a:r>
              <a:rPr lang="pt-BR" sz="1200" b="1" i="1" dirty="0">
                <a:solidFill>
                  <a:srgbClr val="0070C0"/>
                </a:solidFill>
              </a:rPr>
              <a:t>análise de solo</a:t>
            </a:r>
            <a:r>
              <a:rPr lang="pt-BR" sz="1200" i="1" dirty="0">
                <a:solidFill>
                  <a:srgbClr val="0070C0"/>
                </a:solidFill>
              </a:rPr>
              <a:t> (CTC, V atual, </a:t>
            </a:r>
            <a:r>
              <a:rPr lang="pt-BR" sz="1200" i="1" dirty="0" err="1">
                <a:solidFill>
                  <a:srgbClr val="0070C0"/>
                </a:solidFill>
              </a:rPr>
              <a:t>Ca+Mg</a:t>
            </a:r>
            <a:r>
              <a:rPr lang="pt-BR" sz="1200" i="1" dirty="0">
                <a:solidFill>
                  <a:srgbClr val="0070C0"/>
                </a:solidFill>
              </a:rPr>
              <a:t>, PRNT do corretivo).</a:t>
            </a:r>
            <a:br>
              <a:rPr lang="pt-BR" sz="1200" i="1" dirty="0">
                <a:solidFill>
                  <a:srgbClr val="0070C0"/>
                </a:solidFill>
              </a:rPr>
            </a:br>
            <a:endParaRPr lang="pt-BR" sz="1200" i="1" dirty="0">
              <a:solidFill>
                <a:srgbClr val="0070C0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1200" i="1" dirty="0">
                <a:solidFill>
                  <a:srgbClr val="0070C0"/>
                </a:solidFill>
              </a:rPr>
              <a:t>Quando o cálculo resultar em valor menor que </a:t>
            </a:r>
            <a:r>
              <a:rPr lang="pt-BR" sz="1200" b="1" i="1" dirty="0">
                <a:solidFill>
                  <a:srgbClr val="0070C0"/>
                </a:solidFill>
              </a:rPr>
              <a:t>1,5 t·ha⁻¹ (PRNT=100%)</a:t>
            </a:r>
            <a:r>
              <a:rPr lang="pt-BR" sz="1200" i="1" dirty="0">
                <a:solidFill>
                  <a:srgbClr val="0070C0"/>
                </a:solidFill>
              </a:rPr>
              <a:t>, deve-se aplicar ao menos essa dose mínima.</a:t>
            </a:r>
            <a:br>
              <a:rPr lang="pt-BR" sz="1200" i="1" dirty="0">
                <a:solidFill>
                  <a:srgbClr val="0070C0"/>
                </a:solidFill>
              </a:rPr>
            </a:br>
            <a:endParaRPr lang="pt-BR" sz="1200" i="1" dirty="0">
              <a:solidFill>
                <a:srgbClr val="0070C0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1200" i="1" dirty="0">
                <a:solidFill>
                  <a:srgbClr val="0070C0"/>
                </a:solidFill>
              </a:rPr>
              <a:t>Se o V em 20–40 cm for </a:t>
            </a:r>
            <a:r>
              <a:rPr lang="pt-BR" sz="1200" b="1" i="1" dirty="0">
                <a:solidFill>
                  <a:srgbClr val="0070C0"/>
                </a:solidFill>
              </a:rPr>
              <a:t>&lt;25%</a:t>
            </a:r>
            <a:r>
              <a:rPr lang="pt-BR" sz="1200" i="1" dirty="0">
                <a:solidFill>
                  <a:srgbClr val="0070C0"/>
                </a:solidFill>
              </a:rPr>
              <a:t>, recomenda-se aumentar a dose em </a:t>
            </a:r>
            <a:r>
              <a:rPr lang="pt-BR" sz="1200" b="1" i="1" dirty="0">
                <a:solidFill>
                  <a:srgbClr val="0070C0"/>
                </a:solidFill>
              </a:rPr>
              <a:t>50%</a:t>
            </a:r>
            <a:r>
              <a:rPr lang="pt-BR" sz="1200" i="1" dirty="0">
                <a:solidFill>
                  <a:srgbClr val="0070C0"/>
                </a:solidFill>
              </a:rPr>
              <a:t> ou somar a correção da subsuperfície.</a:t>
            </a:r>
            <a:br>
              <a:rPr lang="pt-BR" sz="1200" i="1" dirty="0">
                <a:solidFill>
                  <a:srgbClr val="0070C0"/>
                </a:solidFill>
              </a:rPr>
            </a:br>
            <a:endParaRPr lang="pt-BR" sz="1200" i="1" dirty="0">
              <a:solidFill>
                <a:srgbClr val="0070C0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1200" i="1" dirty="0">
                <a:solidFill>
                  <a:srgbClr val="0070C0"/>
                </a:solidFill>
              </a:rPr>
              <a:t>O documento também orienta ajustes práticos: 0,5 kg/m de sulco (citros) e 70% da dose sob a copa em pomares já instalados.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746F838-F503-7853-0351-1F0CD0DF66F9}"/>
              </a:ext>
            </a:extLst>
          </p:cNvPr>
          <p:cNvSpPr txBox="1"/>
          <p:nvPr/>
        </p:nvSpPr>
        <p:spPr>
          <a:xfrm>
            <a:off x="4663440" y="5818286"/>
            <a:ext cx="3311923" cy="63094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500" i="1" dirty="0"/>
              <a:t>a calagem deve ser calculada para elevar a saturação por bases (V) a </a:t>
            </a:r>
            <a:r>
              <a:rPr lang="pt-BR" sz="500" b="1" i="1" dirty="0"/>
              <a:t>70%</a:t>
            </a:r>
            <a:r>
              <a:rPr lang="pt-BR" sz="500" i="1" dirty="0"/>
              <a:t> na camada de 0–20/25 cm.</a:t>
            </a:r>
            <a:br>
              <a:rPr lang="pt-BR" sz="500" i="1" dirty="0"/>
            </a:br>
            <a:r>
              <a:rPr lang="pt-BR" sz="500" i="1" dirty="0"/>
              <a:t>É necessário usar a </a:t>
            </a:r>
            <a:r>
              <a:rPr lang="pt-BR" sz="500" b="1" i="1" dirty="0"/>
              <a:t>análise de solo</a:t>
            </a:r>
            <a:r>
              <a:rPr lang="pt-BR" sz="500" i="1" dirty="0"/>
              <a:t> (CTC, V atual, </a:t>
            </a:r>
            <a:r>
              <a:rPr lang="pt-BR" sz="500" i="1" dirty="0" err="1"/>
              <a:t>Ca+Mg</a:t>
            </a:r>
            <a:r>
              <a:rPr lang="pt-BR" sz="500" i="1" dirty="0"/>
              <a:t>, PRNT do corretivo).</a:t>
            </a:r>
            <a:br>
              <a:rPr lang="pt-BR" sz="500" i="1" dirty="0"/>
            </a:br>
            <a:r>
              <a:rPr lang="pt-BR" sz="500" i="1" dirty="0"/>
              <a:t>Quando o cálculo resultar em valor menor que </a:t>
            </a:r>
            <a:r>
              <a:rPr lang="pt-BR" sz="500" b="1" i="1" dirty="0"/>
              <a:t>1,5 t·ha⁻¹ (PRNT=100%)</a:t>
            </a:r>
            <a:r>
              <a:rPr lang="pt-BR" sz="500" i="1" dirty="0"/>
              <a:t>, deve-se aplicar ao menos essa dose mínima.</a:t>
            </a:r>
            <a:br>
              <a:rPr lang="pt-BR" sz="500" i="1" dirty="0"/>
            </a:br>
            <a:r>
              <a:rPr lang="pt-BR" sz="500" i="1" dirty="0"/>
              <a:t>Se o V em 20–40 cm for </a:t>
            </a:r>
            <a:r>
              <a:rPr lang="pt-BR" sz="500" b="1" i="1" dirty="0"/>
              <a:t>&lt;25%</a:t>
            </a:r>
            <a:r>
              <a:rPr lang="pt-BR" sz="500" i="1" dirty="0"/>
              <a:t>, recomenda-se aumentar a dose em </a:t>
            </a:r>
            <a:r>
              <a:rPr lang="pt-BR" sz="500" b="1" i="1" dirty="0"/>
              <a:t>50%</a:t>
            </a:r>
            <a:r>
              <a:rPr lang="pt-BR" sz="500" i="1" dirty="0"/>
              <a:t> ou somar a correção da subsuperfície.</a:t>
            </a:r>
            <a:br>
              <a:rPr lang="pt-BR" sz="500" i="1" dirty="0"/>
            </a:br>
            <a:r>
              <a:rPr lang="pt-BR" sz="500" i="1" dirty="0"/>
              <a:t>O documento também orienta ajustes práticos: 0,5 kg/m de sulco (citros) e 70% da dose sob a copa em pomares já instalados.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7BAD7A4C-9A4C-3F92-02B1-60BAC49BBCA6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4244858" y="4970038"/>
            <a:ext cx="541019" cy="84824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60238DAC-4AD6-A306-74F5-9361FB9E9469}"/>
              </a:ext>
            </a:extLst>
          </p:cNvPr>
          <p:cNvSpPr/>
          <p:nvPr/>
        </p:nvSpPr>
        <p:spPr>
          <a:xfrm>
            <a:off x="4663439" y="5818286"/>
            <a:ext cx="3311924" cy="64726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Seta: Dobrada 39">
            <a:extLst>
              <a:ext uri="{FF2B5EF4-FFF2-40B4-BE49-F238E27FC236}">
                <a16:creationId xmlns:a16="http://schemas.microsoft.com/office/drawing/2014/main" id="{8C01959B-F5B2-0CAD-EE29-0EA453061DC4}"/>
              </a:ext>
            </a:extLst>
          </p:cNvPr>
          <p:cNvSpPr/>
          <p:nvPr/>
        </p:nvSpPr>
        <p:spPr>
          <a:xfrm flipH="1" flipV="1">
            <a:off x="8294888" y="3664087"/>
            <a:ext cx="1462341" cy="1939081"/>
          </a:xfrm>
          <a:prstGeom prst="bentArrow">
            <a:avLst>
              <a:gd name="adj1" fmla="val 25000"/>
              <a:gd name="adj2" fmla="val 38636"/>
              <a:gd name="adj3" fmla="val 34324"/>
              <a:gd name="adj4" fmla="val 390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726815A1-B291-55F6-B95B-EDC8F8E450D0}"/>
              </a:ext>
            </a:extLst>
          </p:cNvPr>
          <p:cNvSpPr txBox="1"/>
          <p:nvPr/>
        </p:nvSpPr>
        <p:spPr>
          <a:xfrm>
            <a:off x="9113610" y="3223877"/>
            <a:ext cx="28073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i="1" dirty="0"/>
              <a:t>Pergunta: Como se deve calcular a quantidade de calcário para ter uma correção de solo para um terreno com PH acido?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0EB0731F-7298-7C54-0995-28C1ECC0D257}"/>
              </a:ext>
            </a:extLst>
          </p:cNvPr>
          <p:cNvSpPr/>
          <p:nvPr/>
        </p:nvSpPr>
        <p:spPr>
          <a:xfrm>
            <a:off x="4994910" y="2555042"/>
            <a:ext cx="1207770" cy="3008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AF110362-8EDF-F978-8550-5400F68D30CD}"/>
              </a:ext>
            </a:extLst>
          </p:cNvPr>
          <p:cNvSpPr txBox="1"/>
          <p:nvPr/>
        </p:nvSpPr>
        <p:spPr>
          <a:xfrm>
            <a:off x="5760720" y="1040949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Citros_cana.pdf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AC7693D4-B303-A85E-6492-A541B8197C7E}"/>
              </a:ext>
            </a:extLst>
          </p:cNvPr>
          <p:cNvCxnSpPr>
            <a:cxnSpLocks/>
            <a:stCxn id="48" idx="0"/>
            <a:endCxn id="49" idx="2"/>
          </p:cNvCxnSpPr>
          <p:nvPr/>
        </p:nvCxnSpPr>
        <p:spPr>
          <a:xfrm flipV="1">
            <a:off x="5598795" y="1410281"/>
            <a:ext cx="1070988" cy="11447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6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3" grpId="0" animBg="1"/>
      <p:bldP spid="14" grpId="0" animBg="1"/>
      <p:bldP spid="17" grpId="0" animBg="1"/>
      <p:bldP spid="20" grpId="0" animBg="1"/>
      <p:bldP spid="22" grpId="0" animBg="1"/>
      <p:bldP spid="24" grpId="0" animBg="1"/>
      <p:bldP spid="26" grpId="0"/>
      <p:bldP spid="28" grpId="0" animBg="1"/>
      <p:bldP spid="34" grpId="0" animBg="1"/>
      <p:bldP spid="35" grpId="0"/>
      <p:bldP spid="39" grpId="0" animBg="1"/>
      <p:bldP spid="40" grpId="0" animBg="1"/>
      <p:bldP spid="47" grpId="0"/>
      <p:bldP spid="48" grpId="0" animBg="1"/>
      <p:bldP spid="4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66F30-D876-0CF8-20D2-815FBB2E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A3AA677-65F0-5590-16DD-DAEDF08F09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C53D7E6-7465-93CA-FC77-5C9C0CDD972A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D2E7143-4570-355C-F2AC-BA52D049A41C}"/>
              </a:ext>
            </a:extLst>
          </p:cNvPr>
          <p:cNvSpPr/>
          <p:nvPr/>
        </p:nvSpPr>
        <p:spPr>
          <a:xfrm>
            <a:off x="127401" y="117544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2907519-6210-F55D-A150-0BB313E434B8}"/>
              </a:ext>
            </a:extLst>
          </p:cNvPr>
          <p:cNvSpPr txBox="1"/>
          <p:nvPr/>
        </p:nvSpPr>
        <p:spPr>
          <a:xfrm>
            <a:off x="56982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05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3098CE0-F823-DB3F-5813-B82C51894DEB}"/>
              </a:ext>
            </a:extLst>
          </p:cNvPr>
          <p:cNvSpPr txBox="1"/>
          <p:nvPr/>
        </p:nvSpPr>
        <p:spPr>
          <a:xfrm>
            <a:off x="152927" y="2271136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agentes inteligentes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288C8C2-F422-BE1A-B3A4-6156C030D0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620610" y="3429000"/>
            <a:ext cx="1224629" cy="1533162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78E5CF66-941C-157A-0207-44DC51CF77F5}"/>
              </a:ext>
            </a:extLst>
          </p:cNvPr>
          <p:cNvSpPr txBox="1"/>
          <p:nvPr/>
        </p:nvSpPr>
        <p:spPr>
          <a:xfrm>
            <a:off x="394862" y="5480488"/>
            <a:ext cx="1625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Hilário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Izaias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FD7F072D-EA7C-5F01-F027-0E12BCAE35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10495123" y="393397"/>
            <a:ext cx="1224629" cy="1533162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330189A3-BA90-8BAC-DF44-9C5BA290D77B}"/>
              </a:ext>
            </a:extLst>
          </p:cNvPr>
          <p:cNvSpPr txBox="1"/>
          <p:nvPr/>
        </p:nvSpPr>
        <p:spPr>
          <a:xfrm>
            <a:off x="2577489" y="1655872"/>
            <a:ext cx="1765911" cy="46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LLM V0.1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ABFBDBD-5EAC-1633-4533-BDAE22DF4B23}"/>
              </a:ext>
            </a:extLst>
          </p:cNvPr>
          <p:cNvSpPr txBox="1"/>
          <p:nvPr/>
        </p:nvSpPr>
        <p:spPr>
          <a:xfrm>
            <a:off x="4548149" y="1159978"/>
            <a:ext cx="5946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Baseado no Gemini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95FD0F7-854C-3B12-92C2-D433DF455E6A}"/>
              </a:ext>
            </a:extLst>
          </p:cNvPr>
          <p:cNvSpPr txBox="1"/>
          <p:nvPr/>
        </p:nvSpPr>
        <p:spPr>
          <a:xfrm>
            <a:off x="4548149" y="1666883"/>
            <a:ext cx="5946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altLang="zh-CN" sz="2400" dirty="0"/>
              <a:t>Arquivos anexados a cada sessão de consulta</a:t>
            </a:r>
            <a:endParaRPr lang="pt-BR" sz="24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0B1E36A-AC9F-3CE7-822F-9800EBDF8127}"/>
              </a:ext>
            </a:extLst>
          </p:cNvPr>
          <p:cNvSpPr txBox="1"/>
          <p:nvPr/>
        </p:nvSpPr>
        <p:spPr>
          <a:xfrm>
            <a:off x="4548149" y="2592412"/>
            <a:ext cx="5946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Tipos usuários pré-cadastrados.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4B0244E-16D4-67FE-10EF-9A04337ACCF9}"/>
              </a:ext>
            </a:extLst>
          </p:cNvPr>
          <p:cNvSpPr txBox="1"/>
          <p:nvPr/>
        </p:nvSpPr>
        <p:spPr>
          <a:xfrm>
            <a:off x="4559984" y="3175792"/>
            <a:ext cx="5946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Visibilidade  da engenharia de prompt  e APIs para agentes inteligentes pré-formatado</a:t>
            </a:r>
          </a:p>
        </p:txBody>
      </p:sp>
      <p:sp>
        <p:nvSpPr>
          <p:cNvPr id="24" name="Colchete Esquerdo 23">
            <a:extLst>
              <a:ext uri="{FF2B5EF4-FFF2-40B4-BE49-F238E27FC236}">
                <a16:creationId xmlns:a16="http://schemas.microsoft.com/office/drawing/2014/main" id="{1B7C0BF6-207A-6E40-FC5E-40C2899F89FE}"/>
              </a:ext>
            </a:extLst>
          </p:cNvPr>
          <p:cNvSpPr/>
          <p:nvPr/>
        </p:nvSpPr>
        <p:spPr>
          <a:xfrm>
            <a:off x="4343400" y="1051560"/>
            <a:ext cx="242110" cy="2955229"/>
          </a:xfrm>
          <a:prstGeom prst="leftBracket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7C15F13-0A9F-4199-49E9-48B706050EE5}"/>
              </a:ext>
            </a:extLst>
          </p:cNvPr>
          <p:cNvSpPr txBox="1"/>
          <p:nvPr/>
        </p:nvSpPr>
        <p:spPr>
          <a:xfrm>
            <a:off x="2637193" y="2701831"/>
            <a:ext cx="1765911" cy="46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LLM V0.5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F41B206-710C-385A-EE73-96CA66E0BA2C}"/>
              </a:ext>
            </a:extLst>
          </p:cNvPr>
          <p:cNvSpPr txBox="1"/>
          <p:nvPr/>
        </p:nvSpPr>
        <p:spPr>
          <a:xfrm>
            <a:off x="3450354" y="2392357"/>
            <a:ext cx="663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(2)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45C4027-3077-8937-3821-1D7BF2EF3ED7}"/>
              </a:ext>
            </a:extLst>
          </p:cNvPr>
          <p:cNvSpPr txBox="1"/>
          <p:nvPr/>
        </p:nvSpPr>
        <p:spPr>
          <a:xfrm>
            <a:off x="2287398" y="6304989"/>
            <a:ext cx="54200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21) </a:t>
            </a:r>
            <a:r>
              <a:rPr lang="pt-BR" sz="1600" dirty="0" err="1"/>
              <a:t>Apresetado</a:t>
            </a:r>
            <a:r>
              <a:rPr lang="pt-BR" sz="1600" dirty="0"/>
              <a:t> na S</a:t>
            </a:r>
            <a:r>
              <a:rPr lang="pt-BR" altLang="zh-CN" sz="1600" dirty="0"/>
              <a:t>e</a:t>
            </a:r>
            <a:r>
              <a:rPr lang="pt-BR" sz="1600" dirty="0"/>
              <a:t>mana </a:t>
            </a:r>
            <a:r>
              <a:rPr lang="pt-BR" sz="1600" dirty="0" err="1"/>
              <a:t>deTecnologia</a:t>
            </a:r>
            <a:r>
              <a:rPr lang="pt-BR" sz="1600" dirty="0"/>
              <a:t> 17-19 Maio 2025</a:t>
            </a:r>
          </a:p>
        </p:txBody>
      </p:sp>
    </p:spTree>
    <p:extLst>
      <p:ext uri="{BB962C8B-B14F-4D97-AF65-F5344CB8AC3E}">
        <p14:creationId xmlns:p14="http://schemas.microsoft.com/office/powerpoint/2010/main" val="426066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5E44-62F4-0CAA-532E-8B4B2A55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28AB43F-19BB-9B99-CBFB-866113E3C2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22E48F4-F932-2441-C6C3-D34773DE3085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2C6DDE1-2027-7301-C562-4C14762647A2}"/>
              </a:ext>
            </a:extLst>
          </p:cNvPr>
          <p:cNvSpPr/>
          <p:nvPr/>
        </p:nvSpPr>
        <p:spPr>
          <a:xfrm>
            <a:off x="127401" y="117544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50E72C2-E0B0-802F-CE4F-137551EA4741}"/>
              </a:ext>
            </a:extLst>
          </p:cNvPr>
          <p:cNvSpPr txBox="1"/>
          <p:nvPr/>
        </p:nvSpPr>
        <p:spPr>
          <a:xfrm>
            <a:off x="56982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05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11EC57F-D2CD-6279-853C-43DBC02638EF}"/>
              </a:ext>
            </a:extLst>
          </p:cNvPr>
          <p:cNvSpPr txBox="1"/>
          <p:nvPr/>
        </p:nvSpPr>
        <p:spPr>
          <a:xfrm>
            <a:off x="152927" y="2271136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agentes inteligentes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4AEF104-6C87-1467-05B7-27834394D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620610" y="3429000"/>
            <a:ext cx="1224629" cy="1533162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021D0681-3F96-BF44-7F54-C4BD3E5034F2}"/>
              </a:ext>
            </a:extLst>
          </p:cNvPr>
          <p:cNvSpPr txBox="1"/>
          <p:nvPr/>
        </p:nvSpPr>
        <p:spPr>
          <a:xfrm>
            <a:off x="394862" y="5480488"/>
            <a:ext cx="1625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Hilário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Izaias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F1900CA1-4576-75F6-ECC0-383A52E47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10495123" y="393397"/>
            <a:ext cx="1224629" cy="1533162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49296776-29B1-5AB1-11A3-3E1DF117724E}"/>
              </a:ext>
            </a:extLst>
          </p:cNvPr>
          <p:cNvSpPr txBox="1"/>
          <p:nvPr/>
        </p:nvSpPr>
        <p:spPr>
          <a:xfrm>
            <a:off x="2577489" y="1655872"/>
            <a:ext cx="1765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LLM V0.1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3B35930-2335-B327-C835-A625FEBB3530}"/>
              </a:ext>
            </a:extLst>
          </p:cNvPr>
          <p:cNvSpPr txBox="1"/>
          <p:nvPr/>
        </p:nvSpPr>
        <p:spPr>
          <a:xfrm>
            <a:off x="4548149" y="1159978"/>
            <a:ext cx="5946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Baseado no </a:t>
            </a:r>
            <a:r>
              <a:rPr lang="pt-BR" sz="2400" dirty="0" err="1"/>
              <a:t>Llama</a:t>
            </a:r>
            <a:endParaRPr lang="pt-BR" sz="24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741FD69-316D-190C-9ED0-9F253C64556B}"/>
              </a:ext>
            </a:extLst>
          </p:cNvPr>
          <p:cNvSpPr txBox="1"/>
          <p:nvPr/>
        </p:nvSpPr>
        <p:spPr>
          <a:xfrm>
            <a:off x="4548149" y="1666883"/>
            <a:ext cx="5946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altLang="zh-CN" sz="2400" dirty="0"/>
              <a:t>Base de dados QDRANT</a:t>
            </a:r>
            <a:endParaRPr lang="pt-BR" sz="24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15BF426-1394-54D7-E95B-DD7855BC6F5E}"/>
              </a:ext>
            </a:extLst>
          </p:cNvPr>
          <p:cNvSpPr txBox="1"/>
          <p:nvPr/>
        </p:nvSpPr>
        <p:spPr>
          <a:xfrm>
            <a:off x="4514264" y="2271136"/>
            <a:ext cx="5946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Armazenamento de sessão de usuário.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F79387D-041C-2967-8208-374F37633CD7}"/>
              </a:ext>
            </a:extLst>
          </p:cNvPr>
          <p:cNvSpPr txBox="1"/>
          <p:nvPr/>
        </p:nvSpPr>
        <p:spPr>
          <a:xfrm>
            <a:off x="4566830" y="2949048"/>
            <a:ext cx="5946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altLang="zh-CN" sz="2400" dirty="0" err="1"/>
              <a:t>Dominio</a:t>
            </a:r>
            <a:r>
              <a:rPr lang="pt-BR" altLang="zh-CN" sz="2400" dirty="0"/>
              <a:t> completo de todas as fases do processo desde a </a:t>
            </a:r>
            <a:r>
              <a:rPr lang="pt-BR" altLang="zh-CN" sz="2400" dirty="0" err="1"/>
              <a:t>cientometria</a:t>
            </a:r>
            <a:r>
              <a:rPr lang="pt-BR" altLang="zh-CN" sz="2400" dirty="0"/>
              <a:t> até a apresentação dos dados para usuário.</a:t>
            </a:r>
            <a:endParaRPr lang="pt-BR" sz="2400" dirty="0"/>
          </a:p>
        </p:txBody>
      </p:sp>
      <p:sp>
        <p:nvSpPr>
          <p:cNvPr id="24" name="Colchete Esquerdo 23">
            <a:extLst>
              <a:ext uri="{FF2B5EF4-FFF2-40B4-BE49-F238E27FC236}">
                <a16:creationId xmlns:a16="http://schemas.microsoft.com/office/drawing/2014/main" id="{9F58D5A5-FF8C-EFDC-5E05-32BEDD549611}"/>
              </a:ext>
            </a:extLst>
          </p:cNvPr>
          <p:cNvSpPr/>
          <p:nvPr/>
        </p:nvSpPr>
        <p:spPr>
          <a:xfrm>
            <a:off x="4343400" y="1051560"/>
            <a:ext cx="242110" cy="2955229"/>
          </a:xfrm>
          <a:prstGeom prst="leftBracket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BA357E4-DBF3-CEDE-86C0-BF5BF365454E}"/>
              </a:ext>
            </a:extLst>
          </p:cNvPr>
          <p:cNvSpPr txBox="1"/>
          <p:nvPr/>
        </p:nvSpPr>
        <p:spPr>
          <a:xfrm>
            <a:off x="2637193" y="2701831"/>
            <a:ext cx="1765911" cy="46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LLM V0.5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F4525C5-CA07-A81B-8558-B9D039E73EF3}"/>
              </a:ext>
            </a:extLst>
          </p:cNvPr>
          <p:cNvSpPr txBox="1"/>
          <p:nvPr/>
        </p:nvSpPr>
        <p:spPr>
          <a:xfrm>
            <a:off x="3786018" y="3336438"/>
            <a:ext cx="663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(3)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4455789-62C1-A20F-09AC-96BAF331CC66}"/>
              </a:ext>
            </a:extLst>
          </p:cNvPr>
          <p:cNvSpPr txBox="1"/>
          <p:nvPr/>
        </p:nvSpPr>
        <p:spPr>
          <a:xfrm>
            <a:off x="2287398" y="6304989"/>
            <a:ext cx="54200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21) </a:t>
            </a:r>
            <a:r>
              <a:rPr lang="pt-BR" sz="1600" dirty="0" err="1"/>
              <a:t>Apresetado</a:t>
            </a:r>
            <a:r>
              <a:rPr lang="pt-BR" sz="1600" dirty="0"/>
              <a:t> na S</a:t>
            </a:r>
            <a:r>
              <a:rPr lang="pt-BR" altLang="zh-CN" sz="1600" dirty="0"/>
              <a:t>e</a:t>
            </a:r>
            <a:r>
              <a:rPr lang="pt-BR" sz="1600" dirty="0"/>
              <a:t>mana </a:t>
            </a:r>
            <a:r>
              <a:rPr lang="pt-BR" sz="1600" dirty="0" err="1"/>
              <a:t>deTecnologia</a:t>
            </a:r>
            <a:r>
              <a:rPr lang="pt-BR" sz="1600" dirty="0"/>
              <a:t> 17-19 Maio 2025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5ABF8F4-EB79-CAF8-D5F7-3F9055797D71}"/>
              </a:ext>
            </a:extLst>
          </p:cNvPr>
          <p:cNvSpPr/>
          <p:nvPr/>
        </p:nvSpPr>
        <p:spPr>
          <a:xfrm>
            <a:off x="127401" y="109712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574C121-E695-E6D7-9A41-D1282E9762E7}"/>
              </a:ext>
            </a:extLst>
          </p:cNvPr>
          <p:cNvSpPr txBox="1"/>
          <p:nvPr/>
        </p:nvSpPr>
        <p:spPr>
          <a:xfrm>
            <a:off x="2577488" y="3552109"/>
            <a:ext cx="1765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LLM V1.0</a:t>
            </a:r>
          </a:p>
        </p:txBody>
      </p:sp>
    </p:spTree>
    <p:extLst>
      <p:ext uri="{BB962C8B-B14F-4D97-AF65-F5344CB8AC3E}">
        <p14:creationId xmlns:p14="http://schemas.microsoft.com/office/powerpoint/2010/main" val="323930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471CD97-E2C1-F659-F2DE-AAF0B20CDCA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1874"/>
            <a:ext cx="12192000" cy="68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107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D819B-C910-CCCC-197A-D1CADFE6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B439A8A-ACA7-A26A-AEB8-218924956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A1FC04B-EDD1-0E1B-06B3-6AD6DED4FE32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de testes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BEB2CC1-51CC-08A3-69D3-5587765BD2B3}"/>
              </a:ext>
            </a:extLst>
          </p:cNvPr>
          <p:cNvSpPr/>
          <p:nvPr/>
        </p:nvSpPr>
        <p:spPr>
          <a:xfrm>
            <a:off x="127401" y="117544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399E12A-9140-6146-714F-B6A9A48BF2DC}"/>
              </a:ext>
            </a:extLst>
          </p:cNvPr>
          <p:cNvSpPr txBox="1"/>
          <p:nvPr/>
        </p:nvSpPr>
        <p:spPr>
          <a:xfrm>
            <a:off x="56982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05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48D05D7-F8BB-0BC0-DB17-4A875CCD0CE9}"/>
              </a:ext>
            </a:extLst>
          </p:cNvPr>
          <p:cNvSpPr txBox="1"/>
          <p:nvPr/>
        </p:nvSpPr>
        <p:spPr>
          <a:xfrm>
            <a:off x="152927" y="2271136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agentes inteligentes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FE4A94A-2BDE-9667-5DE5-E9EC7D6912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620610" y="3429000"/>
            <a:ext cx="1224629" cy="1533162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D87BDFC8-EC35-89BB-885B-7AADE7574691}"/>
              </a:ext>
            </a:extLst>
          </p:cNvPr>
          <p:cNvSpPr txBox="1"/>
          <p:nvPr/>
        </p:nvSpPr>
        <p:spPr>
          <a:xfrm>
            <a:off x="394862" y="5480488"/>
            <a:ext cx="1625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Hilário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Izaias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17F3AAF-8CFE-CBF5-AF2F-F0CF5983E449}"/>
              </a:ext>
            </a:extLst>
          </p:cNvPr>
          <p:cNvSpPr/>
          <p:nvPr/>
        </p:nvSpPr>
        <p:spPr>
          <a:xfrm>
            <a:off x="127401" y="109712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AD95233-1F0E-4A49-F962-1A46C34F78EC}"/>
              </a:ext>
            </a:extLst>
          </p:cNvPr>
          <p:cNvSpPr txBox="1"/>
          <p:nvPr/>
        </p:nvSpPr>
        <p:spPr>
          <a:xfrm>
            <a:off x="2729827" y="789108"/>
            <a:ext cx="3762413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</a:rPr>
              <a:t>Estratégia de teste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0869B47-6613-0075-E40A-148F4DDE158D}"/>
              </a:ext>
            </a:extLst>
          </p:cNvPr>
          <p:cNvSpPr txBox="1"/>
          <p:nvPr/>
        </p:nvSpPr>
        <p:spPr>
          <a:xfrm>
            <a:off x="2725859" y="1424449"/>
            <a:ext cx="909641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/>
              <a:t>Selecionar 10 arquivos dentre os 122 já qualificados pela </a:t>
            </a:r>
            <a:r>
              <a:rPr lang="pt-BR" sz="2400" dirty="0" err="1"/>
              <a:t>Cientometria</a:t>
            </a:r>
            <a:r>
              <a:rPr lang="pt-BR" sz="2400" dirty="0"/>
              <a:t> e Curadoria para testar o fluxo de operação.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4D33209-A0CC-B5A1-C2B8-B8C89D4A245D}"/>
              </a:ext>
            </a:extLst>
          </p:cNvPr>
          <p:cNvSpPr txBox="1"/>
          <p:nvPr/>
        </p:nvSpPr>
        <p:spPr>
          <a:xfrm>
            <a:off x="2725858" y="3673198"/>
            <a:ext cx="9096413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/>
              <a:t>Submeter as perguntas ao SB100 e avaliar as respostas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81ADC0E-AEED-C67D-1A6C-199523C47707}"/>
              </a:ext>
            </a:extLst>
          </p:cNvPr>
          <p:cNvSpPr txBox="1"/>
          <p:nvPr/>
        </p:nvSpPr>
        <p:spPr>
          <a:xfrm>
            <a:off x="2725859" y="2421020"/>
            <a:ext cx="9096413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/>
              <a:t>Através dos professores da FATEC Cotia (Luís </a:t>
            </a:r>
            <a:r>
              <a:rPr lang="pt-BR" sz="2400" dirty="0" err="1"/>
              <a:t>Zamariolli</a:t>
            </a:r>
            <a:r>
              <a:rPr lang="pt-BR" sz="2400" dirty="0"/>
              <a:t> e Sérgio Negro) gerar 30 perguntas abrangendo os arquivos selecionados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B436F63-FCC4-C2A1-8002-D7B462D2CDCC}"/>
              </a:ext>
            </a:extLst>
          </p:cNvPr>
          <p:cNvSpPr txBox="1"/>
          <p:nvPr/>
        </p:nvSpPr>
        <p:spPr>
          <a:xfrm>
            <a:off x="3335458" y="4602555"/>
            <a:ext cx="909641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b="1" dirty="0"/>
              <a:t>Avaliação A </a:t>
            </a:r>
            <a:r>
              <a:rPr lang="pt-BR" sz="2400" dirty="0"/>
              <a:t>– Professores avaliam as respostas de maneira manual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821B3C0-17FC-FF08-DC1B-7E534CD4440A}"/>
              </a:ext>
            </a:extLst>
          </p:cNvPr>
          <p:cNvSpPr txBox="1"/>
          <p:nvPr/>
        </p:nvSpPr>
        <p:spPr>
          <a:xfrm>
            <a:off x="3335458" y="5777765"/>
            <a:ext cx="909641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b="1" dirty="0"/>
              <a:t>Avaliação B </a:t>
            </a:r>
            <a:r>
              <a:rPr lang="pt-BR" sz="2400" dirty="0"/>
              <a:t>– respostas do SB100 comparadas com respostas do Gemini e do SB100 CIAG. </a:t>
            </a:r>
          </a:p>
        </p:txBody>
      </p:sp>
    </p:spTree>
    <p:extLst>
      <p:ext uri="{BB962C8B-B14F-4D97-AF65-F5344CB8AC3E}">
        <p14:creationId xmlns:p14="http://schemas.microsoft.com/office/powerpoint/2010/main" val="147159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5" grpId="0" animBg="1"/>
      <p:bldP spid="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950BD-66C0-25C9-6B5C-9DAA96953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8C9549-50E6-43AE-A657-84FD5EC42C1F}"/>
              </a:ext>
            </a:extLst>
          </p:cNvPr>
          <p:cNvSpPr/>
          <p:nvPr/>
        </p:nvSpPr>
        <p:spPr>
          <a:xfrm>
            <a:off x="8623490" y="1759376"/>
            <a:ext cx="3503100" cy="360510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1F2A40E-68E6-F322-8A53-8D7BD5C011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4E5BC97-8723-24AF-4B8D-56071CB03B96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de testes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21292DD-263B-3F5C-CA38-C91AB2434E3E}"/>
              </a:ext>
            </a:extLst>
          </p:cNvPr>
          <p:cNvSpPr/>
          <p:nvPr/>
        </p:nvSpPr>
        <p:spPr>
          <a:xfrm>
            <a:off x="127401" y="117544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DF6A40D-0A4E-9EDF-FD49-9204DEE24EFA}"/>
              </a:ext>
            </a:extLst>
          </p:cNvPr>
          <p:cNvSpPr txBox="1"/>
          <p:nvPr/>
        </p:nvSpPr>
        <p:spPr>
          <a:xfrm>
            <a:off x="56982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05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FC8F9D2-AD0B-F9E4-4C9E-E8C37703D4A8}"/>
              </a:ext>
            </a:extLst>
          </p:cNvPr>
          <p:cNvSpPr txBox="1"/>
          <p:nvPr/>
        </p:nvSpPr>
        <p:spPr>
          <a:xfrm>
            <a:off x="152927" y="2271136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agentes inteligentes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F924D66-5368-DB5A-E250-91F999A355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620610" y="3429000"/>
            <a:ext cx="1224629" cy="1533162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960A3A46-0D14-E42A-5DAB-C1C2ADFF1EBB}"/>
              </a:ext>
            </a:extLst>
          </p:cNvPr>
          <p:cNvSpPr txBox="1"/>
          <p:nvPr/>
        </p:nvSpPr>
        <p:spPr>
          <a:xfrm>
            <a:off x="394862" y="5480488"/>
            <a:ext cx="1625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Hilário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Izaias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9E38C04-1D5C-C80D-36B5-AC725CF19EE4}"/>
              </a:ext>
            </a:extLst>
          </p:cNvPr>
          <p:cNvSpPr/>
          <p:nvPr/>
        </p:nvSpPr>
        <p:spPr>
          <a:xfrm>
            <a:off x="127401" y="109712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4105EF0-6D52-943C-5D34-69229A86AEA8}"/>
              </a:ext>
            </a:extLst>
          </p:cNvPr>
          <p:cNvSpPr txBox="1"/>
          <p:nvPr/>
        </p:nvSpPr>
        <p:spPr>
          <a:xfrm>
            <a:off x="2729827" y="789108"/>
            <a:ext cx="4524413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</a:rPr>
              <a:t>AVALIAÇÃO A – CRITÉRIOS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C789108-5529-396A-8F70-4D221D23F9C5}"/>
              </a:ext>
            </a:extLst>
          </p:cNvPr>
          <p:cNvSpPr txBox="1"/>
          <p:nvPr/>
        </p:nvSpPr>
        <p:spPr>
          <a:xfrm>
            <a:off x="3049867" y="2309434"/>
            <a:ext cx="3655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Resposta completa e correta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D195A79-3FDC-A17D-3AC0-74FBCAE0BDE0}"/>
              </a:ext>
            </a:extLst>
          </p:cNvPr>
          <p:cNvSpPr/>
          <p:nvPr/>
        </p:nvSpPr>
        <p:spPr>
          <a:xfrm>
            <a:off x="2954870" y="2119103"/>
            <a:ext cx="4299370" cy="7368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olchete Esquerdo 9">
            <a:extLst>
              <a:ext uri="{FF2B5EF4-FFF2-40B4-BE49-F238E27FC236}">
                <a16:creationId xmlns:a16="http://schemas.microsoft.com/office/drawing/2014/main" id="{7227210D-B0E2-F7FD-200B-8A91A97B6F8B}"/>
              </a:ext>
            </a:extLst>
          </p:cNvPr>
          <p:cNvSpPr/>
          <p:nvPr/>
        </p:nvSpPr>
        <p:spPr>
          <a:xfrm>
            <a:off x="7589520" y="1759376"/>
            <a:ext cx="182880" cy="1309897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5CAE95B-9ED5-D87E-B988-FB4983387F18}"/>
              </a:ext>
            </a:extLst>
          </p:cNvPr>
          <p:cNvSpPr txBox="1"/>
          <p:nvPr/>
        </p:nvSpPr>
        <p:spPr>
          <a:xfrm>
            <a:off x="7877642" y="1759376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8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D68494B-AC9F-1ED0-282D-7566A488C025}"/>
              </a:ext>
            </a:extLst>
          </p:cNvPr>
          <p:cNvSpPr txBox="1"/>
          <p:nvPr/>
        </p:nvSpPr>
        <p:spPr>
          <a:xfrm>
            <a:off x="7892882" y="2217101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9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6314C3E-47F2-DE0C-4321-98C594D2B6B4}"/>
              </a:ext>
            </a:extLst>
          </p:cNvPr>
          <p:cNvSpPr txBox="1"/>
          <p:nvPr/>
        </p:nvSpPr>
        <p:spPr>
          <a:xfrm>
            <a:off x="7708388" y="2612707"/>
            <a:ext cx="6142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10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17058BC-7376-73B6-EDC7-0C60DB0C7692}"/>
              </a:ext>
            </a:extLst>
          </p:cNvPr>
          <p:cNvSpPr txBox="1"/>
          <p:nvPr/>
        </p:nvSpPr>
        <p:spPr>
          <a:xfrm>
            <a:off x="3019558" y="4054112"/>
            <a:ext cx="3917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Resposta incompleta e correta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1FC68BB-53DF-F888-0109-20AF7E8FB6DA}"/>
              </a:ext>
            </a:extLst>
          </p:cNvPr>
          <p:cNvSpPr/>
          <p:nvPr/>
        </p:nvSpPr>
        <p:spPr>
          <a:xfrm>
            <a:off x="2924560" y="3863781"/>
            <a:ext cx="4376423" cy="7368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olchete Esquerdo 22">
            <a:extLst>
              <a:ext uri="{FF2B5EF4-FFF2-40B4-BE49-F238E27FC236}">
                <a16:creationId xmlns:a16="http://schemas.microsoft.com/office/drawing/2014/main" id="{022D0A54-5732-7F70-89F3-81A9C3259775}"/>
              </a:ext>
            </a:extLst>
          </p:cNvPr>
          <p:cNvSpPr/>
          <p:nvPr/>
        </p:nvSpPr>
        <p:spPr>
          <a:xfrm>
            <a:off x="7559211" y="3504054"/>
            <a:ext cx="182880" cy="1309897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DD8C61A-E92D-AB89-0721-0E9868880FA0}"/>
              </a:ext>
            </a:extLst>
          </p:cNvPr>
          <p:cNvSpPr txBox="1"/>
          <p:nvPr/>
        </p:nvSpPr>
        <p:spPr>
          <a:xfrm>
            <a:off x="7847333" y="3504054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7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FBD38BE-BD1E-23AB-E9D6-5C9F05C0665A}"/>
              </a:ext>
            </a:extLst>
          </p:cNvPr>
          <p:cNvSpPr txBox="1"/>
          <p:nvPr/>
        </p:nvSpPr>
        <p:spPr>
          <a:xfrm>
            <a:off x="7862573" y="3900377"/>
            <a:ext cx="399468" cy="707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6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7CD55D1-EC07-C811-1786-D770EC98BD74}"/>
              </a:ext>
            </a:extLst>
          </p:cNvPr>
          <p:cNvSpPr txBox="1"/>
          <p:nvPr/>
        </p:nvSpPr>
        <p:spPr>
          <a:xfrm>
            <a:off x="7876204" y="4377387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5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585BD25-E732-8346-1D80-84CA53CA9881}"/>
              </a:ext>
            </a:extLst>
          </p:cNvPr>
          <p:cNvSpPr txBox="1"/>
          <p:nvPr/>
        </p:nvSpPr>
        <p:spPr>
          <a:xfrm>
            <a:off x="2958597" y="5733635"/>
            <a:ext cx="43296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Resposta incompleta e não-correta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FB7B5B27-068F-A9A9-88EB-5B9DAFBF541A}"/>
              </a:ext>
            </a:extLst>
          </p:cNvPr>
          <p:cNvSpPr/>
          <p:nvPr/>
        </p:nvSpPr>
        <p:spPr>
          <a:xfrm>
            <a:off x="2924560" y="5543304"/>
            <a:ext cx="4329680" cy="7368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olchete Esquerdo 30">
            <a:extLst>
              <a:ext uri="{FF2B5EF4-FFF2-40B4-BE49-F238E27FC236}">
                <a16:creationId xmlns:a16="http://schemas.microsoft.com/office/drawing/2014/main" id="{E95F8094-961C-3549-D0B2-0A1D131A7E96}"/>
              </a:ext>
            </a:extLst>
          </p:cNvPr>
          <p:cNvSpPr/>
          <p:nvPr/>
        </p:nvSpPr>
        <p:spPr>
          <a:xfrm>
            <a:off x="7559211" y="5183577"/>
            <a:ext cx="182880" cy="1309897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E8751CD-6899-8EA9-8EC3-C1F0DF510070}"/>
              </a:ext>
            </a:extLst>
          </p:cNvPr>
          <p:cNvSpPr txBox="1"/>
          <p:nvPr/>
        </p:nvSpPr>
        <p:spPr>
          <a:xfrm>
            <a:off x="7847333" y="5183577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4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36FF9CC-2C8A-E960-9995-2C1536C8CFBA}"/>
              </a:ext>
            </a:extLst>
          </p:cNvPr>
          <p:cNvSpPr txBox="1"/>
          <p:nvPr/>
        </p:nvSpPr>
        <p:spPr>
          <a:xfrm>
            <a:off x="7862573" y="5579900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3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A1D6A9E-A12C-6A1B-9921-33BE7E3AA0EB}"/>
              </a:ext>
            </a:extLst>
          </p:cNvPr>
          <p:cNvSpPr txBox="1"/>
          <p:nvPr/>
        </p:nvSpPr>
        <p:spPr>
          <a:xfrm>
            <a:off x="7876204" y="6056910"/>
            <a:ext cx="22605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2 ou menor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38D9E5E-0ED5-235D-BA25-9A6DD7AF8B44}"/>
              </a:ext>
            </a:extLst>
          </p:cNvPr>
          <p:cNvSpPr txBox="1"/>
          <p:nvPr/>
        </p:nvSpPr>
        <p:spPr>
          <a:xfrm>
            <a:off x="8644055" y="817668"/>
            <a:ext cx="24972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Média: 7.1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95182AC-5C50-552E-B7A9-5AFF475AD54C}"/>
              </a:ext>
            </a:extLst>
          </p:cNvPr>
          <p:cNvSpPr txBox="1"/>
          <p:nvPr/>
        </p:nvSpPr>
        <p:spPr>
          <a:xfrm>
            <a:off x="8823600" y="2065463"/>
            <a:ext cx="2819759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rgbClr val="FF0000"/>
                </a:solidFill>
              </a:rPr>
              <a:t>PRINCIPAIS ERROS: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E5D0AC6-BEDA-15B4-6297-C7D842098C14}"/>
              </a:ext>
            </a:extLst>
          </p:cNvPr>
          <p:cNvSpPr txBox="1"/>
          <p:nvPr/>
        </p:nvSpPr>
        <p:spPr>
          <a:xfrm>
            <a:off x="8640720" y="2735817"/>
            <a:ext cx="3185520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Erros tipográficos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634EA58-3785-3BA7-75CA-DD4C0EF74903}"/>
              </a:ext>
            </a:extLst>
          </p:cNvPr>
          <p:cNvSpPr txBox="1"/>
          <p:nvPr/>
        </p:nvSpPr>
        <p:spPr>
          <a:xfrm>
            <a:off x="8640720" y="3282123"/>
            <a:ext cx="3568510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Informação incompleta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F926638-0724-671B-AAC8-2F9653B500F8}"/>
              </a:ext>
            </a:extLst>
          </p:cNvPr>
          <p:cNvSpPr txBox="1"/>
          <p:nvPr/>
        </p:nvSpPr>
        <p:spPr>
          <a:xfrm>
            <a:off x="8623490" y="4177587"/>
            <a:ext cx="3568510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Tabela informada, mas não processada</a:t>
            </a:r>
          </a:p>
        </p:txBody>
      </p:sp>
    </p:spTree>
    <p:extLst>
      <p:ext uri="{BB962C8B-B14F-4D97-AF65-F5344CB8AC3E}">
        <p14:creationId xmlns:p14="http://schemas.microsoft.com/office/powerpoint/2010/main" val="125134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5" grpId="0"/>
      <p:bldP spid="6" grpId="0" animBg="1"/>
      <p:bldP spid="10" grpId="0" animBg="1"/>
      <p:bldP spid="17" grpId="0"/>
      <p:bldP spid="19" grpId="0"/>
      <p:bldP spid="20" grpId="0"/>
      <p:bldP spid="21" grpId="0"/>
      <p:bldP spid="22" grpId="0" animBg="1"/>
      <p:bldP spid="23" grpId="0" animBg="1"/>
      <p:bldP spid="24" grpId="0"/>
      <p:bldP spid="27" grpId="0"/>
      <p:bldP spid="28" grpId="0"/>
      <p:bldP spid="29" grpId="0"/>
      <p:bldP spid="30" grpId="0" animBg="1"/>
      <p:bldP spid="31" grpId="0" animBg="1"/>
      <p:bldP spid="32" grpId="0"/>
      <p:bldP spid="33" grpId="0"/>
      <p:bldP spid="34" grpId="0"/>
      <p:bldP spid="35" grpId="0"/>
      <p:bldP spid="36" grpId="0" animBg="1"/>
      <p:bldP spid="37" grpId="0" animBg="1"/>
      <p:bldP spid="38" grpId="0" animBg="1"/>
      <p:bldP spid="3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B1FC2-4974-4888-B452-243A9DF5B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60F266D-772A-FABB-0212-2AF1EFB4F21B}"/>
              </a:ext>
            </a:extLst>
          </p:cNvPr>
          <p:cNvSpPr/>
          <p:nvPr/>
        </p:nvSpPr>
        <p:spPr>
          <a:xfrm>
            <a:off x="8623490" y="1759376"/>
            <a:ext cx="3503100" cy="360510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E25CF75-DC5C-2065-8B6F-FE77D4759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D5ACA41-241A-8406-43B9-7E3EBC261F4F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de testes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672C569-D606-A7C0-2CEA-FAE127E84016}"/>
              </a:ext>
            </a:extLst>
          </p:cNvPr>
          <p:cNvSpPr/>
          <p:nvPr/>
        </p:nvSpPr>
        <p:spPr>
          <a:xfrm>
            <a:off x="127401" y="117544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F18C4BC-9348-9F1A-DED6-A30C32A28D33}"/>
              </a:ext>
            </a:extLst>
          </p:cNvPr>
          <p:cNvSpPr txBox="1"/>
          <p:nvPr/>
        </p:nvSpPr>
        <p:spPr>
          <a:xfrm>
            <a:off x="56982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05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664D74B-93DC-0EA1-155B-C9BD277297B8}"/>
              </a:ext>
            </a:extLst>
          </p:cNvPr>
          <p:cNvSpPr txBox="1"/>
          <p:nvPr/>
        </p:nvSpPr>
        <p:spPr>
          <a:xfrm>
            <a:off x="152927" y="2271136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agentes inteligentes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1081871-12E4-B09A-9ACC-CB9163913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620610" y="3429000"/>
            <a:ext cx="1224629" cy="1533162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3E550A9D-27F4-229C-3595-F7173D24CD84}"/>
              </a:ext>
            </a:extLst>
          </p:cNvPr>
          <p:cNvSpPr txBox="1"/>
          <p:nvPr/>
        </p:nvSpPr>
        <p:spPr>
          <a:xfrm>
            <a:off x="394862" y="5480488"/>
            <a:ext cx="1625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Hilário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Izaias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BFA53CE-69BB-4940-9A68-9E02205C4847}"/>
              </a:ext>
            </a:extLst>
          </p:cNvPr>
          <p:cNvSpPr/>
          <p:nvPr/>
        </p:nvSpPr>
        <p:spPr>
          <a:xfrm>
            <a:off x="127401" y="109712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C7A9650-5185-861E-FC4F-9D67C8C975CF}"/>
              </a:ext>
            </a:extLst>
          </p:cNvPr>
          <p:cNvSpPr txBox="1"/>
          <p:nvPr/>
        </p:nvSpPr>
        <p:spPr>
          <a:xfrm>
            <a:off x="2729827" y="789108"/>
            <a:ext cx="4524413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</a:rPr>
              <a:t>AVALIAÇÃO A – CRITÉRIOS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9CE1E9-6BEE-6263-07BF-34E1FA927E3A}"/>
              </a:ext>
            </a:extLst>
          </p:cNvPr>
          <p:cNvSpPr txBox="1"/>
          <p:nvPr/>
        </p:nvSpPr>
        <p:spPr>
          <a:xfrm>
            <a:off x="3049867" y="2309434"/>
            <a:ext cx="3655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Resposta completa e correta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F8D151A-90C0-FA2E-2B2F-1B0B85F6296A}"/>
              </a:ext>
            </a:extLst>
          </p:cNvPr>
          <p:cNvSpPr/>
          <p:nvPr/>
        </p:nvSpPr>
        <p:spPr>
          <a:xfrm>
            <a:off x="2954870" y="2119103"/>
            <a:ext cx="4299370" cy="7368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olchete Esquerdo 9">
            <a:extLst>
              <a:ext uri="{FF2B5EF4-FFF2-40B4-BE49-F238E27FC236}">
                <a16:creationId xmlns:a16="http://schemas.microsoft.com/office/drawing/2014/main" id="{95827378-E858-7263-2C59-D90FAD7FFC6C}"/>
              </a:ext>
            </a:extLst>
          </p:cNvPr>
          <p:cNvSpPr/>
          <p:nvPr/>
        </p:nvSpPr>
        <p:spPr>
          <a:xfrm>
            <a:off x="7589520" y="1759376"/>
            <a:ext cx="182880" cy="1309897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AE09F2C-34C8-62F0-774B-46A2CA8827A5}"/>
              </a:ext>
            </a:extLst>
          </p:cNvPr>
          <p:cNvSpPr txBox="1"/>
          <p:nvPr/>
        </p:nvSpPr>
        <p:spPr>
          <a:xfrm>
            <a:off x="7877642" y="1759376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8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BB68FDB-BC4D-A97C-E055-16E4A7EDE8C8}"/>
              </a:ext>
            </a:extLst>
          </p:cNvPr>
          <p:cNvSpPr txBox="1"/>
          <p:nvPr/>
        </p:nvSpPr>
        <p:spPr>
          <a:xfrm>
            <a:off x="7892882" y="2217101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9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4F671CC-12E0-182F-5E84-8CC6B3FBA15B}"/>
              </a:ext>
            </a:extLst>
          </p:cNvPr>
          <p:cNvSpPr txBox="1"/>
          <p:nvPr/>
        </p:nvSpPr>
        <p:spPr>
          <a:xfrm>
            <a:off x="7708388" y="2612707"/>
            <a:ext cx="6142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10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2D24A09-5DCC-0B5C-51E7-FA365B165005}"/>
              </a:ext>
            </a:extLst>
          </p:cNvPr>
          <p:cNvSpPr txBox="1"/>
          <p:nvPr/>
        </p:nvSpPr>
        <p:spPr>
          <a:xfrm>
            <a:off x="3019558" y="4054112"/>
            <a:ext cx="3917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Resposta incompleta e correta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DFEB004-E900-59D7-7775-AF4B90C7ED8B}"/>
              </a:ext>
            </a:extLst>
          </p:cNvPr>
          <p:cNvSpPr/>
          <p:nvPr/>
        </p:nvSpPr>
        <p:spPr>
          <a:xfrm>
            <a:off x="2924560" y="3863781"/>
            <a:ext cx="4376423" cy="7368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olchete Esquerdo 22">
            <a:extLst>
              <a:ext uri="{FF2B5EF4-FFF2-40B4-BE49-F238E27FC236}">
                <a16:creationId xmlns:a16="http://schemas.microsoft.com/office/drawing/2014/main" id="{18736E2E-BD5F-4BB4-F81A-4B437F03C510}"/>
              </a:ext>
            </a:extLst>
          </p:cNvPr>
          <p:cNvSpPr/>
          <p:nvPr/>
        </p:nvSpPr>
        <p:spPr>
          <a:xfrm>
            <a:off x="7559211" y="3504054"/>
            <a:ext cx="182880" cy="1309897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F8B1F3A-46F2-C228-1923-AA51C79E4192}"/>
              </a:ext>
            </a:extLst>
          </p:cNvPr>
          <p:cNvSpPr txBox="1"/>
          <p:nvPr/>
        </p:nvSpPr>
        <p:spPr>
          <a:xfrm>
            <a:off x="7847333" y="3504054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7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5FA70CF-DF4E-91F6-D7DF-B91C75F6FF04}"/>
              </a:ext>
            </a:extLst>
          </p:cNvPr>
          <p:cNvSpPr txBox="1"/>
          <p:nvPr/>
        </p:nvSpPr>
        <p:spPr>
          <a:xfrm>
            <a:off x="7862573" y="3900377"/>
            <a:ext cx="399468" cy="707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6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FF2B337-56E3-517F-1E38-0D49B22DC011}"/>
              </a:ext>
            </a:extLst>
          </p:cNvPr>
          <p:cNvSpPr txBox="1"/>
          <p:nvPr/>
        </p:nvSpPr>
        <p:spPr>
          <a:xfrm>
            <a:off x="7876204" y="4377387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5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FA9C415-38D6-C9A9-484E-70E16477ACB7}"/>
              </a:ext>
            </a:extLst>
          </p:cNvPr>
          <p:cNvSpPr txBox="1"/>
          <p:nvPr/>
        </p:nvSpPr>
        <p:spPr>
          <a:xfrm>
            <a:off x="2958597" y="5733635"/>
            <a:ext cx="43296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Resposta incompleta e não-correta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68E11CB5-F4A7-F3D8-36B9-D532F320A584}"/>
              </a:ext>
            </a:extLst>
          </p:cNvPr>
          <p:cNvSpPr/>
          <p:nvPr/>
        </p:nvSpPr>
        <p:spPr>
          <a:xfrm>
            <a:off x="2924560" y="5543304"/>
            <a:ext cx="4329680" cy="7368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olchete Esquerdo 30">
            <a:extLst>
              <a:ext uri="{FF2B5EF4-FFF2-40B4-BE49-F238E27FC236}">
                <a16:creationId xmlns:a16="http://schemas.microsoft.com/office/drawing/2014/main" id="{A9E63FB6-4C74-CE78-7FEB-1F6545928FB5}"/>
              </a:ext>
            </a:extLst>
          </p:cNvPr>
          <p:cNvSpPr/>
          <p:nvPr/>
        </p:nvSpPr>
        <p:spPr>
          <a:xfrm>
            <a:off x="7559211" y="5183577"/>
            <a:ext cx="182880" cy="1309897"/>
          </a:xfrm>
          <a:prstGeom prst="lef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AD09223-D072-1ACA-4440-8CB3EFF5E270}"/>
              </a:ext>
            </a:extLst>
          </p:cNvPr>
          <p:cNvSpPr txBox="1"/>
          <p:nvPr/>
        </p:nvSpPr>
        <p:spPr>
          <a:xfrm>
            <a:off x="7847333" y="5183577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4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31A23EA-41E2-086A-1CB5-2B60ED30461C}"/>
              </a:ext>
            </a:extLst>
          </p:cNvPr>
          <p:cNvSpPr txBox="1"/>
          <p:nvPr/>
        </p:nvSpPr>
        <p:spPr>
          <a:xfrm>
            <a:off x="7862573" y="5579900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3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C51C5AD-DD97-77E6-EAFD-D91E27B8CFC7}"/>
              </a:ext>
            </a:extLst>
          </p:cNvPr>
          <p:cNvSpPr txBox="1"/>
          <p:nvPr/>
        </p:nvSpPr>
        <p:spPr>
          <a:xfrm>
            <a:off x="7876204" y="6056910"/>
            <a:ext cx="22605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2 ou menor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6064903-F8EC-37FF-09CC-3FDC7A277558}"/>
              </a:ext>
            </a:extLst>
          </p:cNvPr>
          <p:cNvSpPr txBox="1"/>
          <p:nvPr/>
        </p:nvSpPr>
        <p:spPr>
          <a:xfrm>
            <a:off x="8644055" y="817668"/>
            <a:ext cx="24972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Média: 7.1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ACDED16-85F1-25A0-DF77-F01CD5C097D4}"/>
              </a:ext>
            </a:extLst>
          </p:cNvPr>
          <p:cNvSpPr txBox="1"/>
          <p:nvPr/>
        </p:nvSpPr>
        <p:spPr>
          <a:xfrm>
            <a:off x="8823600" y="2065463"/>
            <a:ext cx="2819759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rgbClr val="FF0000"/>
                </a:solidFill>
              </a:rPr>
              <a:t>PRINCIPAIS ERROS: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8A17BE1-E156-212C-E9BB-012D155E9E18}"/>
              </a:ext>
            </a:extLst>
          </p:cNvPr>
          <p:cNvSpPr txBox="1"/>
          <p:nvPr/>
        </p:nvSpPr>
        <p:spPr>
          <a:xfrm>
            <a:off x="8640720" y="2735817"/>
            <a:ext cx="3185520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Erros tipográficos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A9D55DF-2AE2-7358-0226-3AD39DBC7790}"/>
              </a:ext>
            </a:extLst>
          </p:cNvPr>
          <p:cNvSpPr txBox="1"/>
          <p:nvPr/>
        </p:nvSpPr>
        <p:spPr>
          <a:xfrm>
            <a:off x="8640720" y="3282123"/>
            <a:ext cx="3568510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Informação incompleta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D2E85E9-EBC9-782B-CDFD-1C7C490D067E}"/>
              </a:ext>
            </a:extLst>
          </p:cNvPr>
          <p:cNvSpPr txBox="1"/>
          <p:nvPr/>
        </p:nvSpPr>
        <p:spPr>
          <a:xfrm>
            <a:off x="8623490" y="4177587"/>
            <a:ext cx="3568510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Tabela informada, mas não processada</a:t>
            </a:r>
          </a:p>
        </p:txBody>
      </p:sp>
    </p:spTree>
    <p:extLst>
      <p:ext uri="{BB962C8B-B14F-4D97-AF65-F5344CB8AC3E}">
        <p14:creationId xmlns:p14="http://schemas.microsoft.com/office/powerpoint/2010/main" val="373726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5" grpId="0"/>
      <p:bldP spid="6" grpId="0" animBg="1"/>
      <p:bldP spid="10" grpId="0" animBg="1"/>
      <p:bldP spid="17" grpId="0"/>
      <p:bldP spid="19" grpId="0"/>
      <p:bldP spid="20" grpId="0"/>
      <p:bldP spid="21" grpId="0"/>
      <p:bldP spid="22" grpId="0" animBg="1"/>
      <p:bldP spid="23" grpId="0" animBg="1"/>
      <p:bldP spid="24" grpId="0"/>
      <p:bldP spid="27" grpId="0"/>
      <p:bldP spid="28" grpId="0"/>
      <p:bldP spid="29" grpId="0"/>
      <p:bldP spid="30" grpId="0" animBg="1"/>
      <p:bldP spid="31" grpId="0" animBg="1"/>
      <p:bldP spid="32" grpId="0"/>
      <p:bldP spid="33" grpId="0"/>
      <p:bldP spid="34" grpId="0"/>
      <p:bldP spid="35" grpId="0"/>
      <p:bldP spid="36" grpId="0" animBg="1"/>
      <p:bldP spid="37" grpId="0" animBg="1"/>
      <p:bldP spid="38" grpId="0" animBg="1"/>
      <p:bldP spid="3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A3E67-949A-11A2-87C7-2DF8EF47E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B2140B2-1FFA-BE85-3443-1CAEC535E3D6}"/>
              </a:ext>
            </a:extLst>
          </p:cNvPr>
          <p:cNvSpPr/>
          <p:nvPr/>
        </p:nvSpPr>
        <p:spPr>
          <a:xfrm>
            <a:off x="322117" y="1194955"/>
            <a:ext cx="2159997" cy="5562035"/>
          </a:xfrm>
          <a:prstGeom prst="roundRect">
            <a:avLst/>
          </a:prstGeom>
          <a:solidFill>
            <a:srgbClr val="90C226">
              <a:alpha val="30196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2BDA2B2-02D8-1E26-BC03-5B67BF7CEC86}"/>
              </a:ext>
            </a:extLst>
          </p:cNvPr>
          <p:cNvSpPr/>
          <p:nvPr/>
        </p:nvSpPr>
        <p:spPr>
          <a:xfrm>
            <a:off x="2578178" y="1194954"/>
            <a:ext cx="2159997" cy="5562035"/>
          </a:xfrm>
          <a:prstGeom prst="roundRect">
            <a:avLst/>
          </a:prstGeom>
          <a:solidFill>
            <a:srgbClr val="00B0F0">
              <a:alpha val="30196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1E8FE35F-B918-10A9-0094-5447D2C6D1C5}"/>
              </a:ext>
            </a:extLst>
          </p:cNvPr>
          <p:cNvSpPr/>
          <p:nvPr/>
        </p:nvSpPr>
        <p:spPr>
          <a:xfrm>
            <a:off x="4834239" y="1165630"/>
            <a:ext cx="2159997" cy="556203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30196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3D3F98C1-5CBF-22C9-E405-34032A07F320}"/>
              </a:ext>
            </a:extLst>
          </p:cNvPr>
          <p:cNvSpPr/>
          <p:nvPr/>
        </p:nvSpPr>
        <p:spPr>
          <a:xfrm>
            <a:off x="7079909" y="1185836"/>
            <a:ext cx="2159997" cy="5562035"/>
          </a:xfrm>
          <a:prstGeom prst="roundRect">
            <a:avLst/>
          </a:prstGeom>
          <a:solidFill>
            <a:srgbClr val="FFFF00">
              <a:alpha val="3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A7F990A4-72A6-93FA-55A0-C9E742E48516}"/>
              </a:ext>
            </a:extLst>
          </p:cNvPr>
          <p:cNvSpPr/>
          <p:nvPr/>
        </p:nvSpPr>
        <p:spPr>
          <a:xfrm>
            <a:off x="9346361" y="1175444"/>
            <a:ext cx="2159997" cy="5562035"/>
          </a:xfrm>
          <a:prstGeom prst="roundRect">
            <a:avLst/>
          </a:prstGeom>
          <a:solidFill>
            <a:srgbClr val="FFC000">
              <a:alpha val="30196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33DECE5-3D30-813A-6134-522B938DB3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067" y="85030"/>
            <a:ext cx="1204933" cy="120151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0C539D9-295A-53C5-D23F-96E21C661C38}"/>
              </a:ext>
            </a:extLst>
          </p:cNvPr>
          <p:cNvSpPr txBox="1"/>
          <p:nvPr/>
        </p:nvSpPr>
        <p:spPr>
          <a:xfrm>
            <a:off x="875925" y="1291693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A1182CE-57E1-6985-4C7E-ABA9974D1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575" y="3273453"/>
            <a:ext cx="1351785" cy="139239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2772A18-6828-28F8-9337-957140CD44A5}"/>
              </a:ext>
            </a:extLst>
          </p:cNvPr>
          <p:cNvSpPr txBox="1"/>
          <p:nvPr/>
        </p:nvSpPr>
        <p:spPr>
          <a:xfrm>
            <a:off x="2578178" y="2219786"/>
            <a:ext cx="2159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Conversão de formatos e estruturação de dados, vetorização e EBR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6D53EF5-ECF0-A4E0-F2E9-952A402C4B89}"/>
              </a:ext>
            </a:extLst>
          </p:cNvPr>
          <p:cNvSpPr txBox="1"/>
          <p:nvPr/>
        </p:nvSpPr>
        <p:spPr>
          <a:xfrm>
            <a:off x="3088064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02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A1D0C48B-A8F0-CE10-DCE3-D77C9D25B8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2327" y="3554362"/>
            <a:ext cx="1191698" cy="1111488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65D5BFFA-FD30-4FFA-3402-142CFA6C56F8}"/>
              </a:ext>
            </a:extLst>
          </p:cNvPr>
          <p:cNvSpPr txBox="1"/>
          <p:nvPr/>
        </p:nvSpPr>
        <p:spPr>
          <a:xfrm>
            <a:off x="5285699" y="127056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03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B066F71-8D30-6137-132B-AA80E7C0264C}"/>
              </a:ext>
            </a:extLst>
          </p:cNvPr>
          <p:cNvSpPr txBox="1"/>
          <p:nvPr/>
        </p:nvSpPr>
        <p:spPr>
          <a:xfrm>
            <a:off x="763581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04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4DE3B1D0-7736-7E9C-FCFD-BEA383F1FA6E}"/>
              </a:ext>
            </a:extLst>
          </p:cNvPr>
          <p:cNvSpPr txBox="1"/>
          <p:nvPr/>
        </p:nvSpPr>
        <p:spPr>
          <a:xfrm>
            <a:off x="9788789" y="1286540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05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28DF315F-B04B-AC32-D132-5D0188B27EE3}"/>
              </a:ext>
            </a:extLst>
          </p:cNvPr>
          <p:cNvSpPr txBox="1"/>
          <p:nvPr/>
        </p:nvSpPr>
        <p:spPr>
          <a:xfrm>
            <a:off x="4834237" y="2271136"/>
            <a:ext cx="21599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NR, vetorização e EBR</a:t>
            </a:r>
          </a:p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Infraestrutura computacional para o LLM em agronegócios</a:t>
            </a:r>
          </a:p>
        </p:txBody>
      </p:sp>
      <p:pic>
        <p:nvPicPr>
          <p:cNvPr id="83" name="Imagem 82">
            <a:extLst>
              <a:ext uri="{FF2B5EF4-FFF2-40B4-BE49-F238E27FC236}">
                <a16:creationId xmlns:a16="http://schemas.microsoft.com/office/drawing/2014/main" id="{2D733659-867E-DD5E-AF08-2E56A9EF3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7387" y="3649398"/>
            <a:ext cx="1139727" cy="1337596"/>
          </a:xfrm>
          <a:prstGeom prst="rect">
            <a:avLst/>
          </a:prstGeom>
        </p:spPr>
      </p:pic>
      <p:sp>
        <p:nvSpPr>
          <p:cNvPr id="90" name="CaixaDeTexto 89">
            <a:extLst>
              <a:ext uri="{FF2B5EF4-FFF2-40B4-BE49-F238E27FC236}">
                <a16:creationId xmlns:a16="http://schemas.microsoft.com/office/drawing/2014/main" id="{65589DEA-750B-2703-0229-A9390CB57C21}"/>
              </a:ext>
            </a:extLst>
          </p:cNvPr>
          <p:cNvSpPr txBox="1"/>
          <p:nvPr/>
        </p:nvSpPr>
        <p:spPr>
          <a:xfrm>
            <a:off x="7138332" y="2289108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agronegócio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495B067B-0821-1272-AEF9-5879DCD6DD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57384" y="3649398"/>
            <a:ext cx="1130803" cy="1079286"/>
          </a:xfrm>
          <a:prstGeom prst="rect">
            <a:avLst/>
          </a:prstGeom>
        </p:spPr>
      </p:pic>
      <p:sp>
        <p:nvSpPr>
          <p:cNvPr id="99" name="CaixaDeTexto 98">
            <a:extLst>
              <a:ext uri="{FF2B5EF4-FFF2-40B4-BE49-F238E27FC236}">
                <a16:creationId xmlns:a16="http://schemas.microsoft.com/office/drawing/2014/main" id="{6B2FC81A-9F21-2E92-5ABC-E2509AAFE12F}"/>
              </a:ext>
            </a:extLst>
          </p:cNvPr>
          <p:cNvSpPr txBox="1"/>
          <p:nvPr/>
        </p:nvSpPr>
        <p:spPr>
          <a:xfrm>
            <a:off x="9371887" y="2271136"/>
            <a:ext cx="2159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agentes inteligentes</a:t>
            </a:r>
          </a:p>
        </p:txBody>
      </p:sp>
      <p:pic>
        <p:nvPicPr>
          <p:cNvPr id="101" name="Imagem 100">
            <a:extLst>
              <a:ext uri="{FF2B5EF4-FFF2-40B4-BE49-F238E27FC236}">
                <a16:creationId xmlns:a16="http://schemas.microsoft.com/office/drawing/2014/main" id="{A4165012-10ED-1D15-EBEF-3AA45D8015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9839570" y="3429000"/>
            <a:ext cx="1224629" cy="1533162"/>
          </a:xfrm>
          <a:prstGeom prst="rect">
            <a:avLst/>
          </a:prstGeom>
        </p:spPr>
      </p:pic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B9E53676-A57D-ECBB-FBEA-D5CFE71061ED}"/>
              </a:ext>
            </a:extLst>
          </p:cNvPr>
          <p:cNvSpPr txBox="1"/>
          <p:nvPr/>
        </p:nvSpPr>
        <p:spPr>
          <a:xfrm>
            <a:off x="9613822" y="5480488"/>
            <a:ext cx="1625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Hilário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Izaias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Kawano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AB6903B7-5AAE-7534-7AA1-5937C2CE652B}"/>
              </a:ext>
            </a:extLst>
          </p:cNvPr>
          <p:cNvSpPr txBox="1"/>
          <p:nvPr/>
        </p:nvSpPr>
        <p:spPr>
          <a:xfrm>
            <a:off x="7451505" y="5480488"/>
            <a:ext cx="16962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Ricardo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Favan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Pedro Henrique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Fernanda Gomes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 Eduarda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B0D7EFAA-3FBA-0451-27A8-82C73E07D926}"/>
              </a:ext>
            </a:extLst>
          </p:cNvPr>
          <p:cNvSpPr txBox="1"/>
          <p:nvPr/>
        </p:nvSpPr>
        <p:spPr>
          <a:xfrm>
            <a:off x="5005636" y="5477307"/>
            <a:ext cx="15343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Sílvio Barbieri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Jean Acedo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Allan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Siriani</a:t>
            </a: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ABA01E7C-E0EB-F613-7D29-EA2B123C818A}"/>
              </a:ext>
            </a:extLst>
          </p:cNvPr>
          <p:cNvSpPr txBox="1"/>
          <p:nvPr/>
        </p:nvSpPr>
        <p:spPr>
          <a:xfrm>
            <a:off x="2749575" y="5459706"/>
            <a:ext cx="17940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Dionísio Junior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Leonardo Oliveira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Dirceu Gerardi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CC315F09-832B-A875-BE04-F2527FCB2B96}"/>
              </a:ext>
            </a:extLst>
          </p:cNvPr>
          <p:cNvSpPr txBox="1"/>
          <p:nvPr/>
        </p:nvSpPr>
        <p:spPr>
          <a:xfrm>
            <a:off x="397450" y="5241662"/>
            <a:ext cx="16385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Luís </a:t>
            </a: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Zamariolli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Sérgio Negro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Gustavo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67721FF-F138-235C-5A7B-9E73EED946DB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1D5C276-9CAD-F2C1-7030-0CDA85EBDBB6}"/>
              </a:ext>
            </a:extLst>
          </p:cNvPr>
          <p:cNvSpPr txBox="1"/>
          <p:nvPr/>
        </p:nvSpPr>
        <p:spPr>
          <a:xfrm>
            <a:off x="300959" y="2246965"/>
            <a:ext cx="2159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Captação, qualificação e triagem de conhecimento agronômico</a:t>
            </a:r>
          </a:p>
        </p:txBody>
      </p:sp>
    </p:spTree>
    <p:extLst>
      <p:ext uri="{BB962C8B-B14F-4D97-AF65-F5344CB8AC3E}">
        <p14:creationId xmlns:p14="http://schemas.microsoft.com/office/powerpoint/2010/main" val="309571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DFD0D-C4DF-8635-2995-94E5E844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C26A5EA-0E06-D308-DB19-03AA7735D3EB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FE55635-2310-08C9-0CCC-780003CE2552}"/>
              </a:ext>
            </a:extLst>
          </p:cNvPr>
          <p:cNvSpPr txBox="1"/>
          <p:nvPr/>
        </p:nvSpPr>
        <p:spPr>
          <a:xfrm>
            <a:off x="1327759" y="1628384"/>
            <a:ext cx="3650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Transformação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43C31C9-6D88-19D2-8BA3-6B629645E730}"/>
              </a:ext>
            </a:extLst>
          </p:cNvPr>
          <p:cNvSpPr txBox="1"/>
          <p:nvPr/>
        </p:nvSpPr>
        <p:spPr>
          <a:xfrm>
            <a:off x="6613741" y="1628384"/>
            <a:ext cx="3794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Banco de dados para LLM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011D10E-C1A9-89AF-C5DD-6C2095698573}"/>
              </a:ext>
            </a:extLst>
          </p:cNvPr>
          <p:cNvSpPr txBox="1"/>
          <p:nvPr/>
        </p:nvSpPr>
        <p:spPr>
          <a:xfrm>
            <a:off x="1333020" y="3976492"/>
            <a:ext cx="3448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Transformers para LLM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3DEBB84-0872-98CC-DB25-1CA68C4BF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0032" y="2475225"/>
            <a:ext cx="1139727" cy="133759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5BE7B7C-B82F-D9B0-A2DA-E1DF2F88DC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7792" y="4836943"/>
            <a:ext cx="1130803" cy="107928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3FBFDA1-545B-6A63-ADA3-C6F4C43095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7775130" y="4610005"/>
            <a:ext cx="1224629" cy="153316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5FBE037-61CF-8C5C-4183-8552D1A244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61617" y="2466218"/>
            <a:ext cx="1191698" cy="1111488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554E8D7-A197-1C69-D2C0-32A4C606F355}"/>
              </a:ext>
            </a:extLst>
          </p:cNvPr>
          <p:cNvSpPr/>
          <p:nvPr/>
        </p:nvSpPr>
        <p:spPr>
          <a:xfrm>
            <a:off x="959370" y="1454046"/>
            <a:ext cx="4618890" cy="101217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9F60E22-EE9F-5631-9FBF-242556AEE1B2}"/>
              </a:ext>
            </a:extLst>
          </p:cNvPr>
          <p:cNvSpPr txBox="1"/>
          <p:nvPr/>
        </p:nvSpPr>
        <p:spPr>
          <a:xfrm>
            <a:off x="6619003" y="3976492"/>
            <a:ext cx="3518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App SB100 - Preliminar</a:t>
            </a:r>
          </a:p>
        </p:txBody>
      </p:sp>
    </p:spTree>
    <p:extLst>
      <p:ext uri="{BB962C8B-B14F-4D97-AF65-F5344CB8AC3E}">
        <p14:creationId xmlns:p14="http://schemas.microsoft.com/office/powerpoint/2010/main" val="400487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CD16D-45B5-38A3-D9E5-3E9D36E2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CFAFE53-5A20-6087-EFE0-EF157B2DCD64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7AA2EF-5F65-906F-73FF-C6D11864120D}"/>
              </a:ext>
            </a:extLst>
          </p:cNvPr>
          <p:cNvSpPr txBox="1"/>
          <p:nvPr/>
        </p:nvSpPr>
        <p:spPr>
          <a:xfrm>
            <a:off x="1327759" y="1628384"/>
            <a:ext cx="3650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Transformação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096A502-BBEC-B18E-B411-FBE21588E34D}"/>
              </a:ext>
            </a:extLst>
          </p:cNvPr>
          <p:cNvSpPr txBox="1"/>
          <p:nvPr/>
        </p:nvSpPr>
        <p:spPr>
          <a:xfrm>
            <a:off x="6613741" y="1628384"/>
            <a:ext cx="3794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Banco de dados para LLM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09B830-D0B9-ACFF-1580-B10B703B4DAE}"/>
              </a:ext>
            </a:extLst>
          </p:cNvPr>
          <p:cNvSpPr txBox="1"/>
          <p:nvPr/>
        </p:nvSpPr>
        <p:spPr>
          <a:xfrm>
            <a:off x="1333020" y="3976492"/>
            <a:ext cx="3448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Transformers para LLM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8CBCAC9-2577-6109-6DFD-D4A5EF7FE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0032" y="2475225"/>
            <a:ext cx="1139727" cy="133759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59192F6-8913-97C6-FE45-1B4D72961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7792" y="4836943"/>
            <a:ext cx="1130803" cy="107928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78DEFDB-8639-AAD4-F974-34663CF5D7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7775130" y="4610005"/>
            <a:ext cx="1224629" cy="153316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6B4B478-7F56-EB76-7F06-3F2F48D235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61617" y="2466218"/>
            <a:ext cx="1191698" cy="1111488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2682A8C-321E-0206-E037-A6A3E3CD2E07}"/>
              </a:ext>
            </a:extLst>
          </p:cNvPr>
          <p:cNvSpPr/>
          <p:nvPr/>
        </p:nvSpPr>
        <p:spPr>
          <a:xfrm>
            <a:off x="748021" y="3625378"/>
            <a:ext cx="4618890" cy="101217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0BF4D6B-54A0-B0DC-E824-6B48A7BF5B8F}"/>
              </a:ext>
            </a:extLst>
          </p:cNvPr>
          <p:cNvSpPr txBox="1"/>
          <p:nvPr/>
        </p:nvSpPr>
        <p:spPr>
          <a:xfrm>
            <a:off x="6619003" y="3976492"/>
            <a:ext cx="3518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App SB100 - Preliminar</a:t>
            </a:r>
          </a:p>
        </p:txBody>
      </p:sp>
    </p:spTree>
    <p:extLst>
      <p:ext uri="{BB962C8B-B14F-4D97-AF65-F5344CB8AC3E}">
        <p14:creationId xmlns:p14="http://schemas.microsoft.com/office/powerpoint/2010/main" val="132519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8CD3A-BCE0-E9A4-CB2B-C54C7BDAB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29892B-E4C9-9BFE-1EDF-27EF111BDA2E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06C6B5-B7D1-1FB1-FBD8-8C7B4D113A86}"/>
              </a:ext>
            </a:extLst>
          </p:cNvPr>
          <p:cNvSpPr txBox="1"/>
          <p:nvPr/>
        </p:nvSpPr>
        <p:spPr>
          <a:xfrm>
            <a:off x="1327759" y="1628384"/>
            <a:ext cx="3650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Transformação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F0BEDD-4311-E15C-781F-8F1C76BE7CCC}"/>
              </a:ext>
            </a:extLst>
          </p:cNvPr>
          <p:cNvSpPr txBox="1"/>
          <p:nvPr/>
        </p:nvSpPr>
        <p:spPr>
          <a:xfrm>
            <a:off x="6613741" y="1628384"/>
            <a:ext cx="3794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Banco de dados para LLM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B2B450-3F22-18E1-5A26-CB686CAF38AD}"/>
              </a:ext>
            </a:extLst>
          </p:cNvPr>
          <p:cNvSpPr txBox="1"/>
          <p:nvPr/>
        </p:nvSpPr>
        <p:spPr>
          <a:xfrm>
            <a:off x="1333020" y="3976492"/>
            <a:ext cx="3448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Transformers para LLM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A6EB022-5C83-C6EC-A39D-F3AD755327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0032" y="2475225"/>
            <a:ext cx="1139727" cy="133759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5E3CE3F-4539-3B71-FDA6-8D20139A9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7792" y="4836943"/>
            <a:ext cx="1130803" cy="107928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2A56846-B371-6617-302A-F0A2666D61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7775130" y="4610005"/>
            <a:ext cx="1224629" cy="153316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21C9199-79B6-FC1A-3A09-2184E307D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61617" y="2466218"/>
            <a:ext cx="1191698" cy="1111488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B232A69-A328-8072-9E50-3E8933B90C4E}"/>
              </a:ext>
            </a:extLst>
          </p:cNvPr>
          <p:cNvSpPr/>
          <p:nvPr/>
        </p:nvSpPr>
        <p:spPr>
          <a:xfrm>
            <a:off x="6366501" y="1353130"/>
            <a:ext cx="4618890" cy="101217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C2A7D7E-F918-7877-3AE4-F86158561419}"/>
              </a:ext>
            </a:extLst>
          </p:cNvPr>
          <p:cNvSpPr txBox="1"/>
          <p:nvPr/>
        </p:nvSpPr>
        <p:spPr>
          <a:xfrm>
            <a:off x="6619003" y="3976492"/>
            <a:ext cx="3518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App SB100 - Preliminar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B1F98C1-92BD-D26B-0A93-97949CA350B6}"/>
              </a:ext>
            </a:extLst>
          </p:cNvPr>
          <p:cNvSpPr txBox="1"/>
          <p:nvPr/>
        </p:nvSpPr>
        <p:spPr>
          <a:xfrm>
            <a:off x="7237562" y="1759376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98009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7963C-99B1-67B0-FA26-159C1C2D6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54238CC-8BD8-D0C5-364F-CE6DE0571655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47083B1-0651-FDCB-4E30-6D7AE7C7FD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828" y="56049"/>
            <a:ext cx="1139727" cy="133759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C75439F-173E-55C5-DF3E-838D9547E7B6}"/>
              </a:ext>
            </a:extLst>
          </p:cNvPr>
          <p:cNvSpPr txBox="1"/>
          <p:nvPr/>
        </p:nvSpPr>
        <p:spPr>
          <a:xfrm>
            <a:off x="8397371" y="647541"/>
            <a:ext cx="3794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Banco de dados para LLM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84E4DA3-1F93-863F-2D50-C920DDA787C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970377" y="827207"/>
            <a:ext cx="4362138" cy="625415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AF0BC7E-0497-CCCC-A3E7-5D57E69DE0F4}"/>
              </a:ext>
            </a:extLst>
          </p:cNvPr>
          <p:cNvSpPr txBox="1"/>
          <p:nvPr/>
        </p:nvSpPr>
        <p:spPr>
          <a:xfrm>
            <a:off x="7471745" y="2644170"/>
            <a:ext cx="43621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Aguardando submissão em conferencia para 1º semestre de 2026</a:t>
            </a:r>
          </a:p>
        </p:txBody>
      </p:sp>
    </p:spTree>
    <p:extLst>
      <p:ext uri="{BB962C8B-B14F-4D97-AF65-F5344CB8AC3E}">
        <p14:creationId xmlns:p14="http://schemas.microsoft.com/office/powerpoint/2010/main" val="339266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80E60-0512-6FDD-1FA8-23AEE4DC6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F71C02D-DBD9-2582-F246-C3C784085182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69DD911-FC47-B620-E42D-AC094A1F2492}"/>
              </a:ext>
            </a:extLst>
          </p:cNvPr>
          <p:cNvSpPr txBox="1"/>
          <p:nvPr/>
        </p:nvSpPr>
        <p:spPr>
          <a:xfrm>
            <a:off x="1327759" y="1628384"/>
            <a:ext cx="3650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Transformação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0B40E89-0F5B-A790-163E-94A348C4B197}"/>
              </a:ext>
            </a:extLst>
          </p:cNvPr>
          <p:cNvSpPr txBox="1"/>
          <p:nvPr/>
        </p:nvSpPr>
        <p:spPr>
          <a:xfrm>
            <a:off x="6613741" y="1628384"/>
            <a:ext cx="3794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Banco de dados para LLM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90EB78D-E5B6-6ACD-29D5-AA841579443A}"/>
              </a:ext>
            </a:extLst>
          </p:cNvPr>
          <p:cNvSpPr txBox="1"/>
          <p:nvPr/>
        </p:nvSpPr>
        <p:spPr>
          <a:xfrm>
            <a:off x="1333020" y="3976492"/>
            <a:ext cx="3448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Transformers para LLM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694A73-C3B8-EBCF-63FA-E65C36564A24}"/>
              </a:ext>
            </a:extLst>
          </p:cNvPr>
          <p:cNvSpPr txBox="1"/>
          <p:nvPr/>
        </p:nvSpPr>
        <p:spPr>
          <a:xfrm>
            <a:off x="6619003" y="3976492"/>
            <a:ext cx="3518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App SB100 - Preliminar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83CF328-5AD1-BF99-54C2-38D2DCF8A1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8876" b="89941" l="9375" r="90625">
                        <a14:foregroundMark x1="13542" y1="10947" x2="32292" y2="8876"/>
                        <a14:foregroundMark x1="32292" y1="8876" x2="56250" y2="9763"/>
                        <a14:foregroundMark x1="61458" y1="10947" x2="62153" y2="20710"/>
                        <a14:foregroundMark x1="9375" y1="29882" x2="9375" y2="36982"/>
                        <a14:foregroundMark x1="10069" y1="49112" x2="10069" y2="56213"/>
                        <a14:foregroundMark x1="9722" y1="11538" x2="9722" y2="17456"/>
                        <a14:foregroundMark x1="90625" y1="44083" x2="90625" y2="69231"/>
                        <a14:foregroundMark x1="31944" y1="13314" x2="31944" y2="17160"/>
                        <a14:foregroundMark x1="19792" y1="13905" x2="18056" y2="17160"/>
                        <a14:foregroundMark x1="18403" y1="33728" x2="18403" y2="38166"/>
                        <a14:foregroundMark x1="28472" y1="32840" x2="30208" y2="33728"/>
                        <a14:foregroundMark x1="27778" y1="52663" x2="29167" y2="55030"/>
                        <a14:foregroundMark x1="16667" y1="51479" x2="20139" y2="52959"/>
                        <a14:foregroundMark x1="53472" y1="24852" x2="55903" y2="24852"/>
                        <a14:foregroundMark x1="18056" y1="25740" x2="19444" y2="26331"/>
                        <a14:foregroundMark x1="18750" y1="23964" x2="21181" y2="24260"/>
                        <a14:foregroundMark x1="18403" y1="42308" x2="20833" y2="44083"/>
                        <a14:foregroundMark x1="44444" y1="32544" x2="60764" y2="289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0032" y="2475225"/>
            <a:ext cx="1139727" cy="133759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023BFFD-5F01-20ED-2EAC-F03AF99C8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7792" y="4836943"/>
            <a:ext cx="1130803" cy="107928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C0BCAC4-70ED-CA3B-D7D0-2B620C88A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0000" b="90000" l="10000" r="90000">
                        <a14:foregroundMark x1="31132" y1="31935" x2="31132" y2="35161"/>
                        <a14:foregroundMark x1="42453" y1="25806" x2="43711" y2="31935"/>
                        <a14:foregroundMark x1="36164" y1="76129" x2="36164" y2="87742"/>
                        <a14:foregroundMark x1="49686" y1="74839" x2="49686" y2="87742"/>
                        <a14:foregroundMark x1="48742" y1="89677" x2="51572" y2="90000"/>
                      </a14:backgroundRemoval>
                    </a14:imgEffect>
                  </a14:imgLayer>
                </a14:imgProps>
              </a:ext>
            </a:extLst>
          </a:blip>
          <a:srcRect l="9745" t="19451" r="27535"/>
          <a:stretch/>
        </p:blipFill>
        <p:spPr>
          <a:xfrm>
            <a:off x="7775130" y="4610005"/>
            <a:ext cx="1224629" cy="153316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3770DFA-6F91-7EB2-AA58-1FE35D61E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61617" y="2466218"/>
            <a:ext cx="1191698" cy="1111488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8531B60-EAEB-B044-FF14-308616477B93}"/>
              </a:ext>
            </a:extLst>
          </p:cNvPr>
          <p:cNvSpPr/>
          <p:nvPr/>
        </p:nvSpPr>
        <p:spPr>
          <a:xfrm>
            <a:off x="6096000" y="3691911"/>
            <a:ext cx="4618890" cy="101217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657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FAA00-ECC9-7B28-2CC7-48DB1F09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66A27-A424-2645-BBAA-75C67C9ED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1012439" cy="543791"/>
          </a:xfrm>
        </p:spPr>
        <p:txBody>
          <a:bodyPr>
            <a:normAutofit fontScale="90000"/>
          </a:bodyPr>
          <a:lstStyle/>
          <a:p>
            <a:r>
              <a:rPr lang="pt-BR" dirty="0"/>
              <a:t>Metas Anuais - FAPESP</a:t>
            </a:r>
            <a:br>
              <a:rPr lang="pt-BR" dirty="0"/>
            </a:br>
            <a:r>
              <a:rPr lang="pt-BR" sz="2000" dirty="0">
                <a:solidFill>
                  <a:srgbClr val="FF0000"/>
                </a:solidFill>
              </a:rPr>
              <a:t>Preparação para LLM e Sistema Computacional SB100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96732E8-E9E0-62BB-A25E-1E6139E44C89}"/>
              </a:ext>
            </a:extLst>
          </p:cNvPr>
          <p:cNvSpPr txBox="1"/>
          <p:nvPr/>
        </p:nvSpPr>
        <p:spPr>
          <a:xfrm>
            <a:off x="485774" y="1571869"/>
            <a:ext cx="11012439" cy="299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Desenvolvimento da infraestrutura de hardware e software para processamento dos algoritmos do LLM e sistema computacional 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Seleção das tecnologias para o sistema, em termos de banco de dados e ambiente de  processamento.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Implantação do sistema LLM SB100 versão baseline. 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Geração de uma versão experimental do SB100 para comparação com as versões manuais.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4F1967D-CEFB-C7AA-73A6-5D853EA8A289}"/>
              </a:ext>
            </a:extLst>
          </p:cNvPr>
          <p:cNvSpPr/>
          <p:nvPr/>
        </p:nvSpPr>
        <p:spPr>
          <a:xfrm>
            <a:off x="259080" y="1571869"/>
            <a:ext cx="11239133" cy="92749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6D46DB-4D1B-552C-A806-A4C269E4EC68}"/>
              </a:ext>
            </a:extLst>
          </p:cNvPr>
          <p:cNvSpPr txBox="1"/>
          <p:nvPr/>
        </p:nvSpPr>
        <p:spPr>
          <a:xfrm>
            <a:off x="3398206" y="5879068"/>
            <a:ext cx="454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Baskerville Old Face" panose="02020602080505020303" pitchFamily="18" charset="0"/>
              </a:rPr>
              <a:t>Relatório enviado à FAPESP no dia 30.06.2025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DDCA23-F5B9-1AF9-17CC-2579D77CD082}"/>
              </a:ext>
            </a:extLst>
          </p:cNvPr>
          <p:cNvSpPr txBox="1"/>
          <p:nvPr/>
        </p:nvSpPr>
        <p:spPr>
          <a:xfrm rot="2433219">
            <a:off x="10062472" y="661078"/>
            <a:ext cx="2226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latin typeface="Baskerville Old Face" panose="02020602080505020303" pitchFamily="18" charset="0"/>
              </a:rPr>
              <a:t>APROVADO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5BC839D-E798-938D-B950-142B68A83513}"/>
              </a:ext>
            </a:extLst>
          </p:cNvPr>
          <p:cNvSpPr/>
          <p:nvPr/>
        </p:nvSpPr>
        <p:spPr>
          <a:xfrm rot="2349133">
            <a:off x="10018221" y="678221"/>
            <a:ext cx="2270760" cy="50031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18BAA0C-8B3C-BB76-8F1D-434B68425057}"/>
              </a:ext>
            </a:extLst>
          </p:cNvPr>
          <p:cNvSpPr txBox="1"/>
          <p:nvPr/>
        </p:nvSpPr>
        <p:spPr>
          <a:xfrm>
            <a:off x="5673027" y="738022"/>
            <a:ext cx="3722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Prazo para conclusão: 30.06.2025 </a:t>
            </a:r>
          </a:p>
        </p:txBody>
      </p:sp>
    </p:spTree>
    <p:extLst>
      <p:ext uri="{BB962C8B-B14F-4D97-AF65-F5344CB8AC3E}">
        <p14:creationId xmlns:p14="http://schemas.microsoft.com/office/powerpoint/2010/main" val="244183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FF22D-FB0B-B24C-54EE-D4B2DAB8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725BA38-F8CA-BD71-AAEB-B46FDC3C195C}"/>
              </a:ext>
            </a:extLst>
          </p:cNvPr>
          <p:cNvSpPr txBox="1"/>
          <p:nvPr/>
        </p:nvSpPr>
        <p:spPr>
          <a:xfrm>
            <a:off x="226694" y="322189"/>
            <a:ext cx="11012439" cy="872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>
                <a:solidFill>
                  <a:srgbClr val="FF0000"/>
                </a:solidFill>
              </a:rPr>
              <a:t>Desenvolvimento da infraestrutura de hardware e software para processamento dos algoritmos do LLM e sistema computacional 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3011BB-ED9A-0F3E-9F30-2709521BF8E7}"/>
              </a:ext>
            </a:extLst>
          </p:cNvPr>
          <p:cNvSpPr txBox="1"/>
          <p:nvPr/>
        </p:nvSpPr>
        <p:spPr>
          <a:xfrm>
            <a:off x="628650" y="1665044"/>
            <a:ext cx="9917430" cy="4965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Diretório de acesso restrito no CIAG (Centro de inovação do Agronegócio) com 100 gigabytes para armazenamento dos artigos a serem encaminhados para análise.</a:t>
            </a: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kern="150" dirty="0">
                <a:latin typeface="Liberation Serif"/>
                <a:ea typeface="DengXian" panose="02010600030101010101" pitchFamily="2" charset="-122"/>
                <a:cs typeface="Mangal" panose="02040503050203030202" pitchFamily="18" charset="0"/>
                <a:sym typeface="Wingdings" panose="05000000000000000000" pitchFamily="2" charset="2"/>
              </a:rPr>
              <a:t> </a:t>
            </a:r>
            <a:r>
              <a:rPr lang="pt-BR" kern="150" dirty="0">
                <a:solidFill>
                  <a:srgbClr val="FF0000"/>
                </a:solidFill>
                <a:latin typeface="Liberation Serif"/>
                <a:ea typeface="DengXian" panose="02010600030101010101" pitchFamily="2" charset="-122"/>
                <a:cs typeface="Mangal" panose="02040503050203030202" pitchFamily="18" charset="0"/>
              </a:rPr>
              <a:t>https://drive.google.com/drive/folders/1EPJQ_mw5IEPrmPkCcjQ6K7-1ZuR1CGFB</a:t>
            </a:r>
            <a:endParaRPr lang="pt-BR" sz="1800" kern="150" dirty="0">
              <a:solidFill>
                <a:srgbClr val="FF0000"/>
              </a:solidFill>
              <a:effectLst/>
              <a:latin typeface="Liberation Serif"/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Banco de dados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Qdrant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 instalado no CIAG, com uma estrutura de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collection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 preparada para absorver a estrutura de dados a ser utilizada pelo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Transformer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.</a:t>
            </a: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kern="150" dirty="0">
                <a:latin typeface="Liberation Serif"/>
                <a:ea typeface="DengXian" panose="02010600030101010101" pitchFamily="2" charset="-122"/>
                <a:cs typeface="Mangal" panose="02040503050203030202" pitchFamily="18" charset="0"/>
              </a:rPr>
              <a:t> </a:t>
            </a:r>
            <a:r>
              <a:rPr lang="pt-BR" kern="150" dirty="0">
                <a:latin typeface="Liberation Serif"/>
                <a:ea typeface="DengXian" panose="02010600030101010101" pitchFamily="2" charset="-122"/>
                <a:cs typeface="Mangal" panose="02040503050203030202" pitchFamily="18" charset="0"/>
                <a:sym typeface="Wingdings" panose="05000000000000000000" pitchFamily="2" charset="2"/>
              </a:rPr>
              <a:t> </a:t>
            </a:r>
            <a:r>
              <a:rPr lang="pt-BR" kern="150" dirty="0">
                <a:solidFill>
                  <a:srgbClr val="FF0000"/>
                </a:solidFill>
                <a:latin typeface="Liberation Serif"/>
                <a:ea typeface="DengXian" panose="02010600030101010101" pitchFamily="2" charset="-122"/>
                <a:cs typeface="Mangal" panose="02040503050203030202" pitchFamily="18" charset="0"/>
              </a:rPr>
              <a:t>https://sb100-qdrant.ciag.org.br:6333</a:t>
            </a: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pt-BR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Estrutura de formulários para receber os comentários da </a:t>
            </a:r>
            <a:r>
              <a:rPr lang="pt-BR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cientometria</a:t>
            </a:r>
            <a:r>
              <a:rPr lang="pt-BR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enviados pelo grupo de conhecimento agronômico para curadoria, da curadoria para a análise final do IAC e subsequente envio dos dados para o diretório citado em (a).</a:t>
            </a: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ea typeface="DengXian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Vide próximo slide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6791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505CF-FB3F-4435-B718-7769B07A0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3BDD358-3431-A1B9-48F5-95692D402E01}"/>
              </a:ext>
            </a:extLst>
          </p:cNvPr>
          <p:cNvSpPr txBox="1"/>
          <p:nvPr/>
        </p:nvSpPr>
        <p:spPr>
          <a:xfrm>
            <a:off x="226694" y="322189"/>
            <a:ext cx="11012439" cy="872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>
                <a:solidFill>
                  <a:srgbClr val="FF0000"/>
                </a:solidFill>
              </a:rPr>
              <a:t>Desenvolvimento da infraestrutura de hardware e software para processamento dos algoritmos do LLM e sistema computacional  </a:t>
            </a:r>
          </a:p>
        </p:txBody>
      </p:sp>
      <p:pic>
        <p:nvPicPr>
          <p:cNvPr id="2" name="Imagem 1" descr="Diagrama&#10;&#10;O conteúdo gerado por IA pode estar incorreto.">
            <a:extLst>
              <a:ext uri="{FF2B5EF4-FFF2-40B4-BE49-F238E27FC236}">
                <a16:creationId xmlns:a16="http://schemas.microsoft.com/office/drawing/2014/main" id="{E0192A30-3BDB-8BF8-B7C1-9F03AB02E12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840" y="1545416"/>
            <a:ext cx="6690360" cy="3016398"/>
          </a:xfrm>
          <a:prstGeom prst="rect">
            <a:avLst/>
          </a:prstGeom>
          <a:noFill/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1740D2A-03ED-4152-7660-4476DCDFABB2}"/>
              </a:ext>
            </a:extLst>
          </p:cNvPr>
          <p:cNvSpPr txBox="1"/>
          <p:nvPr/>
        </p:nvSpPr>
        <p:spPr>
          <a:xfrm>
            <a:off x="426720" y="3429000"/>
            <a:ext cx="6103620" cy="2427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t-BR" sz="1800" kern="150" dirty="0">
                <a:effectLst/>
                <a:latin typeface="Liberation Serif"/>
                <a:ea typeface="DengXian" panose="02010600030101010101" pitchFamily="2" charset="-122"/>
                <a:cs typeface="Mangal" panose="02040503050203030202" pitchFamily="18" charset="0"/>
              </a:rPr>
              <a:t>Formulário </a:t>
            </a:r>
            <a:r>
              <a:rPr lang="pt-BR" sz="1800" kern="150" dirty="0" err="1">
                <a:effectLst/>
                <a:latin typeface="Liberation Serif"/>
                <a:ea typeface="DengXian" panose="02010600030101010101" pitchFamily="2" charset="-122"/>
                <a:cs typeface="Mangal" panose="02040503050203030202" pitchFamily="18" charset="0"/>
              </a:rPr>
              <a:t>cientometria</a:t>
            </a:r>
            <a:r>
              <a:rPr lang="pt-BR" sz="1800" kern="150" dirty="0">
                <a:effectLst/>
                <a:latin typeface="Liberation Serif"/>
                <a:ea typeface="DengXian" panose="02010600030101010101" pitchFamily="2" charset="-122"/>
                <a:cs typeface="Mangal" panose="02040503050203030202" pitchFamily="18" charset="0"/>
              </a:rPr>
              <a:t>: </a:t>
            </a:r>
            <a:r>
              <a:rPr lang="pt-BR" sz="1800" u="sng" kern="150" dirty="0">
                <a:solidFill>
                  <a:srgbClr val="467886"/>
                </a:solidFill>
                <a:effectLst/>
                <a:latin typeface="Liberation Serif"/>
                <a:ea typeface="DengXian" panose="02010600030101010101" pitchFamily="2" charset="-122"/>
                <a:cs typeface="Mangal" panose="02040503050203030202" pitchFamily="18" charset="0"/>
                <a:hlinkClick r:id="rId2"/>
              </a:rPr>
              <a:t>https://forms.gle/JKUA6J1rAdbjy5ic7</a:t>
            </a:r>
            <a:r>
              <a:rPr lang="pt-BR" sz="1800" kern="150" dirty="0">
                <a:effectLst/>
                <a:latin typeface="Liberation Serif"/>
                <a:ea typeface="DengXian" panose="02010600030101010101" pitchFamily="2" charset="-122"/>
                <a:cs typeface="Mangal" panose="02040503050203030202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CA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Formulario</a:t>
            </a:r>
            <a:r>
              <a:rPr lang="en-CA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 </a:t>
            </a:r>
            <a:r>
              <a:rPr lang="en-CA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curadoria</a:t>
            </a:r>
            <a:r>
              <a:rPr lang="en-CA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:  </a:t>
            </a:r>
            <a:r>
              <a:rPr lang="en-CA" sz="1800" u="sng" kern="15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  <a:hlinkClick r:id="rId3"/>
              </a:rPr>
              <a:t>https://forms.gle/7So9uNG3Tv27ozZbA</a:t>
            </a:r>
            <a:r>
              <a:rPr lang="en-CA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. </a:t>
            </a:r>
            <a:endParaRPr lang="pt-BR" sz="1800" kern="150" dirty="0">
              <a:effectLst/>
              <a:latin typeface="Liberation Serif"/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Formulário IAC: </a:t>
            </a:r>
            <a:r>
              <a:rPr lang="pt-BR" sz="1800" u="sng" kern="15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  <a:hlinkClick r:id="rId4"/>
              </a:rPr>
              <a:t>https://forms.gle/RAKTujvhg7PceGPo6</a:t>
            </a:r>
            <a:endParaRPr lang="pt-BR" sz="1800" kern="150" dirty="0">
              <a:effectLst/>
              <a:latin typeface="Liberation Serif"/>
              <a:ea typeface="DengXian" panose="02010600030101010101" pitchFamily="2" charset="-122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612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6D676-A3AA-9F3B-964B-C292755C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7D1EF-CDF5-2203-2776-9764B0FC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1012439" cy="543791"/>
          </a:xfrm>
        </p:spPr>
        <p:txBody>
          <a:bodyPr>
            <a:normAutofit fontScale="90000"/>
          </a:bodyPr>
          <a:lstStyle/>
          <a:p>
            <a:r>
              <a:rPr lang="pt-BR" dirty="0"/>
              <a:t>Metas Anuais - FAPESP</a:t>
            </a:r>
            <a:br>
              <a:rPr lang="pt-BR" dirty="0"/>
            </a:br>
            <a:r>
              <a:rPr lang="pt-BR" sz="2000" dirty="0">
                <a:solidFill>
                  <a:srgbClr val="FF0000"/>
                </a:solidFill>
              </a:rPr>
              <a:t>Preparação para LLM e Sistema Computacional SB100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53BBCB-62B4-BB04-A54F-50095D991F2C}"/>
              </a:ext>
            </a:extLst>
          </p:cNvPr>
          <p:cNvSpPr txBox="1"/>
          <p:nvPr/>
        </p:nvSpPr>
        <p:spPr>
          <a:xfrm>
            <a:off x="485774" y="1571869"/>
            <a:ext cx="11012439" cy="299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Desenvolvimento da infraestrutura de hardware e software para processamento dos algoritmos do LLM e sistema computacional 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Seleção das tecnologias para o sistema, em termos de banco de dados e ambiente de  processamento.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Implantação do sistema LLM SB100 versão baseline. 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Geração de uma versão experimental do SB100 para comparação com as versões manuais.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C861D3B-7782-EC1D-66DD-609A41403663}"/>
              </a:ext>
            </a:extLst>
          </p:cNvPr>
          <p:cNvSpPr/>
          <p:nvPr/>
        </p:nvSpPr>
        <p:spPr>
          <a:xfrm>
            <a:off x="259080" y="2501509"/>
            <a:ext cx="11239133" cy="92749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987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31DDB-6756-D986-6483-FDBC5272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DEDE22D-54FB-E9EA-7B79-A1D4E9A00661}"/>
              </a:ext>
            </a:extLst>
          </p:cNvPr>
          <p:cNvSpPr txBox="1"/>
          <p:nvPr/>
        </p:nvSpPr>
        <p:spPr>
          <a:xfrm>
            <a:off x="226694" y="322189"/>
            <a:ext cx="11012439" cy="872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 startAt="2"/>
            </a:pPr>
            <a:r>
              <a:rPr lang="pt-BR" dirty="0">
                <a:solidFill>
                  <a:srgbClr val="FF0000"/>
                </a:solidFill>
              </a:rPr>
              <a:t>Seleção das tecnologias para o sistema, em termos de banco de dados e ambiente de  processamento – parte 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CEAD796-B9FB-72E5-A8C0-3C7109F9D3A6}"/>
              </a:ext>
            </a:extLst>
          </p:cNvPr>
          <p:cNvSpPr txBox="1"/>
          <p:nvPr/>
        </p:nvSpPr>
        <p:spPr>
          <a:xfrm>
            <a:off x="516254" y="1284598"/>
            <a:ext cx="9917430" cy="3873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documentos científicos em formato PDF, validados pela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cientometria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 e curadoria usando google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forms</a:t>
            </a:r>
            <a:endParaRPr lang="pt-BR" sz="1800" kern="15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Mangal" panose="02040503050203030202" pitchFamily="18" charset="0"/>
            </a:endParaRP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Ferramentas de extração de texto: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Tesseract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 OCR,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PyMuPDF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,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PDFPlumber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Ferramentas de extração de tabelas: Tabula,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Camelot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Ferramentas para manipulação de imagens: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OpenCV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,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TensorFlow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,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PyTorch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Ambientes computacionais: Google Colab, Google Cloud Platform.</a:t>
            </a: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Biblioteca de vetorização semântica: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Sentence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-BERT (SBERT).</a:t>
            </a: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0359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D5E9E-D30F-87E6-233F-C92C9DD0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95108BA-9D7A-0948-ED8E-A5DA04FBD830}"/>
              </a:ext>
            </a:extLst>
          </p:cNvPr>
          <p:cNvSpPr txBox="1"/>
          <p:nvPr/>
        </p:nvSpPr>
        <p:spPr>
          <a:xfrm>
            <a:off x="226694" y="322189"/>
            <a:ext cx="11012439" cy="872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 startAt="2"/>
            </a:pPr>
            <a:r>
              <a:rPr lang="pt-BR" dirty="0">
                <a:solidFill>
                  <a:srgbClr val="FF0000"/>
                </a:solidFill>
              </a:rPr>
              <a:t>Seleção das tecnologias para o sistema, em termos de banco de dados e ambiente de  processamento – parte 02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FE57D63-4474-3ABC-E63B-E864AADCB19F}"/>
              </a:ext>
            </a:extLst>
          </p:cNvPr>
          <p:cNvSpPr txBox="1"/>
          <p:nvPr/>
        </p:nvSpPr>
        <p:spPr>
          <a:xfrm>
            <a:off x="516254" y="1284598"/>
            <a:ext cx="9917430" cy="4550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Processo de escolha do banco de dados</a:t>
            </a: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Identificação BDNR mais adequados para aplicações com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LLMs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, especialmente no agronegócio.</a:t>
            </a: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kern="150" dirty="0"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Bancos analisados: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Milvus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,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Pinecone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,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Pgvector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,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Qdrant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 e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Weaviate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,</a:t>
            </a: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Parâmetros analisados: </a:t>
            </a:r>
            <a:r>
              <a:rPr lang="en-US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QPS, Recall, Load duration e Serial latency 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nas demandas específicas do setor. Cada tabela nas Figura 03 e 04 corresponde a um ciclo de experimentos, onde os parâmetros de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dataset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, dimensões e filtros foram alterados para verificar a alternância da resposta em função desta variação. </a:t>
            </a: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Mangal" panose="02040503050203030202" pitchFamily="18" charset="0"/>
              </a:rPr>
              <a:t>Segue abaixo um resumo de quais bancos de dados que tiveram melhor desempenho em cada critério:</a:t>
            </a: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6851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4D7D-0BAB-70FE-4879-32577D353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01971CC-3314-CE36-E029-3B3D493E1008}"/>
              </a:ext>
            </a:extLst>
          </p:cNvPr>
          <p:cNvSpPr txBox="1"/>
          <p:nvPr/>
        </p:nvSpPr>
        <p:spPr>
          <a:xfrm>
            <a:off x="226694" y="322189"/>
            <a:ext cx="11012439" cy="872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 startAt="2"/>
            </a:pPr>
            <a:r>
              <a:rPr lang="pt-BR" dirty="0">
                <a:solidFill>
                  <a:srgbClr val="FF0000"/>
                </a:solidFill>
              </a:rPr>
              <a:t>Seleção das tecnologias para o sistema, em termos de banco de dados e ambiente de  processamento – parte 03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2CA5C87-D9FB-9179-C020-3EAC94F58F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727" y="5310897"/>
            <a:ext cx="7328545" cy="1224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BFE1255-383F-7F4F-3EBF-33C43EBDCA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70" y="1377314"/>
            <a:ext cx="9942389" cy="36823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70219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3718B-7A14-8F0F-DF54-3C16F9D30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1AAA360-7DD9-295F-AAC5-A9551B9292D5}"/>
              </a:ext>
            </a:extLst>
          </p:cNvPr>
          <p:cNvSpPr txBox="1"/>
          <p:nvPr/>
        </p:nvSpPr>
        <p:spPr>
          <a:xfrm>
            <a:off x="226694" y="322189"/>
            <a:ext cx="11012439" cy="872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 startAt="2"/>
            </a:pPr>
            <a:r>
              <a:rPr lang="pt-BR" dirty="0">
                <a:solidFill>
                  <a:srgbClr val="FF0000"/>
                </a:solidFill>
              </a:rPr>
              <a:t>Seleção das tecnologias para o sistema, em termos de banco de dados e ambiente de  processamento – parte 04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6BB7B7A-6387-0E23-E395-F3E65AFA98A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24659" y="1393504"/>
            <a:ext cx="8644385" cy="182213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48DB0F2-588D-CD9A-33DA-9370841E90C4}"/>
              </a:ext>
            </a:extLst>
          </p:cNvPr>
          <p:cNvSpPr txBox="1"/>
          <p:nvPr/>
        </p:nvSpPr>
        <p:spPr>
          <a:xfrm>
            <a:off x="643890" y="3642361"/>
            <a:ext cx="1113663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Noto Sans" panose="020B0502040504090204" pitchFamily="34" charset="0"/>
              </a:rPr>
              <a:t>O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Noto Sans" panose="020B0502040504090204" pitchFamily="34" charset="0"/>
              </a:rPr>
              <a:t>Qdrant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Noto Sans" panose="020B0502040504090204" pitchFamily="34" charset="0"/>
              </a:rPr>
              <a:t> tem o melhor QPS, mas o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Noto Sans" panose="020B0502040504090204" pitchFamily="34" charset="0"/>
              </a:rPr>
              <a:t>Milvus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Noto Sans" panose="020B0502040504090204" pitchFamily="34" charset="0"/>
              </a:rPr>
              <a:t> apresenta um melhor dado de recall. Como próximos trabalhos análises com outras ferramentas de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Noto Sans" panose="020B0502040504090204" pitchFamily="34" charset="0"/>
              </a:rPr>
              <a:t>bechmark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Noto Sans" panose="020B0502040504090204" pitchFamily="34" charset="0"/>
              </a:rPr>
              <a:t> podem ser conduzidas com objetivo de validar os resultados identificados por meio do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Noto Sans" panose="020B0502040504090204" pitchFamily="34" charset="0"/>
              </a:rPr>
              <a:t>VectorDBBench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Noto Sans" panose="020B0502040504090204" pitchFamily="34" charset="0"/>
              </a:rPr>
              <a:t>.</a:t>
            </a:r>
            <a:endParaRPr lang="pt-BR" sz="1800" kern="150" dirty="0">
              <a:effectLst/>
              <a:latin typeface="Liberation Serif"/>
              <a:ea typeface="DengXian" panose="02010600030101010101" pitchFamily="2" charset="-122"/>
              <a:cs typeface="Noto Sans" panose="020B0502040504090204" pitchFamily="34" charset="0"/>
            </a:endParaRPr>
          </a:p>
        </p:txBody>
      </p:sp>
      <p:pic>
        <p:nvPicPr>
          <p:cNvPr id="1026" name="Imagem 7">
            <a:extLst>
              <a:ext uri="{FF2B5EF4-FFF2-40B4-BE49-F238E27FC236}">
                <a16:creationId xmlns:a16="http://schemas.microsoft.com/office/drawing/2014/main" id="{C8557E36-6D50-5B8A-7E2C-977C22CCED3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311400" cy="92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Imagem 6">
            <a:extLst>
              <a:ext uri="{FF2B5EF4-FFF2-40B4-BE49-F238E27FC236}">
                <a16:creationId xmlns:a16="http://schemas.microsoft.com/office/drawing/2014/main" id="{B8FE9172-E04B-8DD0-A870-FA0FC0E9D18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311400" cy="92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2276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6A593-3F95-F395-8353-7551455CE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CF689-6FA3-A7D6-CD63-B3980CB2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1012439" cy="543791"/>
          </a:xfrm>
        </p:spPr>
        <p:txBody>
          <a:bodyPr>
            <a:normAutofit fontScale="90000"/>
          </a:bodyPr>
          <a:lstStyle/>
          <a:p>
            <a:r>
              <a:rPr lang="pt-BR" dirty="0"/>
              <a:t>Metas Anuais - FAPESP</a:t>
            </a:r>
            <a:br>
              <a:rPr lang="pt-BR" dirty="0"/>
            </a:br>
            <a:r>
              <a:rPr lang="pt-BR" sz="2000" dirty="0">
                <a:solidFill>
                  <a:srgbClr val="FF0000"/>
                </a:solidFill>
              </a:rPr>
              <a:t>Preparação para LLM e Sistema Computacional SB100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7CB7B06-1BEA-A437-7EC3-783E8CA69589}"/>
              </a:ext>
            </a:extLst>
          </p:cNvPr>
          <p:cNvSpPr txBox="1"/>
          <p:nvPr/>
        </p:nvSpPr>
        <p:spPr>
          <a:xfrm>
            <a:off x="485774" y="1571869"/>
            <a:ext cx="11012439" cy="299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Desenvolvimento da infraestrutura de hardware e software para processamento dos algoritmos do LLM e sistema computacional 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Seleção das tecnologias para o sistema, em termos de banco de dados e ambiente de  processamento.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Implantação do sistema LLM SB100 versão baseline. 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Geração de uma versão experimental do SB100 para comparação com as versões manuais.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AE06E0A-ACAE-4734-ABE0-24F7F4DFB45E}"/>
              </a:ext>
            </a:extLst>
          </p:cNvPr>
          <p:cNvSpPr/>
          <p:nvPr/>
        </p:nvSpPr>
        <p:spPr>
          <a:xfrm>
            <a:off x="106680" y="3444241"/>
            <a:ext cx="11239133" cy="6858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59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8FE6C-B17F-B68C-3154-D48816829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55C2ECB-DEE0-2FD8-B45C-36BED92F0635}"/>
              </a:ext>
            </a:extLst>
          </p:cNvPr>
          <p:cNvSpPr txBox="1"/>
          <p:nvPr/>
        </p:nvSpPr>
        <p:spPr>
          <a:xfrm>
            <a:off x="226694" y="322189"/>
            <a:ext cx="11012439" cy="45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 startAt="3"/>
            </a:pPr>
            <a:r>
              <a:rPr lang="pt-BR" dirty="0">
                <a:solidFill>
                  <a:srgbClr val="FF0000"/>
                </a:solidFill>
              </a:rPr>
              <a:t>Implantação do sistema LLM SB100 versão baseline.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3B4587-2F32-74C7-CE23-99640438C951}"/>
              </a:ext>
            </a:extLst>
          </p:cNvPr>
          <p:cNvSpPr txBox="1"/>
          <p:nvPr/>
        </p:nvSpPr>
        <p:spPr>
          <a:xfrm>
            <a:off x="552450" y="1218075"/>
            <a:ext cx="101612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Foram feitas duas implementações para o LLM SB100 baseline. A primeira utilizando como base o </a:t>
            </a:r>
            <a:r>
              <a:rPr lang="pt-BR" sz="20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Transformer</a:t>
            </a:r>
            <a:r>
              <a:rPr lang="pt-BR" sz="20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LLAMA, código livre e outra baseada no Gemini</a:t>
            </a:r>
            <a:endParaRPr lang="pt-BR" sz="2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636B3A-721C-8D76-C40B-C352116D3BFE}"/>
              </a:ext>
            </a:extLst>
          </p:cNvPr>
          <p:cNvSpPr txBox="1"/>
          <p:nvPr/>
        </p:nvSpPr>
        <p:spPr>
          <a:xfrm>
            <a:off x="226694" y="2119344"/>
            <a:ext cx="6103620" cy="15817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# b100-agent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Este projeto </a:t>
            </a:r>
            <a:r>
              <a:rPr lang="zh-CN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é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um agente de Resposta a Perguntas (RAG) utilizando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embeddings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,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Qdrant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como vetor DB, e modelos LLM via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Langchain+Groq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.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## Como funciona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**Recebe uma pergunta do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usu</a:t>
            </a:r>
            <a:r>
              <a:rPr lang="zh-CN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á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rio**.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**Busca documentos relevantes** no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Qdrant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usando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embeddings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.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**Envia o contexto recuperado e a pergunta** para um modelo LLM (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Groq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) para gerar uma resposta detalhada e conversacional.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**Retorna a resposta** ao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usu</a:t>
            </a:r>
            <a:r>
              <a:rPr lang="zh-CN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á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rio.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 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## Principais componentes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- **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Qdrant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**: Banco de dados vetorial para busca semântica.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- **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Sentence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Transformers**: Geração de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embeddings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para busca vetorial.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- **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Langchain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+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Groq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**: Orquestração do fluxo e chamada ao modelo LLM. (onde está envolvido o LLAMA)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- **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LangGraph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**: Gerenciamento do fluxo de estados (RAG </a:t>
            </a:r>
            <a:r>
              <a:rPr lang="zh-CN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LLM).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 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## Como rodar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**Crie um ambiente virtual (opcional, mas recomendado):**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en-CA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```bash python3 -m </a:t>
            </a:r>
            <a:r>
              <a:rPr lang="en-CA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venv</a:t>
            </a:r>
            <a:r>
              <a:rPr lang="en-CA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.</a:t>
            </a:r>
            <a:r>
              <a:rPr lang="en-CA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venv</a:t>
            </a:r>
            <a:r>
              <a:rPr lang="en-CA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source .</a:t>
            </a:r>
            <a:r>
              <a:rPr lang="en-CA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venv</a:t>
            </a:r>
            <a:r>
              <a:rPr lang="en-CA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/bin/activate ```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**Instale as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depend</a:t>
            </a:r>
            <a:r>
              <a:rPr lang="zh-CN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ê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ncias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:**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```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bash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 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pip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install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-r requirements.txt```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**Configure as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vari</a:t>
            </a:r>
            <a:r>
              <a:rPr lang="zh-CN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á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veis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de ambiente** (se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necess</a:t>
            </a:r>
            <a:r>
              <a:rPr lang="zh-CN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á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rio, para chaves de API do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Qdrant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e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Groq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).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**Execute o agente:**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```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bash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  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python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main.py```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 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## Personalização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140"/>
              </a:spcBef>
              <a:spcAft>
                <a:spcPts val="140"/>
              </a:spcAft>
              <a:buNone/>
            </a:pP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- Edite a função `</a:t>
            </a:r>
            <a:r>
              <a:rPr lang="pt-BR" sz="18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main</a:t>
            </a:r>
            <a:r>
              <a:rPr lang="pt-BR" sz="18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()` em `main.py` para alterar as perguntas ou integrar com uma interface.</a:t>
            </a:r>
            <a:endParaRPr lang="pt-BR" sz="14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>
              <a:buNone/>
            </a:pPr>
            <a:r>
              <a:rPr lang="pt-BR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- Certifique-se de que as chaves de API e URLs do </a:t>
            </a:r>
            <a:r>
              <a:rPr lang="pt-BR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Qdrant</a:t>
            </a:r>
            <a:r>
              <a:rPr lang="pt-BR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e </a:t>
            </a:r>
            <a:r>
              <a:rPr lang="pt-BR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Groq</a:t>
            </a:r>
            <a:r>
              <a:rPr lang="pt-BR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estejam corretas.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53933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B20A-BBCF-F16F-7495-4E6F3322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814D216-1D85-B21D-06DA-67521292E0BB}"/>
              </a:ext>
            </a:extLst>
          </p:cNvPr>
          <p:cNvSpPr txBox="1"/>
          <p:nvPr/>
        </p:nvSpPr>
        <p:spPr>
          <a:xfrm>
            <a:off x="226694" y="322189"/>
            <a:ext cx="11012439" cy="45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 startAt="3"/>
            </a:pPr>
            <a:r>
              <a:rPr lang="pt-BR" dirty="0">
                <a:solidFill>
                  <a:srgbClr val="FF0000"/>
                </a:solidFill>
              </a:rPr>
              <a:t>Implantação do sistema LLM SB100 versão baseline.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153031-5E41-7515-FBF1-2E8374BA239B}"/>
              </a:ext>
            </a:extLst>
          </p:cNvPr>
          <p:cNvSpPr txBox="1"/>
          <p:nvPr/>
        </p:nvSpPr>
        <p:spPr>
          <a:xfrm>
            <a:off x="6447256" y="156634"/>
            <a:ext cx="5080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Implementação 01 – </a:t>
            </a:r>
            <a:r>
              <a:rPr lang="pt-BR" sz="20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Llama</a:t>
            </a:r>
            <a:endParaRPr lang="pt-BR" sz="2000" dirty="0">
              <a:effectLst/>
              <a:latin typeface="Times New Roman" panose="02020603050405020304" pitchFamily="18" charset="0"/>
              <a:ea typeface="DengXian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Times New Roman" panose="02020603050405020304" pitchFamily="18" charset="0"/>
                <a:ea typeface="DengXian" panose="02010600030101010101" pitchFamily="2" charset="-122"/>
              </a:rPr>
              <a:t>Implementação 02 – Gemini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F1085BB-E983-F4B2-7BDD-384ABBBBBB62}"/>
              </a:ext>
            </a:extLst>
          </p:cNvPr>
          <p:cNvSpPr txBox="1"/>
          <p:nvPr/>
        </p:nvSpPr>
        <p:spPr>
          <a:xfrm>
            <a:off x="130442" y="928476"/>
            <a:ext cx="6103620" cy="5843203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# b100-agent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Este projeto </a:t>
            </a:r>
            <a:r>
              <a:rPr lang="zh-CN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é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um agente de Resposta a Perguntas (RAG) utilizando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embeddings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,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Qdrant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como vetor DB, e modelos LLM via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Langchain+Groq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.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## Como funciona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**Recebe uma pergunta do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usu</a:t>
            </a:r>
            <a:r>
              <a:rPr lang="zh-CN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á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rio**.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**Busca documentos relevantes** no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Qdrant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usando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embeddings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.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**Envia o contexto recuperado e a pergunta** para um modelo LLM (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Groq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) para gerar uma resposta detalhada e conversacional.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**Retorna a resposta** ao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usu</a:t>
            </a:r>
            <a:r>
              <a:rPr lang="zh-CN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á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rio.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 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## Principais componentes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- **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Qdrant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**: Banco de dados vetorial para busca semântica.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- **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Sentence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Transformers**: Geração de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embeddings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para busca vetorial.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- **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Langchain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+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Groq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**: Orquestração do fluxo e chamada ao modelo LLM. (onde está envolvido o LLAMA)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- **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LangGraph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**: Gerenciamento do fluxo de estados (RAG </a:t>
            </a:r>
            <a:r>
              <a:rPr lang="zh-CN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LLM).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A76ED92-FF3B-E805-A5EB-251CF3C1703E}"/>
              </a:ext>
            </a:extLst>
          </p:cNvPr>
          <p:cNvSpPr txBox="1"/>
          <p:nvPr/>
        </p:nvSpPr>
        <p:spPr>
          <a:xfrm>
            <a:off x="6318920" y="949865"/>
            <a:ext cx="5742638" cy="583986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## Como rodar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**Crie um ambiente virtual (opcional, mas recomendado):**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CA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```bash python3 -m </a:t>
            </a:r>
            <a:r>
              <a:rPr lang="en-CA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venv</a:t>
            </a:r>
            <a:r>
              <a:rPr lang="en-CA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.</a:t>
            </a:r>
            <a:r>
              <a:rPr lang="en-CA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venv</a:t>
            </a:r>
            <a:r>
              <a:rPr lang="en-CA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source .</a:t>
            </a:r>
            <a:r>
              <a:rPr lang="en-CA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venv</a:t>
            </a:r>
            <a:r>
              <a:rPr lang="en-CA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/bin/activate ```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**Instale as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depend</a:t>
            </a:r>
            <a:r>
              <a:rPr lang="zh-CN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ê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ncias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:**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```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bash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 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pip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install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-r requirements.txt```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**Configure as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vari</a:t>
            </a:r>
            <a:r>
              <a:rPr lang="zh-CN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á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veis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de ambiente** (se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necess</a:t>
            </a:r>
            <a:r>
              <a:rPr lang="zh-CN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á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rio, para chaves de API do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Qdrant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e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Groq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).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**Execute o agente:**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```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bash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  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python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main.py```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 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## Personalização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- Edite a função `</a:t>
            </a:r>
            <a:r>
              <a:rPr lang="pt-BR" sz="1400" kern="15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main</a:t>
            </a:r>
            <a:r>
              <a:rPr lang="pt-BR" sz="1400" kern="15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()` em `main.py` para alterar as perguntas ou integrar com uma interface.</a:t>
            </a:r>
            <a:endParaRPr lang="pt-BR" sz="1100" kern="15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Tx/>
              <a:buChar char="-"/>
            </a:pPr>
            <a:r>
              <a:rPr lang="pt-BR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Certifique-se de que as chaves de API e URLs do </a:t>
            </a:r>
            <a:r>
              <a:rPr lang="pt-BR" sz="1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Qdrant</a:t>
            </a:r>
            <a:r>
              <a:rPr lang="pt-BR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e </a:t>
            </a:r>
            <a:r>
              <a:rPr lang="pt-BR" sz="1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Groq</a:t>
            </a:r>
            <a:r>
              <a:rPr lang="pt-BR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estejam corretas.</a:t>
            </a:r>
            <a:endParaRPr lang="pt-BR" sz="14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Tx/>
              <a:buChar char="-"/>
            </a:pPr>
            <a:endParaRPr lang="pt-BR" sz="14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02674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D4F17-2120-6A4D-DE1A-6D56CE59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02095-1DEB-F7C4-D305-88E283D5B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1012439" cy="543791"/>
          </a:xfrm>
        </p:spPr>
        <p:txBody>
          <a:bodyPr>
            <a:normAutofit fontScale="90000"/>
          </a:bodyPr>
          <a:lstStyle/>
          <a:p>
            <a:r>
              <a:rPr lang="pt-BR" dirty="0"/>
              <a:t>Metas Anuais - FAPESP</a:t>
            </a:r>
            <a:br>
              <a:rPr lang="pt-BR" dirty="0"/>
            </a:br>
            <a:r>
              <a:rPr lang="pt-BR" sz="2000" dirty="0">
                <a:solidFill>
                  <a:srgbClr val="FF0000"/>
                </a:solidFill>
              </a:rPr>
              <a:t>Preparação para LLM e Sistema Computacional SB100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0D6F2BA-0AEB-6223-2784-CDDEA7335E3B}"/>
              </a:ext>
            </a:extLst>
          </p:cNvPr>
          <p:cNvSpPr txBox="1"/>
          <p:nvPr/>
        </p:nvSpPr>
        <p:spPr>
          <a:xfrm>
            <a:off x="485774" y="1571869"/>
            <a:ext cx="11012439" cy="299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Desenvolvimento da infraestrutura de hardware e software para processamento dos algoritmos do LLM e sistema computacional 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Seleção das tecnologias para o sistema, em termos de banco de dados e ambiente de  processamento.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Implantação do sistema LLM SB100 versão baseline. 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Geração de uma versão experimental do SB100 para comparação com as versões manuais.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D08BF0C-C94B-5A4E-0ADB-73702D385AFA}"/>
              </a:ext>
            </a:extLst>
          </p:cNvPr>
          <p:cNvSpPr/>
          <p:nvPr/>
        </p:nvSpPr>
        <p:spPr>
          <a:xfrm>
            <a:off x="259080" y="4069883"/>
            <a:ext cx="11239133" cy="6858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536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AAA61-BC6B-6EAE-2B62-6906C349D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2B53DA9-F2C8-FB27-859C-083C9D75FC39}"/>
              </a:ext>
            </a:extLst>
          </p:cNvPr>
          <p:cNvSpPr txBox="1"/>
          <p:nvPr/>
        </p:nvSpPr>
        <p:spPr>
          <a:xfrm>
            <a:off x="226694" y="322189"/>
            <a:ext cx="11834864" cy="45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 startAt="3"/>
            </a:pPr>
            <a:r>
              <a:rPr lang="pt-BR" dirty="0">
                <a:solidFill>
                  <a:srgbClr val="FF0000"/>
                </a:solidFill>
              </a:rPr>
              <a:t>Geração de uma versão experimental do SB100 para comparação com as versões manuais.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80AD60B-6984-E673-9840-53A98DA004C7}"/>
              </a:ext>
            </a:extLst>
          </p:cNvPr>
          <p:cNvSpPr txBox="1"/>
          <p:nvPr/>
        </p:nvSpPr>
        <p:spPr>
          <a:xfrm>
            <a:off x="613410" y="1031622"/>
            <a:ext cx="4050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https://agrobotfatec.streamlit.app/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B3E2557-BBC4-D30B-BCC8-0E95EB9AE47A}"/>
              </a:ext>
            </a:extLst>
          </p:cNvPr>
          <p:cNvPicPr>
            <a:picLocks noChangeAspect="1"/>
          </p:cNvPicPr>
          <p:nvPr/>
        </p:nvPicPr>
        <p:blipFill>
          <a:blip/>
          <a:srcRect l="13906" t="32658" r="13748" b="9680"/>
          <a:stretch>
            <a:fillRect/>
          </a:stretch>
        </p:blipFill>
        <p:spPr>
          <a:xfrm>
            <a:off x="643890" y="2025681"/>
            <a:ext cx="3653790" cy="10587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85B94ECD-DAC0-7A2D-1923-71D2D73A38E5}"/>
              </a:ext>
            </a:extLst>
          </p:cNvPr>
          <p:cNvSpPr/>
          <p:nvPr/>
        </p:nvSpPr>
        <p:spPr>
          <a:xfrm>
            <a:off x="2303145" y="1441147"/>
            <a:ext cx="335280" cy="4495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45C814A-9DCD-6A3A-4113-42D2F1A79FD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94911" y="1867647"/>
            <a:ext cx="3036569" cy="1240494"/>
          </a:xfrm>
          <a:prstGeom prst="rect">
            <a:avLst/>
          </a:prstGeom>
          <a:ln>
            <a:noFill/>
          </a:ln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B53AF6F-9BA0-2059-3774-1A760FC3003B}"/>
              </a:ext>
            </a:extLst>
          </p:cNvPr>
          <p:cNvSpPr/>
          <p:nvPr/>
        </p:nvSpPr>
        <p:spPr>
          <a:xfrm>
            <a:off x="3423285" y="2532640"/>
            <a:ext cx="874395" cy="4267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F2269E20-70D5-2A9D-4FF1-344117C57A33}"/>
              </a:ext>
            </a:extLst>
          </p:cNvPr>
          <p:cNvSpPr/>
          <p:nvPr/>
        </p:nvSpPr>
        <p:spPr>
          <a:xfrm rot="16200000">
            <a:off x="4495800" y="2353570"/>
            <a:ext cx="335280" cy="4495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2B01612E-3556-BE4C-2062-C5BC2A40F01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94910" y="3108141"/>
            <a:ext cx="3174248" cy="320859"/>
          </a:xfrm>
          <a:prstGeom prst="rect">
            <a:avLst/>
          </a:prstGeom>
          <a:ln>
            <a:noFill/>
          </a:ln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C13364BD-6DA4-0030-E49D-68952D726726}"/>
              </a:ext>
            </a:extLst>
          </p:cNvPr>
          <p:cNvSpPr/>
          <p:nvPr/>
        </p:nvSpPr>
        <p:spPr>
          <a:xfrm>
            <a:off x="4994910" y="1615501"/>
            <a:ext cx="3174248" cy="18619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24E5FBBF-A44D-8A32-1FED-20D21300B6E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15369" y="3767247"/>
            <a:ext cx="3653790" cy="1492640"/>
          </a:xfrm>
          <a:prstGeom prst="rect">
            <a:avLst/>
          </a:prstGeom>
          <a:ln>
            <a:noFill/>
          </a:ln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3DE32E73-AE76-D374-8E4A-E07FB3AED25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15368" y="5259887"/>
            <a:ext cx="3653790" cy="369332"/>
          </a:xfrm>
          <a:prstGeom prst="rect">
            <a:avLst/>
          </a:prstGeom>
          <a:ln>
            <a:noFill/>
          </a:ln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75971169-4585-E236-11E5-CFD28BEAE59E}"/>
              </a:ext>
            </a:extLst>
          </p:cNvPr>
          <p:cNvSpPr/>
          <p:nvPr/>
        </p:nvSpPr>
        <p:spPr>
          <a:xfrm>
            <a:off x="4515368" y="3767246"/>
            <a:ext cx="3653790" cy="2950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EDFE6D16-71F6-69AB-1E8D-071FC7C175E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908299" y="1900494"/>
            <a:ext cx="3036569" cy="1240494"/>
          </a:xfrm>
          <a:prstGeom prst="rect">
            <a:avLst/>
          </a:prstGeom>
          <a:ln>
            <a:noFill/>
          </a:ln>
        </p:spPr>
      </p:pic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A675351F-2B0D-1371-E115-882FC57F6238}"/>
              </a:ext>
            </a:extLst>
          </p:cNvPr>
          <p:cNvSpPr/>
          <p:nvPr/>
        </p:nvSpPr>
        <p:spPr>
          <a:xfrm rot="16200000">
            <a:off x="8317748" y="2294977"/>
            <a:ext cx="335280" cy="4495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829CB34D-4417-84BF-112E-AE918556FE3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908298" y="3140988"/>
            <a:ext cx="3174248" cy="320859"/>
          </a:xfrm>
          <a:prstGeom prst="rect">
            <a:avLst/>
          </a:prstGeom>
          <a:ln>
            <a:noFill/>
          </a:ln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C1913942-43CA-6625-038A-5C2D98E8D6BC}"/>
              </a:ext>
            </a:extLst>
          </p:cNvPr>
          <p:cNvSpPr/>
          <p:nvPr/>
        </p:nvSpPr>
        <p:spPr>
          <a:xfrm>
            <a:off x="8908298" y="1648348"/>
            <a:ext cx="3174248" cy="18619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0041435-AD2B-61FC-038C-969A287AE077}"/>
              </a:ext>
            </a:extLst>
          </p:cNvPr>
          <p:cNvSpPr txBox="1"/>
          <p:nvPr/>
        </p:nvSpPr>
        <p:spPr>
          <a:xfrm>
            <a:off x="10050598" y="4381482"/>
            <a:ext cx="20390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i="1" dirty="0">
                <a:solidFill>
                  <a:srgbClr val="FF0000"/>
                </a:solidFill>
              </a:rPr>
              <a:t>Pergunta: Como se deve calcular a quantidade de calcário para ter uma correção de solo para um terreno com PH acido?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AF2703F-3530-87F9-4CFF-E863063361F7}"/>
              </a:ext>
            </a:extLst>
          </p:cNvPr>
          <p:cNvSpPr/>
          <p:nvPr/>
        </p:nvSpPr>
        <p:spPr>
          <a:xfrm>
            <a:off x="10050598" y="4348635"/>
            <a:ext cx="2046670" cy="1469650"/>
          </a:xfrm>
          <a:prstGeom prst="roundRect">
            <a:avLst/>
          </a:prstGeom>
          <a:noFill/>
          <a:ln w="38100">
            <a:solidFill>
              <a:srgbClr val="5B9BD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003C57BA-77C5-D558-FB74-088091D5984B}"/>
              </a:ext>
            </a:extLst>
          </p:cNvPr>
          <p:cNvCxnSpPr>
            <a:cxnSpLocks/>
            <a:stCxn id="24" idx="2"/>
            <a:endCxn id="28" idx="0"/>
          </p:cNvCxnSpPr>
          <p:nvPr/>
        </p:nvCxnSpPr>
        <p:spPr>
          <a:xfrm>
            <a:off x="10495422" y="3510320"/>
            <a:ext cx="578511" cy="83831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21F7A54-E7A0-2991-E5A6-3806273E4959}"/>
              </a:ext>
            </a:extLst>
          </p:cNvPr>
          <p:cNvSpPr txBox="1"/>
          <p:nvPr/>
        </p:nvSpPr>
        <p:spPr>
          <a:xfrm>
            <a:off x="194828" y="3306537"/>
            <a:ext cx="4050030" cy="332700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pt-BR" sz="1200" i="1" dirty="0">
                <a:solidFill>
                  <a:srgbClr val="0070C0"/>
                </a:solidFill>
              </a:rPr>
              <a:t>a calagem deve ser calculada para elevar a saturação por bases (V) a </a:t>
            </a:r>
            <a:r>
              <a:rPr lang="pt-BR" sz="1200" b="1" i="1" dirty="0">
                <a:solidFill>
                  <a:srgbClr val="0070C0"/>
                </a:solidFill>
              </a:rPr>
              <a:t>70%</a:t>
            </a:r>
            <a:r>
              <a:rPr lang="pt-BR" sz="1200" i="1" dirty="0">
                <a:solidFill>
                  <a:srgbClr val="0070C0"/>
                </a:solidFill>
              </a:rPr>
              <a:t> na camada de 0–20/25 cm.</a:t>
            </a:r>
          </a:p>
          <a:p>
            <a:pPr>
              <a:lnSpc>
                <a:spcPct val="110000"/>
              </a:lnSpc>
            </a:pPr>
            <a:br>
              <a:rPr lang="pt-BR" sz="1200" i="1" dirty="0">
                <a:solidFill>
                  <a:srgbClr val="0070C0"/>
                </a:solidFill>
              </a:rPr>
            </a:br>
            <a:r>
              <a:rPr lang="pt-BR" sz="1200" i="1" dirty="0">
                <a:solidFill>
                  <a:srgbClr val="0070C0"/>
                </a:solidFill>
              </a:rPr>
              <a:t>É necessário usar a </a:t>
            </a:r>
            <a:r>
              <a:rPr lang="pt-BR" sz="1200" b="1" i="1" dirty="0">
                <a:solidFill>
                  <a:srgbClr val="0070C0"/>
                </a:solidFill>
              </a:rPr>
              <a:t>análise de solo</a:t>
            </a:r>
            <a:r>
              <a:rPr lang="pt-BR" sz="1200" i="1" dirty="0">
                <a:solidFill>
                  <a:srgbClr val="0070C0"/>
                </a:solidFill>
              </a:rPr>
              <a:t> (CTC, V atual, </a:t>
            </a:r>
            <a:r>
              <a:rPr lang="pt-BR" sz="1200" i="1" dirty="0" err="1">
                <a:solidFill>
                  <a:srgbClr val="0070C0"/>
                </a:solidFill>
              </a:rPr>
              <a:t>Ca+Mg</a:t>
            </a:r>
            <a:r>
              <a:rPr lang="pt-BR" sz="1200" i="1" dirty="0">
                <a:solidFill>
                  <a:srgbClr val="0070C0"/>
                </a:solidFill>
              </a:rPr>
              <a:t>, PRNT do corretivo).</a:t>
            </a:r>
            <a:br>
              <a:rPr lang="pt-BR" sz="1200" i="1" dirty="0">
                <a:solidFill>
                  <a:srgbClr val="0070C0"/>
                </a:solidFill>
              </a:rPr>
            </a:br>
            <a:endParaRPr lang="pt-BR" sz="1200" i="1" dirty="0">
              <a:solidFill>
                <a:srgbClr val="0070C0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1200" i="1" dirty="0">
                <a:solidFill>
                  <a:srgbClr val="0070C0"/>
                </a:solidFill>
              </a:rPr>
              <a:t>Quando o cálculo resultar em valor menor que </a:t>
            </a:r>
            <a:r>
              <a:rPr lang="pt-BR" sz="1200" b="1" i="1" dirty="0">
                <a:solidFill>
                  <a:srgbClr val="0070C0"/>
                </a:solidFill>
              </a:rPr>
              <a:t>1,5 t·ha⁻¹ (PRNT=100%)</a:t>
            </a:r>
            <a:r>
              <a:rPr lang="pt-BR" sz="1200" i="1" dirty="0">
                <a:solidFill>
                  <a:srgbClr val="0070C0"/>
                </a:solidFill>
              </a:rPr>
              <a:t>, deve-se aplicar ao menos essa dose mínima.</a:t>
            </a:r>
            <a:br>
              <a:rPr lang="pt-BR" sz="1200" i="1" dirty="0">
                <a:solidFill>
                  <a:srgbClr val="0070C0"/>
                </a:solidFill>
              </a:rPr>
            </a:br>
            <a:endParaRPr lang="pt-BR" sz="1200" i="1" dirty="0">
              <a:solidFill>
                <a:srgbClr val="0070C0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1200" i="1" dirty="0">
                <a:solidFill>
                  <a:srgbClr val="0070C0"/>
                </a:solidFill>
              </a:rPr>
              <a:t>Se o V em 20–40 cm for </a:t>
            </a:r>
            <a:r>
              <a:rPr lang="pt-BR" sz="1200" b="1" i="1" dirty="0">
                <a:solidFill>
                  <a:srgbClr val="0070C0"/>
                </a:solidFill>
              </a:rPr>
              <a:t>&lt;25%</a:t>
            </a:r>
            <a:r>
              <a:rPr lang="pt-BR" sz="1200" i="1" dirty="0">
                <a:solidFill>
                  <a:srgbClr val="0070C0"/>
                </a:solidFill>
              </a:rPr>
              <a:t>, recomenda-se aumentar a dose em </a:t>
            </a:r>
            <a:r>
              <a:rPr lang="pt-BR" sz="1200" b="1" i="1" dirty="0">
                <a:solidFill>
                  <a:srgbClr val="0070C0"/>
                </a:solidFill>
              </a:rPr>
              <a:t>50%</a:t>
            </a:r>
            <a:r>
              <a:rPr lang="pt-BR" sz="1200" i="1" dirty="0">
                <a:solidFill>
                  <a:srgbClr val="0070C0"/>
                </a:solidFill>
              </a:rPr>
              <a:t> ou somar a correção da subsuperfície.</a:t>
            </a:r>
            <a:br>
              <a:rPr lang="pt-BR" sz="1200" i="1" dirty="0">
                <a:solidFill>
                  <a:srgbClr val="0070C0"/>
                </a:solidFill>
              </a:rPr>
            </a:br>
            <a:endParaRPr lang="pt-BR" sz="1200" i="1" dirty="0">
              <a:solidFill>
                <a:srgbClr val="0070C0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1200" i="1" dirty="0">
                <a:solidFill>
                  <a:srgbClr val="0070C0"/>
                </a:solidFill>
              </a:rPr>
              <a:t>O documento também orienta ajustes práticos: 0,5 kg/m de sulco (citros) e 70% da dose sob a copa em pomares já instalados.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358B1A9-0CB3-0C06-49A5-F4AD96354C73}"/>
              </a:ext>
            </a:extLst>
          </p:cNvPr>
          <p:cNvSpPr txBox="1"/>
          <p:nvPr/>
        </p:nvSpPr>
        <p:spPr>
          <a:xfrm>
            <a:off x="4663440" y="5818286"/>
            <a:ext cx="3311923" cy="63094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500" i="1" dirty="0"/>
              <a:t>a calagem deve ser calculada para elevar a saturação por bases (V) a </a:t>
            </a:r>
            <a:r>
              <a:rPr lang="pt-BR" sz="500" b="1" i="1" dirty="0"/>
              <a:t>70%</a:t>
            </a:r>
            <a:r>
              <a:rPr lang="pt-BR" sz="500" i="1" dirty="0"/>
              <a:t> na camada de 0–20/25 cm.</a:t>
            </a:r>
            <a:br>
              <a:rPr lang="pt-BR" sz="500" i="1" dirty="0"/>
            </a:br>
            <a:r>
              <a:rPr lang="pt-BR" sz="500" i="1" dirty="0"/>
              <a:t>É necessário usar a </a:t>
            </a:r>
            <a:r>
              <a:rPr lang="pt-BR" sz="500" b="1" i="1" dirty="0"/>
              <a:t>análise de solo</a:t>
            </a:r>
            <a:r>
              <a:rPr lang="pt-BR" sz="500" i="1" dirty="0"/>
              <a:t> (CTC, V atual, </a:t>
            </a:r>
            <a:r>
              <a:rPr lang="pt-BR" sz="500" i="1" dirty="0" err="1"/>
              <a:t>Ca+Mg</a:t>
            </a:r>
            <a:r>
              <a:rPr lang="pt-BR" sz="500" i="1" dirty="0"/>
              <a:t>, PRNT do corretivo).</a:t>
            </a:r>
            <a:br>
              <a:rPr lang="pt-BR" sz="500" i="1" dirty="0"/>
            </a:br>
            <a:r>
              <a:rPr lang="pt-BR" sz="500" i="1" dirty="0"/>
              <a:t>Quando o cálculo resultar em valor menor que </a:t>
            </a:r>
            <a:r>
              <a:rPr lang="pt-BR" sz="500" b="1" i="1" dirty="0"/>
              <a:t>1,5 t·ha⁻¹ (PRNT=100%)</a:t>
            </a:r>
            <a:r>
              <a:rPr lang="pt-BR" sz="500" i="1" dirty="0"/>
              <a:t>, deve-se aplicar ao menos essa dose mínima.</a:t>
            </a:r>
            <a:br>
              <a:rPr lang="pt-BR" sz="500" i="1" dirty="0"/>
            </a:br>
            <a:r>
              <a:rPr lang="pt-BR" sz="500" i="1" dirty="0"/>
              <a:t>Se o V em 20–40 cm for </a:t>
            </a:r>
            <a:r>
              <a:rPr lang="pt-BR" sz="500" b="1" i="1" dirty="0"/>
              <a:t>&lt;25%</a:t>
            </a:r>
            <a:r>
              <a:rPr lang="pt-BR" sz="500" i="1" dirty="0"/>
              <a:t>, recomenda-se aumentar a dose em </a:t>
            </a:r>
            <a:r>
              <a:rPr lang="pt-BR" sz="500" b="1" i="1" dirty="0"/>
              <a:t>50%</a:t>
            </a:r>
            <a:r>
              <a:rPr lang="pt-BR" sz="500" i="1" dirty="0"/>
              <a:t> ou somar a correção da subsuperfície.</a:t>
            </a:r>
            <a:br>
              <a:rPr lang="pt-BR" sz="500" i="1" dirty="0"/>
            </a:br>
            <a:r>
              <a:rPr lang="pt-BR" sz="500" i="1" dirty="0"/>
              <a:t>O documento também orienta ajustes práticos: 0,5 kg/m de sulco (citros) e 70% da dose sob a copa em pomares já instalados.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C63A98F9-85F9-CE53-EDB1-0BC76B819BFE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4244858" y="4970038"/>
            <a:ext cx="541019" cy="84824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423A14B-74F1-4CE4-E14A-D242099726F2}"/>
              </a:ext>
            </a:extLst>
          </p:cNvPr>
          <p:cNvSpPr/>
          <p:nvPr/>
        </p:nvSpPr>
        <p:spPr>
          <a:xfrm>
            <a:off x="4663439" y="5818286"/>
            <a:ext cx="3311924" cy="64726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Seta: Dobrada 39">
            <a:extLst>
              <a:ext uri="{FF2B5EF4-FFF2-40B4-BE49-F238E27FC236}">
                <a16:creationId xmlns:a16="http://schemas.microsoft.com/office/drawing/2014/main" id="{90484087-519E-BAA8-9FE2-8297AB32EA9F}"/>
              </a:ext>
            </a:extLst>
          </p:cNvPr>
          <p:cNvSpPr/>
          <p:nvPr/>
        </p:nvSpPr>
        <p:spPr>
          <a:xfrm flipH="1" flipV="1">
            <a:off x="8294888" y="3664087"/>
            <a:ext cx="1462341" cy="1939081"/>
          </a:xfrm>
          <a:prstGeom prst="bentArrow">
            <a:avLst>
              <a:gd name="adj1" fmla="val 25000"/>
              <a:gd name="adj2" fmla="val 38636"/>
              <a:gd name="adj3" fmla="val 34324"/>
              <a:gd name="adj4" fmla="val 390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08BDDEB8-5CE9-3D11-C257-0A87EF3915F2}"/>
              </a:ext>
            </a:extLst>
          </p:cNvPr>
          <p:cNvSpPr txBox="1"/>
          <p:nvPr/>
        </p:nvSpPr>
        <p:spPr>
          <a:xfrm>
            <a:off x="9113610" y="3223877"/>
            <a:ext cx="28073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i="1" dirty="0"/>
              <a:t>Pergunta: Como se deve calcular a quantidade de calcário para ter uma correção de solo para um terreno com PH acido?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4EA73F99-FD0E-7DD7-0710-5D17579455D5}"/>
              </a:ext>
            </a:extLst>
          </p:cNvPr>
          <p:cNvSpPr/>
          <p:nvPr/>
        </p:nvSpPr>
        <p:spPr>
          <a:xfrm>
            <a:off x="4994910" y="2555042"/>
            <a:ext cx="1207770" cy="3008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64F08EF6-BA29-542F-3741-BF6D8F57FC50}"/>
              </a:ext>
            </a:extLst>
          </p:cNvPr>
          <p:cNvSpPr txBox="1"/>
          <p:nvPr/>
        </p:nvSpPr>
        <p:spPr>
          <a:xfrm>
            <a:off x="5760720" y="1040949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Citros_cana.pdf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2533A836-83FC-B1C1-7ED4-FFE2F99D9DA5}"/>
              </a:ext>
            </a:extLst>
          </p:cNvPr>
          <p:cNvCxnSpPr>
            <a:cxnSpLocks/>
            <a:stCxn id="48" idx="0"/>
            <a:endCxn id="49" idx="2"/>
          </p:cNvCxnSpPr>
          <p:nvPr/>
        </p:nvCxnSpPr>
        <p:spPr>
          <a:xfrm flipV="1">
            <a:off x="5598795" y="1410281"/>
            <a:ext cx="1070988" cy="11447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14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3" grpId="0" animBg="1"/>
      <p:bldP spid="14" grpId="0" animBg="1"/>
      <p:bldP spid="17" grpId="0" animBg="1"/>
      <p:bldP spid="20" grpId="0" animBg="1"/>
      <p:bldP spid="22" grpId="0" animBg="1"/>
      <p:bldP spid="24" grpId="0" animBg="1"/>
      <p:bldP spid="26" grpId="0"/>
      <p:bldP spid="28" grpId="0" animBg="1"/>
      <p:bldP spid="34" grpId="0" animBg="1"/>
      <p:bldP spid="35" grpId="0"/>
      <p:bldP spid="39" grpId="0" animBg="1"/>
      <p:bldP spid="40" grpId="0" animBg="1"/>
      <p:bldP spid="47" grpId="0"/>
      <p:bldP spid="48" grpId="0" animBg="1"/>
      <p:bldP spid="4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52D1B-F86F-CB09-FB55-B86EDB6FF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E0E03-3876-5272-1395-9ACB7AAC7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33" y="363788"/>
            <a:ext cx="4047067" cy="543791"/>
          </a:xfrm>
        </p:spPr>
        <p:txBody>
          <a:bodyPr>
            <a:normAutofit fontScale="90000"/>
          </a:bodyPr>
          <a:lstStyle/>
          <a:p>
            <a:r>
              <a:rPr lang="pt-BR" dirty="0"/>
              <a:t>Metas Anuais - RJI</a:t>
            </a:r>
            <a:br>
              <a:rPr lang="pt-BR" dirty="0"/>
            </a:br>
            <a:endParaRPr lang="pt-BR" sz="20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225923BE-3C54-1029-B62D-DE6DAED92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894037"/>
              </p:ext>
            </p:extLst>
          </p:nvPr>
        </p:nvGraphicFramePr>
        <p:xfrm>
          <a:off x="416957" y="907578"/>
          <a:ext cx="11358086" cy="56861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3440">
                  <a:extLst>
                    <a:ext uri="{9D8B030D-6E8A-4147-A177-3AD203B41FA5}">
                      <a16:colId xmlns:a16="http://schemas.microsoft.com/office/drawing/2014/main" val="813670341"/>
                    </a:ext>
                  </a:extLst>
                </a:gridCol>
                <a:gridCol w="3148323">
                  <a:extLst>
                    <a:ext uri="{9D8B030D-6E8A-4147-A177-3AD203B41FA5}">
                      <a16:colId xmlns:a16="http://schemas.microsoft.com/office/drawing/2014/main" val="3733200358"/>
                    </a:ext>
                  </a:extLst>
                </a:gridCol>
                <a:gridCol w="1578447">
                  <a:extLst>
                    <a:ext uri="{9D8B030D-6E8A-4147-A177-3AD203B41FA5}">
                      <a16:colId xmlns:a16="http://schemas.microsoft.com/office/drawing/2014/main" val="2726663540"/>
                    </a:ext>
                  </a:extLst>
                </a:gridCol>
                <a:gridCol w="5197876">
                  <a:extLst>
                    <a:ext uri="{9D8B030D-6E8A-4147-A177-3AD203B41FA5}">
                      <a16:colId xmlns:a16="http://schemas.microsoft.com/office/drawing/2014/main" val="190699975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resultado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Descrição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completo (S/N)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Comentário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91435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Acadêmico</a:t>
                      </a:r>
                      <a:endParaRPr lang="pt-BR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Publicações em periódicos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 banners Encontro de ciência de dados,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 artigo sobre escolha de banco de dados em submissão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 Artigo sobre comparação de </a:t>
                      </a:r>
                      <a:r>
                        <a:rPr lang="pt-BR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transformers</a:t>
                      </a: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a ser submetido no 4º semestre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8262859"/>
                  </a:ext>
                </a:extLst>
              </a:tr>
              <a:tr h="309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Acadêmico</a:t>
                      </a:r>
                      <a:endParaRPr lang="pt-BR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Cursos, oficinas, capacitações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Oficina LLM realizada na Sem. Tec. – Fatec Cotia e durante Mostra de trabalhos RJI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5054419"/>
                  </a:ext>
                </a:extLst>
              </a:tr>
              <a:tr h="309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Acadêmico</a:t>
                      </a:r>
                      <a:endParaRPr lang="pt-BR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Participação bancas de TCC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Participação no final 1º semestre 2025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09670860"/>
                  </a:ext>
                </a:extLst>
              </a:tr>
              <a:tr h="309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Acadêmico</a:t>
                      </a:r>
                      <a:endParaRPr lang="pt-BR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Participação grupos de pesquisa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Pesquisador principal FAPESP para projeto CCD-SB100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09559243"/>
                  </a:ext>
                </a:extLst>
              </a:tr>
              <a:tr h="619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Acadêmico </a:t>
                      </a:r>
                      <a:endParaRPr lang="pt-BR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Integração de projetos com outros docentes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Vários professores das Fatecs Cotia e Pompéia participando no projeto atual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8917211"/>
                  </a:ext>
                </a:extLst>
              </a:tr>
              <a:tr h="619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Acadêmico</a:t>
                      </a:r>
                      <a:endParaRPr lang="pt-BR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Orientação de trabalhos de conclusão de curso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Equipe planejada para apresentar TCC no final do 1º semestre, com tema relacionado ao trabalho do docente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3127671"/>
                  </a:ext>
                </a:extLst>
              </a:tr>
              <a:tr h="309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Educacional</a:t>
                      </a:r>
                      <a:endParaRPr lang="pt-BR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Envolvimento de disciplinas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pt-BR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Disciplina de Processamento de Linguagem Natural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82850627"/>
                  </a:ext>
                </a:extLst>
              </a:tr>
              <a:tr h="309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Sociais</a:t>
                      </a:r>
                      <a:endParaRPr lang="pt-BR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Reconhecimento externo da instituição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entrevista em revista de circulação local (Reportagem Circuito)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8952142"/>
                  </a:ext>
                </a:extLst>
              </a:tr>
              <a:tr h="619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Ambiental</a:t>
                      </a:r>
                      <a:endParaRPr lang="pt-BR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melhoria de processos de utilização de recursos naturais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pt-BR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Projeto em andamento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984386"/>
                  </a:ext>
                </a:extLst>
              </a:tr>
              <a:tr h="309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Educacional</a:t>
                      </a:r>
                      <a:endParaRPr lang="pt-BR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Participação de docentes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Docentes participando do projeto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2890698"/>
                  </a:ext>
                </a:extLst>
              </a:tr>
              <a:tr h="619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Econômicos</a:t>
                      </a:r>
                      <a:endParaRPr lang="pt-BR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Recursos de agências fomento e/ ou de outras instituições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Projeto FAPESP CCD SB100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44399296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36BB1A9C-3550-42F1-ED59-FB5B038C8F45}"/>
              </a:ext>
            </a:extLst>
          </p:cNvPr>
          <p:cNvSpPr txBox="1"/>
          <p:nvPr/>
        </p:nvSpPr>
        <p:spPr>
          <a:xfrm>
            <a:off x="4389120" y="451017"/>
            <a:ext cx="3722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Prazo para conclusão: 31.01.2026 </a:t>
            </a:r>
          </a:p>
        </p:txBody>
      </p:sp>
    </p:spTree>
    <p:extLst>
      <p:ext uri="{BB962C8B-B14F-4D97-AF65-F5344CB8AC3E}">
        <p14:creationId xmlns:p14="http://schemas.microsoft.com/office/powerpoint/2010/main" val="2229942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60089-B9EE-5242-C874-F3FFE391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CD1B96-EB6E-1415-9228-26248FFC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33" y="363788"/>
            <a:ext cx="4047067" cy="543791"/>
          </a:xfrm>
        </p:spPr>
        <p:txBody>
          <a:bodyPr>
            <a:normAutofit fontScale="90000"/>
          </a:bodyPr>
          <a:lstStyle/>
          <a:p>
            <a:r>
              <a:rPr lang="pt-BR" dirty="0"/>
              <a:t>Metas Anuais - RJI</a:t>
            </a:r>
            <a:br>
              <a:rPr lang="pt-BR" dirty="0"/>
            </a:br>
            <a:endParaRPr lang="pt-BR" sz="2000" dirty="0">
              <a:solidFill>
                <a:srgbClr val="FF000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B892E0-C964-EF99-2CC3-2DE0BB574E91}"/>
              </a:ext>
            </a:extLst>
          </p:cNvPr>
          <p:cNvSpPr txBox="1"/>
          <p:nvPr/>
        </p:nvSpPr>
        <p:spPr>
          <a:xfrm>
            <a:off x="4389120" y="451017"/>
            <a:ext cx="2765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01.02.2026 – 31.01.2027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840F97C-2335-4334-4BEB-3308861BF36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791" y="907578"/>
            <a:ext cx="8928157" cy="59504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22978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93B88-F37D-5194-77BE-526CC13F5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4069C-4E1E-684C-A326-866C94604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1012439" cy="543791"/>
          </a:xfrm>
        </p:spPr>
        <p:txBody>
          <a:bodyPr>
            <a:normAutofit fontScale="90000"/>
          </a:bodyPr>
          <a:lstStyle/>
          <a:p>
            <a:r>
              <a:rPr lang="pt-BR" dirty="0"/>
              <a:t>Metas Anuais – FAPESP  - Ano II</a:t>
            </a:r>
            <a:br>
              <a:rPr lang="pt-BR" dirty="0"/>
            </a:br>
            <a:r>
              <a:rPr lang="pt-BR" sz="2000" dirty="0">
                <a:solidFill>
                  <a:srgbClr val="FF0000"/>
                </a:solidFill>
              </a:rPr>
              <a:t>Preparação para LLM e Sistema Computacional SB100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8F46D8C-C400-EABA-98A7-E8D9A4217303}"/>
              </a:ext>
            </a:extLst>
          </p:cNvPr>
          <p:cNvSpPr txBox="1"/>
          <p:nvPr/>
        </p:nvSpPr>
        <p:spPr>
          <a:xfrm>
            <a:off x="485774" y="1571869"/>
            <a:ext cx="11012439" cy="4550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Aprimorar a infraestrutura de Hardware e software para processamento dos algoritmos do LLM e sistema computacional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Atualização das tecnologias para o sistema, em termos de banco de dados e ambiente de processamento.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Implantação do sistema LLM SB100 versão Alfa, utilizando os algoritmos de classificação,  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pt-BR" dirty="0"/>
              <a:t>Atualização da versão anterior do SB100, utilizando alterações de formatação e metadados atualização para comparação com a versão anterior.</a:t>
            </a:r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endParaRPr lang="pt-BR" dirty="0"/>
          </a:p>
          <a:p>
            <a:pPr marL="400050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92887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198C6-854A-8857-BEDD-07BAADBD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67B99C5-09C1-3E7E-4853-7780DBAA4E9A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Conclusões &amp; próximos passos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2EF9D0-9DA9-0D78-B890-512BDF9163B2}"/>
              </a:ext>
            </a:extLst>
          </p:cNvPr>
          <p:cNvSpPr txBox="1"/>
          <p:nvPr/>
        </p:nvSpPr>
        <p:spPr>
          <a:xfrm>
            <a:off x="140939" y="697068"/>
            <a:ext cx="11910115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agronegócio é uma das áreas mais promissoras e estratégicas para o Brasil, auxiliando no crescimento da nação e garantia da segurança alimentar globalizada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D6E9DD6-5D65-7ECE-E8EF-6E5BE6B733FB}"/>
              </a:ext>
            </a:extLst>
          </p:cNvPr>
          <p:cNvSpPr txBox="1"/>
          <p:nvPr/>
        </p:nvSpPr>
        <p:spPr>
          <a:xfrm>
            <a:off x="140938" y="2024201"/>
            <a:ext cx="11910115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uso da Inteligência artificial é um dos principais recursos para garantir que a tecnologia auxilie na manutenção dos altos níveis de produtividade e sustentabilidade na transformação digital.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D4584A9-549B-0415-E6B5-F88145D209AB}"/>
              </a:ext>
            </a:extLst>
          </p:cNvPr>
          <p:cNvSpPr txBox="1"/>
          <p:nvPr/>
        </p:nvSpPr>
        <p:spPr>
          <a:xfrm>
            <a:off x="140937" y="3312921"/>
            <a:ext cx="11910115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projeto SB100 tem o potencial de ser uma plataforma de experimentação, prototipagem, aumento de produtividade  e crescimento no mercado nacional e internacional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95068F3-8C45-796C-71FD-65328C337192}"/>
              </a:ext>
            </a:extLst>
          </p:cNvPr>
          <p:cNvSpPr txBox="1"/>
          <p:nvPr/>
        </p:nvSpPr>
        <p:spPr>
          <a:xfrm>
            <a:off x="140939" y="4446886"/>
            <a:ext cx="11910115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Através de parcerias, o SB100 vai transformar a realidade do agronegócio brasileiro dentro do conceito de quádrupla hélice (Governo, academia, setor privado e sociedade civil organizada)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D257AB9-A796-E6AC-6F22-A2C9684636FA}"/>
              </a:ext>
            </a:extLst>
          </p:cNvPr>
          <p:cNvSpPr txBox="1"/>
          <p:nvPr/>
        </p:nvSpPr>
        <p:spPr>
          <a:xfrm>
            <a:off x="156179" y="5589886"/>
            <a:ext cx="11910115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 espaço para mais professores se juntarem ao nosso grupo e contribuir para a criação de um Centro de Referência em Sistemas Inteligentes, atraindo parcerias e projetos para a FATEC Cotia. </a:t>
            </a:r>
          </a:p>
        </p:txBody>
      </p:sp>
    </p:spTree>
    <p:extLst>
      <p:ext uri="{BB962C8B-B14F-4D97-AF65-F5344CB8AC3E}">
        <p14:creationId xmlns:p14="http://schemas.microsoft.com/office/powerpoint/2010/main" val="343764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14" grpId="0"/>
      <p:bldP spid="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EF6C4FAC-5EE0-8CC5-DAE8-38ECAE941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A6BE719-E15F-7536-C7C9-A811917DCF30}"/>
              </a:ext>
            </a:extLst>
          </p:cNvPr>
          <p:cNvSpPr txBox="1"/>
          <p:nvPr/>
        </p:nvSpPr>
        <p:spPr>
          <a:xfrm>
            <a:off x="3811503" y="3947715"/>
            <a:ext cx="39202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i="1" dirty="0">
                <a:latin typeface="Oswald" panose="00000500000000000000" pitchFamily="2" charset="0"/>
              </a:rPr>
              <a:t>OBRIGADO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0D758E-7A2B-8024-0AE8-CDFD8AB62356}"/>
              </a:ext>
            </a:extLst>
          </p:cNvPr>
          <p:cNvSpPr txBox="1"/>
          <p:nvPr/>
        </p:nvSpPr>
        <p:spPr>
          <a:xfrm>
            <a:off x="2751653" y="4906718"/>
            <a:ext cx="666879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pt-BR" sz="2800" cap="none" dirty="0">
                <a:latin typeface="Oswald" panose="00000500000000000000" pitchFamily="2" charset="0"/>
                <a:cs typeface="Calibri" panose="020F0502020204030204" pitchFamily="34" charset="0"/>
              </a:rPr>
              <a:t>Dr. Braz Izaias da silva Junior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pt-BR" sz="2800" dirty="0">
                <a:latin typeface="Oswald" panose="00000500000000000000" pitchFamily="2" charset="0"/>
                <a:cs typeface="Calibri" panose="020F0502020204030204" pitchFamily="34" charset="0"/>
              </a:rPr>
              <a:t>Braz.silva@fatec.sp.gov.br</a:t>
            </a:r>
            <a:endParaRPr lang="pt-BR" sz="2800" cap="none" dirty="0">
              <a:latin typeface="Oswald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" name="Título 7">
            <a:extLst>
              <a:ext uri="{FF2B5EF4-FFF2-40B4-BE49-F238E27FC236}">
                <a16:creationId xmlns:a16="http://schemas.microsoft.com/office/drawing/2014/main" id="{CFDC1DBB-7BB6-AAF3-3A6E-BA7635D2F784}"/>
              </a:ext>
            </a:extLst>
          </p:cNvPr>
          <p:cNvSpPr txBox="1">
            <a:spLocks/>
          </p:cNvSpPr>
          <p:nvPr/>
        </p:nvSpPr>
        <p:spPr>
          <a:xfrm>
            <a:off x="1690262" y="1760325"/>
            <a:ext cx="8791575" cy="7694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CCD-SB100</a:t>
            </a:r>
            <a:endParaRPr lang="pt-BR" sz="4000" dirty="0">
              <a:latin typeface="Oswald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5614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A8E2B-8C2C-B72C-679F-AF3B795B3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EA4C002-0695-BD1E-64F8-D37F77A766EE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 - I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A7C4498-2F9C-34EC-3BF2-BB67732ACA15}"/>
              </a:ext>
            </a:extLst>
          </p:cNvPr>
          <p:cNvSpPr txBox="1"/>
          <p:nvPr/>
        </p:nvSpPr>
        <p:spPr>
          <a:xfrm>
            <a:off x="4664481" y="685785"/>
            <a:ext cx="27398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1400" cap="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Transformação de dados</a:t>
            </a:r>
            <a:endParaRPr lang="pt-BR" sz="1400" cap="al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CA0F039-7322-DB93-BF29-6CF464A1F3C3}"/>
              </a:ext>
            </a:extLst>
          </p:cNvPr>
          <p:cNvSpPr txBox="1"/>
          <p:nvPr/>
        </p:nvSpPr>
        <p:spPr>
          <a:xfrm>
            <a:off x="510925" y="1086033"/>
            <a:ext cx="155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01104A2-B648-0291-A6E6-4482C7439A61}"/>
              </a:ext>
            </a:extLst>
          </p:cNvPr>
          <p:cNvSpPr txBox="1"/>
          <p:nvPr/>
        </p:nvSpPr>
        <p:spPr>
          <a:xfrm>
            <a:off x="305467" y="2328476"/>
            <a:ext cx="3493942" cy="29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Testar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diferentes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formas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de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vetorização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e EBR para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agronegócios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, 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Identificar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vetorizações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e EBRs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mais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eficazes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.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Validar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vetorização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e EBR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na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transformação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do "Boletim 100"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em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uma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versão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digital,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considerando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aspectos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físico-químicos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e </a:t>
            </a:r>
            <a:r>
              <a:rPr lang="en-US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biológicos</a:t>
            </a:r>
            <a:endParaRPr lang="en-US" sz="1400" dirty="0">
              <a:solidFill>
                <a:srgbClr val="2C4A24"/>
              </a:solidFill>
              <a:latin typeface="Times New Roman" panose="02020603050405020304" pitchFamily="18" charset="0"/>
              <a:ea typeface="Questrial"/>
              <a:cs typeface="Times New Roman" panose="02020603050405020304" pitchFamily="18" charset="0"/>
              <a:sym typeface="Questrial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0C55E2-97C3-6B39-8F3E-400CD4194928}"/>
              </a:ext>
            </a:extLst>
          </p:cNvPr>
          <p:cNvSpPr txBox="1"/>
          <p:nvPr/>
        </p:nvSpPr>
        <p:spPr>
          <a:xfrm>
            <a:off x="4664481" y="1085894"/>
            <a:ext cx="208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4EAE16E-7C73-418F-C495-047DA56A639C}"/>
              </a:ext>
            </a:extLst>
          </p:cNvPr>
          <p:cNvSpPr/>
          <p:nvPr/>
        </p:nvSpPr>
        <p:spPr>
          <a:xfrm>
            <a:off x="269126" y="1672392"/>
            <a:ext cx="3689810" cy="509562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15288BE-BF90-A3E9-EF33-7397CC1A289C}"/>
              </a:ext>
            </a:extLst>
          </p:cNvPr>
          <p:cNvSpPr txBox="1"/>
          <p:nvPr/>
        </p:nvSpPr>
        <p:spPr>
          <a:xfrm>
            <a:off x="4153161" y="2251532"/>
            <a:ext cx="3493942" cy="39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Seleção de uma base de dados para os testes dos algoritmos.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Identificação vetorizações e padronizações mais adequadas para o projeto.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Implementação de duas vetorizações candidatas para comparação.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Uso de 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Marckdown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para processamento de informações em tabelas para o LLM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endParaRPr lang="pt-BR" sz="1400" dirty="0">
              <a:solidFill>
                <a:srgbClr val="2C4A24"/>
              </a:solidFill>
              <a:latin typeface="Times New Roman" panose="02020603050405020304" pitchFamily="18" charset="0"/>
              <a:ea typeface="Questrial"/>
              <a:cs typeface="Times New Roman" panose="02020603050405020304" pitchFamily="18" charset="0"/>
              <a:sym typeface="Questrial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4A22B1B-7258-5E04-D2AE-207FC3D3B0EB}"/>
              </a:ext>
            </a:extLst>
          </p:cNvPr>
          <p:cNvSpPr/>
          <p:nvPr/>
        </p:nvSpPr>
        <p:spPr>
          <a:xfrm>
            <a:off x="4189502" y="1682146"/>
            <a:ext cx="3689810" cy="509562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E17C850-8685-DD24-55CB-2BFD9BFA158D}"/>
              </a:ext>
            </a:extLst>
          </p:cNvPr>
          <p:cNvSpPr txBox="1"/>
          <p:nvPr/>
        </p:nvSpPr>
        <p:spPr>
          <a:xfrm>
            <a:off x="8708043" y="1024338"/>
            <a:ext cx="208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7D2B559-7BB0-874A-9C18-7C3C0FB08571}"/>
              </a:ext>
            </a:extLst>
          </p:cNvPr>
          <p:cNvSpPr txBox="1"/>
          <p:nvPr/>
        </p:nvSpPr>
        <p:spPr>
          <a:xfrm>
            <a:off x="8233064" y="2533916"/>
            <a:ext cx="3493942" cy="29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Implementação de soluções  TF-IDF (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Term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Frequency-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Inverse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Document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Frequency) 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Implementação de soluções BERT (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Bidirectional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Encoder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Representations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from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Transformers): 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Implementação de soluções usando OCR. 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314E2F0-BE36-D9A6-CFE1-95BD33A39E92}"/>
              </a:ext>
            </a:extLst>
          </p:cNvPr>
          <p:cNvSpPr/>
          <p:nvPr/>
        </p:nvSpPr>
        <p:spPr>
          <a:xfrm>
            <a:off x="8233064" y="1620590"/>
            <a:ext cx="3689810" cy="509562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975F115-C01A-DA4C-DAE9-393F7BBDE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0913" y="119734"/>
            <a:ext cx="936887" cy="87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6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 animBg="1"/>
      <p:bldP spid="15" grpId="0"/>
      <p:bldP spid="16" grpId="0" animBg="1"/>
      <p:bldP spid="18" grpId="0"/>
      <p:bldP spid="19" grpId="0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F22B3-6488-E08F-838C-A7CDED8F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17343CF-1843-62B0-DCC6-D9195EEAF212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 - I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346134A-2D89-949C-7772-A6551D432E58}"/>
              </a:ext>
            </a:extLst>
          </p:cNvPr>
          <p:cNvSpPr txBox="1"/>
          <p:nvPr/>
        </p:nvSpPr>
        <p:spPr>
          <a:xfrm>
            <a:off x="4664481" y="685785"/>
            <a:ext cx="27398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1400" cap="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Transformação de dados</a:t>
            </a:r>
            <a:endParaRPr lang="pt-BR" sz="1400" cap="al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0E8BB86C-1D87-85CE-7BCF-2447192134AF}"/>
              </a:ext>
            </a:extLst>
          </p:cNvPr>
          <p:cNvSpPr/>
          <p:nvPr/>
        </p:nvSpPr>
        <p:spPr>
          <a:xfrm>
            <a:off x="4150529" y="1987765"/>
            <a:ext cx="2337953" cy="3291386"/>
          </a:xfrm>
          <a:custGeom>
            <a:avLst/>
            <a:gdLst/>
            <a:ahLst/>
            <a:cxnLst/>
            <a:rect l="l" t="t" r="r" b="b"/>
            <a:pathLst>
              <a:path w="5363974" h="4056505">
                <a:moveTo>
                  <a:pt x="0" y="0"/>
                </a:moveTo>
                <a:lnTo>
                  <a:pt x="5363974" y="0"/>
                </a:lnTo>
                <a:lnTo>
                  <a:pt x="5363974" y="4056505"/>
                </a:lnTo>
                <a:lnTo>
                  <a:pt x="0" y="405650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 r="-14541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256221BF-9BC9-8DF8-BE17-812E9A9FC8D5}"/>
              </a:ext>
            </a:extLst>
          </p:cNvPr>
          <p:cNvSpPr/>
          <p:nvPr/>
        </p:nvSpPr>
        <p:spPr>
          <a:xfrm>
            <a:off x="7236789" y="2688241"/>
            <a:ext cx="4788588" cy="1888613"/>
          </a:xfrm>
          <a:custGeom>
            <a:avLst/>
            <a:gdLst/>
            <a:ahLst/>
            <a:cxnLst/>
            <a:rect l="l" t="t" r="r" b="b"/>
            <a:pathLst>
              <a:path w="7864564" h="1219007">
                <a:moveTo>
                  <a:pt x="0" y="0"/>
                </a:moveTo>
                <a:lnTo>
                  <a:pt x="7864564" y="0"/>
                </a:lnTo>
                <a:lnTo>
                  <a:pt x="7864564" y="1219008"/>
                </a:lnTo>
                <a:lnTo>
                  <a:pt x="0" y="121900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8D0897-D863-EECF-B05E-E45113635A27}"/>
              </a:ext>
            </a:extLst>
          </p:cNvPr>
          <p:cNvSpPr txBox="1"/>
          <p:nvPr/>
        </p:nvSpPr>
        <p:spPr>
          <a:xfrm>
            <a:off x="1050858" y="1089479"/>
            <a:ext cx="2440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70C0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Implementação TF-IDF 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E5DA1F91-CBBD-3BD2-7886-16FDF80C1FDC}"/>
              </a:ext>
            </a:extLst>
          </p:cNvPr>
          <p:cNvSpPr/>
          <p:nvPr/>
        </p:nvSpPr>
        <p:spPr>
          <a:xfrm>
            <a:off x="6593747" y="3428999"/>
            <a:ext cx="553090" cy="346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25031D4-7AC5-985D-8B8D-F9AF07968B19}"/>
              </a:ext>
            </a:extLst>
          </p:cNvPr>
          <p:cNvSpPr txBox="1"/>
          <p:nvPr/>
        </p:nvSpPr>
        <p:spPr>
          <a:xfrm>
            <a:off x="4438990" y="5480641"/>
            <a:ext cx="215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 intermediária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9C8FE6E-E573-3E39-A324-F82842C91441}"/>
              </a:ext>
            </a:extLst>
          </p:cNvPr>
          <p:cNvSpPr txBox="1"/>
          <p:nvPr/>
        </p:nvSpPr>
        <p:spPr>
          <a:xfrm>
            <a:off x="7613074" y="5480641"/>
            <a:ext cx="2904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Saída – dados classificados</a:t>
            </a: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3ACB61C0-5412-B034-D9C2-57D11F972384}"/>
              </a:ext>
            </a:extLst>
          </p:cNvPr>
          <p:cNvSpPr/>
          <p:nvPr/>
        </p:nvSpPr>
        <p:spPr>
          <a:xfrm>
            <a:off x="166623" y="2168778"/>
            <a:ext cx="2989936" cy="1463770"/>
          </a:xfrm>
          <a:custGeom>
            <a:avLst/>
            <a:gdLst/>
            <a:ahLst/>
            <a:cxnLst/>
            <a:rect l="l" t="t" r="r" b="b"/>
            <a:pathLst>
              <a:path w="7858278" h="3428174">
                <a:moveTo>
                  <a:pt x="0" y="0"/>
                </a:moveTo>
                <a:lnTo>
                  <a:pt x="7858278" y="0"/>
                </a:lnTo>
                <a:lnTo>
                  <a:pt x="7858278" y="3428173"/>
                </a:lnTo>
                <a:lnTo>
                  <a:pt x="0" y="3428173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807E6CD-3E5D-DBD7-2C76-DF5A43D1F0F9}"/>
              </a:ext>
            </a:extLst>
          </p:cNvPr>
          <p:cNvSpPr/>
          <p:nvPr/>
        </p:nvSpPr>
        <p:spPr>
          <a:xfrm>
            <a:off x="166623" y="3875451"/>
            <a:ext cx="2989936" cy="1247694"/>
          </a:xfrm>
          <a:custGeom>
            <a:avLst/>
            <a:gdLst/>
            <a:ahLst/>
            <a:cxnLst/>
            <a:rect l="l" t="t" r="r" b="b"/>
            <a:pathLst>
              <a:path w="7673782" h="3165435">
                <a:moveTo>
                  <a:pt x="0" y="0"/>
                </a:moveTo>
                <a:lnTo>
                  <a:pt x="7673782" y="0"/>
                </a:lnTo>
                <a:lnTo>
                  <a:pt x="7673782" y="3165435"/>
                </a:lnTo>
                <a:lnTo>
                  <a:pt x="0" y="316543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8F1642E9-0E3A-FB75-4207-76D0D91BDCD4}"/>
              </a:ext>
            </a:extLst>
          </p:cNvPr>
          <p:cNvSpPr/>
          <p:nvPr/>
        </p:nvSpPr>
        <p:spPr>
          <a:xfrm>
            <a:off x="3386908" y="3428999"/>
            <a:ext cx="553090" cy="3468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8D1B795-5512-7420-5FD3-F900A96709DF}"/>
              </a:ext>
            </a:extLst>
          </p:cNvPr>
          <p:cNvSpPr txBox="1"/>
          <p:nvPr/>
        </p:nvSpPr>
        <p:spPr>
          <a:xfrm>
            <a:off x="782183" y="5480641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Entrada - texto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9B3E83F-BA7F-CA5A-2C33-3917D6D79A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0913" y="119734"/>
            <a:ext cx="936887" cy="87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1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1A0F6-8C1F-2C8F-B347-6AC3C2A59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A9A0A15-1EAC-7C7C-4099-A139D3432D45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 - I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719B16-FAEE-69F1-CAC4-D727175C3A89}"/>
              </a:ext>
            </a:extLst>
          </p:cNvPr>
          <p:cNvSpPr txBox="1"/>
          <p:nvPr/>
        </p:nvSpPr>
        <p:spPr>
          <a:xfrm>
            <a:off x="4664481" y="685785"/>
            <a:ext cx="27398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1400" cap="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Transformação de dados</a:t>
            </a:r>
            <a:endParaRPr lang="pt-BR" sz="1400" cap="al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63560A-AF34-7260-0600-037CDA21D5EE}"/>
              </a:ext>
            </a:extLst>
          </p:cNvPr>
          <p:cNvSpPr txBox="1"/>
          <p:nvPr/>
        </p:nvSpPr>
        <p:spPr>
          <a:xfrm>
            <a:off x="1050858" y="1089479"/>
            <a:ext cx="2337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70C0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Implement</a:t>
            </a:r>
            <a:r>
              <a:rPr lang="pt-BR" dirty="0">
                <a:solidFill>
                  <a:srgbClr val="0070C0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a</a:t>
            </a:r>
            <a:r>
              <a:rPr lang="pt-BR" sz="1800" dirty="0">
                <a:solidFill>
                  <a:srgbClr val="0070C0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ção BERT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8F880742-A0E8-78F8-53FC-790656F48157}"/>
              </a:ext>
            </a:extLst>
          </p:cNvPr>
          <p:cNvSpPr/>
          <p:nvPr/>
        </p:nvSpPr>
        <p:spPr>
          <a:xfrm>
            <a:off x="1050858" y="1862505"/>
            <a:ext cx="8719443" cy="2934963"/>
          </a:xfrm>
          <a:custGeom>
            <a:avLst/>
            <a:gdLst/>
            <a:ahLst/>
            <a:cxnLst/>
            <a:rect l="l" t="t" r="r" b="b"/>
            <a:pathLst>
              <a:path w="11301259" h="3856555">
                <a:moveTo>
                  <a:pt x="0" y="0"/>
                </a:moveTo>
                <a:lnTo>
                  <a:pt x="11301259" y="0"/>
                </a:lnTo>
                <a:lnTo>
                  <a:pt x="11301259" y="3856555"/>
                </a:lnTo>
                <a:lnTo>
                  <a:pt x="0" y="385655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D0463D2-D2BE-EB5D-A03E-C8470F1FC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0913" y="119734"/>
            <a:ext cx="936887" cy="87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20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1A83E-1DDB-ACE6-B2BA-5F1479BAD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B493442-C1B0-3307-1D37-F40075D35641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 - I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156429C-289C-4C7F-5029-B14762D94015}"/>
              </a:ext>
            </a:extLst>
          </p:cNvPr>
          <p:cNvSpPr txBox="1"/>
          <p:nvPr/>
        </p:nvSpPr>
        <p:spPr>
          <a:xfrm>
            <a:off x="4664481" y="685785"/>
            <a:ext cx="27398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1400" cap="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Transformação de dados</a:t>
            </a:r>
            <a:endParaRPr lang="pt-BR" sz="1400" cap="al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3312E5C-3C8F-7DAC-25A7-7D4B9C6EFD99}"/>
              </a:ext>
            </a:extLst>
          </p:cNvPr>
          <p:cNvSpPr txBox="1"/>
          <p:nvPr/>
        </p:nvSpPr>
        <p:spPr>
          <a:xfrm>
            <a:off x="1050858" y="1089479"/>
            <a:ext cx="330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70C0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Uso do MARCKDOWN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A0DF39A-C3F8-C110-E8D2-8DFFE7620B28}"/>
              </a:ext>
            </a:extLst>
          </p:cNvPr>
          <p:cNvSpPr txBox="1"/>
          <p:nvPr/>
        </p:nvSpPr>
        <p:spPr>
          <a:xfrm>
            <a:off x="373035" y="1908371"/>
            <a:ext cx="3793719" cy="889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200" dirty="0" err="1"/>
              <a:t>Markdown</a:t>
            </a:r>
            <a:r>
              <a:rPr lang="pt-BR" sz="1200" dirty="0"/>
              <a:t> </a:t>
            </a:r>
            <a:r>
              <a:rPr lang="pt-BR" sz="1200" dirty="0" err="1"/>
              <a:t>Syntax</a:t>
            </a:r>
            <a:r>
              <a:rPr lang="pt-BR" sz="1200" dirty="0"/>
              <a:t> é uma sintaxe usada para padronizar e facilitar formatação de texto na web, utilizada em aplicativos como Slack e GitHub. </a:t>
            </a: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26700C71-C641-DD24-F0D3-579A6FF8EECA}"/>
              </a:ext>
            </a:extLst>
          </p:cNvPr>
          <p:cNvSpPr/>
          <p:nvPr/>
        </p:nvSpPr>
        <p:spPr>
          <a:xfrm>
            <a:off x="373035" y="3197802"/>
            <a:ext cx="3980756" cy="1443408"/>
          </a:xfrm>
          <a:custGeom>
            <a:avLst/>
            <a:gdLst/>
            <a:ahLst/>
            <a:cxnLst/>
            <a:rect l="l" t="t" r="r" b="b"/>
            <a:pathLst>
              <a:path w="7673782" h="3165435">
                <a:moveTo>
                  <a:pt x="0" y="0"/>
                </a:moveTo>
                <a:lnTo>
                  <a:pt x="7673782" y="0"/>
                </a:lnTo>
                <a:lnTo>
                  <a:pt x="7673782" y="3165435"/>
                </a:lnTo>
                <a:lnTo>
                  <a:pt x="0" y="316543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894B69A-67F4-355B-A23F-CE25F3245F26}"/>
              </a:ext>
            </a:extLst>
          </p:cNvPr>
          <p:cNvSpPr/>
          <p:nvPr/>
        </p:nvSpPr>
        <p:spPr>
          <a:xfrm>
            <a:off x="509154" y="5312417"/>
            <a:ext cx="3844637" cy="1441943"/>
          </a:xfrm>
          <a:custGeom>
            <a:avLst/>
            <a:gdLst/>
            <a:ahLst/>
            <a:cxnLst/>
            <a:rect l="l" t="t" r="r" b="b"/>
            <a:pathLst>
              <a:path w="7407356" h="2148133">
                <a:moveTo>
                  <a:pt x="0" y="0"/>
                </a:moveTo>
                <a:lnTo>
                  <a:pt x="7407356" y="0"/>
                </a:lnTo>
                <a:lnTo>
                  <a:pt x="7407356" y="2148133"/>
                </a:lnTo>
                <a:lnTo>
                  <a:pt x="0" y="2148133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 l="-462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594ADE6F-0513-4AB7-14AC-126C880616FE}"/>
              </a:ext>
            </a:extLst>
          </p:cNvPr>
          <p:cNvSpPr/>
          <p:nvPr/>
        </p:nvSpPr>
        <p:spPr>
          <a:xfrm>
            <a:off x="2178568" y="4678572"/>
            <a:ext cx="369689" cy="6338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D5C7961-C558-BB34-8553-1DDF72F82518}"/>
              </a:ext>
            </a:extLst>
          </p:cNvPr>
          <p:cNvSpPr/>
          <p:nvPr/>
        </p:nvSpPr>
        <p:spPr>
          <a:xfrm>
            <a:off x="4664481" y="2187317"/>
            <a:ext cx="7159337" cy="4135581"/>
          </a:xfrm>
          <a:custGeom>
            <a:avLst/>
            <a:gdLst/>
            <a:ahLst/>
            <a:cxnLst/>
            <a:rect l="l" t="t" r="r" b="b"/>
            <a:pathLst>
              <a:path w="8837257" h="4838398">
                <a:moveTo>
                  <a:pt x="0" y="0"/>
                </a:moveTo>
                <a:lnTo>
                  <a:pt x="8837257" y="0"/>
                </a:lnTo>
                <a:lnTo>
                  <a:pt x="8837257" y="4838399"/>
                </a:lnTo>
                <a:lnTo>
                  <a:pt x="0" y="48383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E1EEBBE-F845-40E7-52E6-DC3B23979C3E}"/>
              </a:ext>
            </a:extLst>
          </p:cNvPr>
          <p:cNvSpPr/>
          <p:nvPr/>
        </p:nvSpPr>
        <p:spPr>
          <a:xfrm>
            <a:off x="221329" y="1631373"/>
            <a:ext cx="4132462" cy="14434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E0AD532-D308-2783-9348-3E7A192851CA}"/>
              </a:ext>
            </a:extLst>
          </p:cNvPr>
          <p:cNvSpPr/>
          <p:nvPr/>
        </p:nvSpPr>
        <p:spPr>
          <a:xfrm>
            <a:off x="221329" y="3197802"/>
            <a:ext cx="4132462" cy="3660198"/>
          </a:xfrm>
          <a:prstGeom prst="roundRect">
            <a:avLst>
              <a:gd name="adj" fmla="val 1013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74F9AF3-5C5B-3F1D-8C9E-7D4133F2EE7A}"/>
              </a:ext>
            </a:extLst>
          </p:cNvPr>
          <p:cNvSpPr/>
          <p:nvPr/>
        </p:nvSpPr>
        <p:spPr>
          <a:xfrm>
            <a:off x="4499263" y="1652218"/>
            <a:ext cx="7544143" cy="5205781"/>
          </a:xfrm>
          <a:prstGeom prst="roundRect">
            <a:avLst>
              <a:gd name="adj" fmla="val 1013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8FC8D6C-DF11-B6ED-33A7-1227EC2DD5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0913" y="119734"/>
            <a:ext cx="936887" cy="87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6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B2B4D-AFBE-7E8A-9687-F8B4970B9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C6251-7828-EE87-3811-CEE86B057CBA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 - II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1557F97-BA84-D4B1-53CC-893CC96D1392}"/>
              </a:ext>
            </a:extLst>
          </p:cNvPr>
          <p:cNvSpPr txBox="1"/>
          <p:nvPr/>
        </p:nvSpPr>
        <p:spPr>
          <a:xfrm>
            <a:off x="4664481" y="685785"/>
            <a:ext cx="2683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1400" cap="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PARA LLM</a:t>
            </a:r>
            <a:endParaRPr lang="pt-BR" sz="1400" cap="al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3D6B561-DCC1-9DBC-0531-4B6CF9A2AA7C}"/>
              </a:ext>
            </a:extLst>
          </p:cNvPr>
          <p:cNvSpPr txBox="1"/>
          <p:nvPr/>
        </p:nvSpPr>
        <p:spPr>
          <a:xfrm>
            <a:off x="510925" y="1086033"/>
            <a:ext cx="155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188FBBE-907F-A750-FAD2-5688B209DE5C}"/>
              </a:ext>
            </a:extLst>
          </p:cNvPr>
          <p:cNvSpPr txBox="1"/>
          <p:nvPr/>
        </p:nvSpPr>
        <p:spPr>
          <a:xfrm>
            <a:off x="269126" y="1559001"/>
            <a:ext cx="3493942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105"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Comparação os vários tipos de banco de dados para uso no projeto SB-100.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89DC9A-FE53-FC6B-C36A-9272A609A059}"/>
              </a:ext>
            </a:extLst>
          </p:cNvPr>
          <p:cNvSpPr txBox="1"/>
          <p:nvPr/>
        </p:nvSpPr>
        <p:spPr>
          <a:xfrm>
            <a:off x="464994" y="2560669"/>
            <a:ext cx="208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360BA13-D070-7572-DA4D-B818C5C0B193}"/>
              </a:ext>
            </a:extLst>
          </p:cNvPr>
          <p:cNvSpPr/>
          <p:nvPr/>
        </p:nvSpPr>
        <p:spPr>
          <a:xfrm>
            <a:off x="320819" y="1475464"/>
            <a:ext cx="3689810" cy="97729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E74956C-F0B9-E80A-A8CB-101B0FF04588}"/>
              </a:ext>
            </a:extLst>
          </p:cNvPr>
          <p:cNvSpPr txBox="1"/>
          <p:nvPr/>
        </p:nvSpPr>
        <p:spPr>
          <a:xfrm>
            <a:off x="320819" y="3123116"/>
            <a:ext cx="3493942" cy="35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Comparação de 5 tipos de bancos de dados não-relacionais (chave-valor, documentos, colunas, grafos e vetoriais com foco em sua aplicabilidade em cenários envolvendo 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LLMs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. 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Conjectura: bancos de dados vetoriais serão mais indicados para esse tipo de aplicação.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Nos bancos 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vetorias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, o QDRANT é o que melhor atenderá aos requisitos 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8676101-6E4E-5232-CFF9-9158C09B367B}"/>
              </a:ext>
            </a:extLst>
          </p:cNvPr>
          <p:cNvSpPr/>
          <p:nvPr/>
        </p:nvSpPr>
        <p:spPr>
          <a:xfrm>
            <a:off x="320819" y="3123116"/>
            <a:ext cx="3689810" cy="3633874"/>
          </a:xfrm>
          <a:prstGeom prst="roundRect">
            <a:avLst>
              <a:gd name="adj" fmla="val 850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962FA60-3469-50FA-96F2-73E785E252F3}"/>
              </a:ext>
            </a:extLst>
          </p:cNvPr>
          <p:cNvSpPr txBox="1"/>
          <p:nvPr/>
        </p:nvSpPr>
        <p:spPr>
          <a:xfrm>
            <a:off x="4961197" y="1086033"/>
            <a:ext cx="208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4FAF788-85D6-EA1E-63A9-0D452B53A25D}"/>
              </a:ext>
            </a:extLst>
          </p:cNvPr>
          <p:cNvSpPr txBox="1"/>
          <p:nvPr/>
        </p:nvSpPr>
        <p:spPr>
          <a:xfrm>
            <a:off x="4439868" y="1964109"/>
            <a:ext cx="2820698" cy="39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Trabalho ainda está em desenvolvimento. 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Testes serão realizados transformando o 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dataset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em vetores, colocando os resultados nos respectivos bancos de dados.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Observação do desempenho da procura por relevância e a rapidez e acurácia do procedimento. 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DFEDD65-AE69-3AAF-70FB-4E27EFB2C727}"/>
              </a:ext>
            </a:extLst>
          </p:cNvPr>
          <p:cNvSpPr/>
          <p:nvPr/>
        </p:nvSpPr>
        <p:spPr>
          <a:xfrm>
            <a:off x="4491561" y="1475464"/>
            <a:ext cx="2855962" cy="5281526"/>
          </a:xfrm>
          <a:prstGeom prst="roundRect">
            <a:avLst>
              <a:gd name="adj" fmla="val 76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EA16F84-2278-6055-30E9-1E321304F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66" b="89691" l="9936" r="91346">
                        <a14:foregroundMark x1="57051" y1="12371" x2="57051" y2="12371"/>
                        <a14:foregroundMark x1="50000" y1="86598" x2="50000" y2="86598"/>
                        <a14:foregroundMark x1="24679" y1="43986" x2="24679" y2="43986"/>
                        <a14:foregroundMark x1="29167" y1="50172" x2="29167" y2="50172"/>
                        <a14:foregroundMark x1="29808" y1="56014" x2="29808" y2="56014"/>
                        <a14:foregroundMark x1="66346" y1="46392" x2="66346" y2="46392"/>
                        <a14:foregroundMark x1="75321" y1="51546" x2="75321" y2="51546"/>
                        <a14:foregroundMark x1="91346" y1="52921" x2="91346" y2="52921"/>
                        <a14:backgroundMark x1="76282" y1="51546" x2="76282" y2="51546"/>
                        <a14:backgroundMark x1="36859" y1="36426" x2="36859" y2="36426"/>
                        <a14:backgroundMark x1="29487" y1="50859" x2="29487" y2="50859"/>
                        <a14:backgroundMark x1="30128" y1="56701" x2="30128" y2="567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0913" y="119734"/>
            <a:ext cx="936887" cy="87382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9A59E6D-5110-30C6-22F8-FEDA2409CC45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358" y="2560668"/>
            <a:ext cx="4268648" cy="25412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278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 animBg="1"/>
      <p:bldP spid="15" grpId="0"/>
      <p:bldP spid="16" grpId="0" animBg="1"/>
      <p:bldP spid="18" grpId="0"/>
      <p:bldP spid="19" grpId="0"/>
      <p:bldP spid="2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2C7F0-5495-9381-EC78-8055A473F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B779BD0-B419-A1EB-C16A-632C66CC6DC9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 - III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B8C2C26-61BF-8F20-A143-75A6F9395053}"/>
              </a:ext>
            </a:extLst>
          </p:cNvPr>
          <p:cNvSpPr txBox="1"/>
          <p:nvPr/>
        </p:nvSpPr>
        <p:spPr>
          <a:xfrm>
            <a:off x="4664481" y="685785"/>
            <a:ext cx="2532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1400" cap="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PARA LLM</a:t>
            </a:r>
            <a:endParaRPr lang="pt-BR" sz="1400" cap="al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9BF8F3B-00F2-4F6B-979F-B046339E0ED9}"/>
              </a:ext>
            </a:extLst>
          </p:cNvPr>
          <p:cNvSpPr txBox="1"/>
          <p:nvPr/>
        </p:nvSpPr>
        <p:spPr>
          <a:xfrm>
            <a:off x="510925" y="1086033"/>
            <a:ext cx="155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7571229-B633-6D1E-2042-32FBCBA1A324}"/>
              </a:ext>
            </a:extLst>
          </p:cNvPr>
          <p:cNvSpPr txBox="1"/>
          <p:nvPr/>
        </p:nvSpPr>
        <p:spPr>
          <a:xfrm>
            <a:off x="269125" y="1559001"/>
            <a:ext cx="35456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105"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Comparação os vários tipos de </a:t>
            </a:r>
            <a:r>
              <a:rPr lang="pt-BR" altLang="zh-CN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transformers</a:t>
            </a:r>
            <a:r>
              <a:rPr lang="pt-BR" altLang="zh-CN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para 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uso no projeto SB-100.</a:t>
            </a:r>
            <a:r>
              <a:rPr lang="en-US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9C083E6-D720-7486-6A70-A179690D556D}"/>
              </a:ext>
            </a:extLst>
          </p:cNvPr>
          <p:cNvSpPr txBox="1"/>
          <p:nvPr/>
        </p:nvSpPr>
        <p:spPr>
          <a:xfrm>
            <a:off x="464994" y="2560669"/>
            <a:ext cx="208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A9F8EBE-5FE1-11D4-985E-97C1152E56DB}"/>
              </a:ext>
            </a:extLst>
          </p:cNvPr>
          <p:cNvSpPr/>
          <p:nvPr/>
        </p:nvSpPr>
        <p:spPr>
          <a:xfrm>
            <a:off x="320819" y="1475464"/>
            <a:ext cx="3689810" cy="97729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47C0869-74ED-67CB-49E9-9052676804C0}"/>
              </a:ext>
            </a:extLst>
          </p:cNvPr>
          <p:cNvSpPr txBox="1"/>
          <p:nvPr/>
        </p:nvSpPr>
        <p:spPr>
          <a:xfrm>
            <a:off x="320819" y="3123116"/>
            <a:ext cx="3493942" cy="35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Comparação de vários  tipos de com foco em sua aplicabilidade em cenários envolvendo 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LLMs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. 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Conjectura: as soluções de mercado não terá o mesmo nível de profundidade nas respostas que o SB100, porque temos acesso aos dados do boletim 100.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Possibilidade de uma solução híbrida, utilizando o 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transformer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já treinado e fazendo um prompt diferenciado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50EDDA4-BEE4-2D2F-3557-C2924EFDA067}"/>
              </a:ext>
            </a:extLst>
          </p:cNvPr>
          <p:cNvSpPr/>
          <p:nvPr/>
        </p:nvSpPr>
        <p:spPr>
          <a:xfrm>
            <a:off x="320819" y="3123116"/>
            <a:ext cx="3689810" cy="3633874"/>
          </a:xfrm>
          <a:prstGeom prst="roundRect">
            <a:avLst>
              <a:gd name="adj" fmla="val 850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67DEED5-27DE-8471-F3BC-5C220C9AE520}"/>
              </a:ext>
            </a:extLst>
          </p:cNvPr>
          <p:cNvSpPr txBox="1"/>
          <p:nvPr/>
        </p:nvSpPr>
        <p:spPr>
          <a:xfrm>
            <a:off x="4961197" y="1086033"/>
            <a:ext cx="208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D1CFD61-45A9-2204-250E-D352BE33F2E2}"/>
              </a:ext>
            </a:extLst>
          </p:cNvPr>
          <p:cNvSpPr txBox="1"/>
          <p:nvPr/>
        </p:nvSpPr>
        <p:spPr>
          <a:xfrm>
            <a:off x="4439868" y="1964109"/>
            <a:ext cx="2820698" cy="35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Trabalho ainda está em desenvolvimento. 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Testes serão realizados com vários 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transformers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, objetivando encontrar a solução que fornece a melhor acurácia nas respostas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Possbilidade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de feedback através de projetos de living Lab.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F6EE24B-71AC-75CC-9AEB-880FB5ED4470}"/>
              </a:ext>
            </a:extLst>
          </p:cNvPr>
          <p:cNvSpPr/>
          <p:nvPr/>
        </p:nvSpPr>
        <p:spPr>
          <a:xfrm>
            <a:off x="4491561" y="1475464"/>
            <a:ext cx="2855962" cy="5281526"/>
          </a:xfrm>
          <a:prstGeom prst="roundRect">
            <a:avLst>
              <a:gd name="adj" fmla="val 76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FAFB6CA-25B0-08B3-2808-9B113622C7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8796" y="193719"/>
            <a:ext cx="801122" cy="76462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EEB05C3-6ED5-8696-08EF-0F72C9D917F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860089" y="809730"/>
            <a:ext cx="4251215" cy="547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03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 animBg="1"/>
      <p:bldP spid="15" grpId="0"/>
      <p:bldP spid="16" grpId="0" animBg="1"/>
      <p:bldP spid="18" grpId="0"/>
      <p:bldP spid="19" grpId="0"/>
      <p:bldP spid="2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50AEB-C5C7-E78B-23BF-1AF816B78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29D36A6-9C62-67C7-10A3-360A8EB2FDD2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CCD SB100 – Resultados preliminares - III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FB46F1D-A743-BDA7-FDBC-E9A2B32F78B4}"/>
              </a:ext>
            </a:extLst>
          </p:cNvPr>
          <p:cNvSpPr txBox="1"/>
          <p:nvPr/>
        </p:nvSpPr>
        <p:spPr>
          <a:xfrm>
            <a:off x="4664481" y="685785"/>
            <a:ext cx="2248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1400" cap="all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r>
              <a:rPr lang="pt-BR" altLang="zh-CN" sz="1400" cap="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PARA USO EM LLM</a:t>
            </a:r>
            <a:endParaRPr lang="pt-BR" sz="1400" cap="al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1A615BF-009A-6006-3D97-C85F762CB5DD}"/>
              </a:ext>
            </a:extLst>
          </p:cNvPr>
          <p:cNvSpPr txBox="1"/>
          <p:nvPr/>
        </p:nvSpPr>
        <p:spPr>
          <a:xfrm>
            <a:off x="510925" y="1086033"/>
            <a:ext cx="155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AA35DA8-F8AA-451C-3B90-9B824A4C343E}"/>
              </a:ext>
            </a:extLst>
          </p:cNvPr>
          <p:cNvSpPr txBox="1"/>
          <p:nvPr/>
        </p:nvSpPr>
        <p:spPr>
          <a:xfrm>
            <a:off x="269125" y="1559001"/>
            <a:ext cx="35456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105"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Melhorar a capacidade dos </a:t>
            </a:r>
            <a:r>
              <a:rPr lang="pt-BR" sz="1400" dirty="0" err="1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LLMs</a:t>
            </a: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ao integrar fontes externas</a:t>
            </a:r>
            <a:endParaRPr lang="en-US" sz="1400" dirty="0">
              <a:solidFill>
                <a:srgbClr val="2C4A24"/>
              </a:solidFill>
              <a:latin typeface="Times New Roman" panose="02020603050405020304" pitchFamily="18" charset="0"/>
              <a:ea typeface="Questrial"/>
              <a:cs typeface="Times New Roman" panose="02020603050405020304" pitchFamily="18" charset="0"/>
              <a:sym typeface="Questrial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EEBA3D8-307D-BE30-0D08-52226958B5D6}"/>
              </a:ext>
            </a:extLst>
          </p:cNvPr>
          <p:cNvSpPr txBox="1"/>
          <p:nvPr/>
        </p:nvSpPr>
        <p:spPr>
          <a:xfrm>
            <a:off x="464994" y="2560669"/>
            <a:ext cx="208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DAA86D6-6C63-EC3C-EA38-1DD31BCB098D}"/>
              </a:ext>
            </a:extLst>
          </p:cNvPr>
          <p:cNvSpPr/>
          <p:nvPr/>
        </p:nvSpPr>
        <p:spPr>
          <a:xfrm>
            <a:off x="320819" y="1475464"/>
            <a:ext cx="3689810" cy="97729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7DB8F1E-2B77-54AD-B945-F694D0556B96}"/>
              </a:ext>
            </a:extLst>
          </p:cNvPr>
          <p:cNvSpPr txBox="1"/>
          <p:nvPr/>
        </p:nvSpPr>
        <p:spPr>
          <a:xfrm>
            <a:off x="294971" y="3037916"/>
            <a:ext cx="3493942" cy="29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A consulta do usuário é usada para buscar informações em uma base de conhecimento externa.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As informações relevantes são combinadas com a consulta original e fornecidas ao LLM.</a:t>
            </a:r>
          </a:p>
          <a:p>
            <a:pPr marL="410211" lvl="1" indent="-205106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O LLM gera uma resposta mais precisa e informada.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4BF86C0-6700-6565-99E4-023892A730F0}"/>
              </a:ext>
            </a:extLst>
          </p:cNvPr>
          <p:cNvSpPr/>
          <p:nvPr/>
        </p:nvSpPr>
        <p:spPr>
          <a:xfrm>
            <a:off x="320819" y="2971714"/>
            <a:ext cx="3689810" cy="3633874"/>
          </a:xfrm>
          <a:prstGeom prst="roundRect">
            <a:avLst>
              <a:gd name="adj" fmla="val 850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E9EC828-3CCD-15A6-0400-E4CBD49FD3AB}"/>
              </a:ext>
            </a:extLst>
          </p:cNvPr>
          <p:cNvSpPr txBox="1"/>
          <p:nvPr/>
        </p:nvSpPr>
        <p:spPr>
          <a:xfrm>
            <a:off x="4961197" y="1086033"/>
            <a:ext cx="208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8811D4E-D052-8C9A-03EA-1944A53B20E1}"/>
              </a:ext>
            </a:extLst>
          </p:cNvPr>
          <p:cNvSpPr txBox="1"/>
          <p:nvPr/>
        </p:nvSpPr>
        <p:spPr>
          <a:xfrm>
            <a:off x="4583961" y="1534523"/>
            <a:ext cx="724651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0211" lvl="1" indent="-205106" algn="just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Trabalho ainda está em desenvolvimento. </a:t>
            </a:r>
          </a:p>
          <a:p>
            <a:pPr marL="410211" lvl="1" indent="-205106" algn="just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Testes serão realizados com vários LLM, objetivando encontrar a solução que fornece a melhor acurácia nas respostas</a:t>
            </a:r>
          </a:p>
          <a:p>
            <a:pPr marL="410211" lvl="1" indent="-205106" algn="just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pt-BR" sz="1400" dirty="0">
                <a:solidFill>
                  <a:srgbClr val="2C4A24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Possibilidade de feedback através de projetos de living Lab.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9F04D54-DA02-90B2-578D-35985E43BA64}"/>
              </a:ext>
            </a:extLst>
          </p:cNvPr>
          <p:cNvSpPr/>
          <p:nvPr/>
        </p:nvSpPr>
        <p:spPr>
          <a:xfrm>
            <a:off x="4491561" y="1475465"/>
            <a:ext cx="7431314" cy="1300842"/>
          </a:xfrm>
          <a:prstGeom prst="roundRect">
            <a:avLst>
              <a:gd name="adj" fmla="val 765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5C0C9CA-72A9-04F0-D62E-C1644EE65D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5967" b="93079" l="5923" r="92711">
                        <a14:foregroundMark x1="13667" y1="12172" x2="33713" y2="29117"/>
                        <a14:foregroundMark x1="5923" y1="17184" x2="8200" y2="18138"/>
                        <a14:foregroundMark x1="6378" y1="9069" x2="11390" y2="11933"/>
                        <a14:foregroundMark x1="14806" y1="45823" x2="23690" y2="77327"/>
                        <a14:foregroundMark x1="43736" y1="36038" x2="46925" y2="60143"/>
                        <a14:foregroundMark x1="46925" y1="60143" x2="54442" y2="41050"/>
                        <a14:foregroundMark x1="44419" y1="86874" x2="52847" y2="89976"/>
                        <a14:foregroundMark x1="34624" y1="92124" x2="34624" y2="92124"/>
                        <a14:foregroundMark x1="42597" y1="93556" x2="51253" y2="93317"/>
                        <a14:foregroundMark x1="62642" y1="59427" x2="64009" y2="83771"/>
                        <a14:foregroundMark x1="35991" y1="63007" x2="35991" y2="86874"/>
                        <a14:foregroundMark x1="38269" y1="77566" x2="55353" y2="77088"/>
                        <a14:foregroundMark x1="55353" y1="77088" x2="60820" y2="77088"/>
                        <a14:foregroundMark x1="61503" y1="57279" x2="65831" y2="84726"/>
                        <a14:foregroundMark x1="49886" y1="54177" x2="50114" y2="70883"/>
                        <a14:foregroundMark x1="10934" y1="30310" x2="30296" y2="43198"/>
                        <a14:foregroundMark x1="15718" y1="23150" x2="31435" y2="34845"/>
                        <a14:foregroundMark x1="36674" y1="30072" x2="36674" y2="45107"/>
                        <a14:foregroundMark x1="34624" y1="57518" x2="40547" y2="53699"/>
                        <a14:foregroundMark x1="86560" y1="45823" x2="76765" y2="80907"/>
                        <a14:foregroundMark x1="89977" y1="31981" x2="77904" y2="41527"/>
                        <a14:foregroundMark x1="77904" y1="41527" x2="66059" y2="43914"/>
                        <a14:foregroundMark x1="66059" y1="43914" x2="63098" y2="31026"/>
                        <a14:foregroundMark x1="63098" y1="31026" x2="84966" y2="15274"/>
                        <a14:foregroundMark x1="84966" y1="15274" x2="88383" y2="9547"/>
                        <a14:foregroundMark x1="71526" y1="33174" x2="92027" y2="19332"/>
                        <a14:foregroundMark x1="92027" y1="19332" x2="92711" y2="19093"/>
                        <a14:foregroundMark x1="92711" y1="6683" x2="91800" y2="12172"/>
                        <a14:foregroundMark x1="30524" y1="12172" x2="48292" y2="26253"/>
                        <a14:foregroundMark x1="36902" y1="7160" x2="52392" y2="5967"/>
                        <a14:foregroundMark x1="52392" y1="5967" x2="66287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8796" y="193719"/>
            <a:ext cx="801122" cy="764625"/>
          </a:xfrm>
          <a:prstGeom prst="rect">
            <a:avLst/>
          </a:prstGeom>
        </p:spPr>
      </p:pic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270F987A-63F6-2B5F-FE55-AA4EC13494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10"/>
          <a:stretch/>
        </p:blipFill>
        <p:spPr>
          <a:xfrm>
            <a:off x="4236924" y="2930001"/>
            <a:ext cx="7685951" cy="345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5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 animBg="1"/>
      <p:bldP spid="15" grpId="0"/>
      <p:bldP spid="16" grpId="0" animBg="1"/>
      <p:bldP spid="18" grpId="0"/>
      <p:bldP spid="19" grpId="0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D6119-A9F1-7E32-27C6-D664A7117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46F43C6-2562-8456-61C9-483BABDD5D21}"/>
              </a:ext>
            </a:extLst>
          </p:cNvPr>
          <p:cNvSpPr txBox="1"/>
          <p:nvPr/>
        </p:nvSpPr>
        <p:spPr>
          <a:xfrm>
            <a:off x="1530534" y="101010"/>
            <a:ext cx="836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Etapas dos processos do LLM para SB100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467DC96-0DF1-005A-50A8-7D8C2CB8C127}"/>
              </a:ext>
            </a:extLst>
          </p:cNvPr>
          <p:cNvSpPr/>
          <p:nvPr/>
        </p:nvSpPr>
        <p:spPr>
          <a:xfrm rot="5400000">
            <a:off x="7880049" y="4508059"/>
            <a:ext cx="990796" cy="10634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B3A0D2F-78E5-B3B6-B00D-3671C6623587}"/>
              </a:ext>
            </a:extLst>
          </p:cNvPr>
          <p:cNvSpPr/>
          <p:nvPr/>
        </p:nvSpPr>
        <p:spPr>
          <a:xfrm rot="5400000">
            <a:off x="7736757" y="4614860"/>
            <a:ext cx="990796" cy="106347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Fluxograma: Disco Magnético 18">
            <a:extLst>
              <a:ext uri="{FF2B5EF4-FFF2-40B4-BE49-F238E27FC236}">
                <a16:creationId xmlns:a16="http://schemas.microsoft.com/office/drawing/2014/main" id="{F8D7069D-845B-4CB2-6EBE-09737A23F80A}"/>
              </a:ext>
            </a:extLst>
          </p:cNvPr>
          <p:cNvSpPr/>
          <p:nvPr/>
        </p:nvSpPr>
        <p:spPr>
          <a:xfrm>
            <a:off x="3839671" y="1279139"/>
            <a:ext cx="988841" cy="149761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luxograma: Disco Magnético 20">
            <a:extLst>
              <a:ext uri="{FF2B5EF4-FFF2-40B4-BE49-F238E27FC236}">
                <a16:creationId xmlns:a16="http://schemas.microsoft.com/office/drawing/2014/main" id="{676BA490-A099-B9BB-DAAB-88E14F9EA7E1}"/>
              </a:ext>
            </a:extLst>
          </p:cNvPr>
          <p:cNvSpPr/>
          <p:nvPr/>
        </p:nvSpPr>
        <p:spPr>
          <a:xfrm>
            <a:off x="5649769" y="887506"/>
            <a:ext cx="288578" cy="474285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luxograma: Disco Magnético 21">
            <a:extLst>
              <a:ext uri="{FF2B5EF4-FFF2-40B4-BE49-F238E27FC236}">
                <a16:creationId xmlns:a16="http://schemas.microsoft.com/office/drawing/2014/main" id="{855C7C69-68CC-5AFC-084C-94273D2DDCA4}"/>
              </a:ext>
            </a:extLst>
          </p:cNvPr>
          <p:cNvSpPr/>
          <p:nvPr/>
        </p:nvSpPr>
        <p:spPr>
          <a:xfrm>
            <a:off x="6048748" y="966086"/>
            <a:ext cx="288578" cy="474285"/>
          </a:xfrm>
          <a:prstGeom prst="flowChartMagneticDisk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luxograma: Disco Magnético 22">
            <a:extLst>
              <a:ext uri="{FF2B5EF4-FFF2-40B4-BE49-F238E27FC236}">
                <a16:creationId xmlns:a16="http://schemas.microsoft.com/office/drawing/2014/main" id="{8DF91F40-D791-F05E-E5BC-D11A2A733DF1}"/>
              </a:ext>
            </a:extLst>
          </p:cNvPr>
          <p:cNvSpPr/>
          <p:nvPr/>
        </p:nvSpPr>
        <p:spPr>
          <a:xfrm>
            <a:off x="5981370" y="1498743"/>
            <a:ext cx="288578" cy="47428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luxograma: Disco Magnético 23">
            <a:extLst>
              <a:ext uri="{FF2B5EF4-FFF2-40B4-BE49-F238E27FC236}">
                <a16:creationId xmlns:a16="http://schemas.microsoft.com/office/drawing/2014/main" id="{B492FAAE-2A35-9A49-E9ED-DF5F54A3B82B}"/>
              </a:ext>
            </a:extLst>
          </p:cNvPr>
          <p:cNvSpPr/>
          <p:nvPr/>
        </p:nvSpPr>
        <p:spPr>
          <a:xfrm>
            <a:off x="5615013" y="1467182"/>
            <a:ext cx="288578" cy="474285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Fluxograma: Disco Magnético 24">
            <a:extLst>
              <a:ext uri="{FF2B5EF4-FFF2-40B4-BE49-F238E27FC236}">
                <a16:creationId xmlns:a16="http://schemas.microsoft.com/office/drawing/2014/main" id="{7EBCF357-4C94-7661-3725-686438BE9A7A}"/>
              </a:ext>
            </a:extLst>
          </p:cNvPr>
          <p:cNvSpPr/>
          <p:nvPr/>
        </p:nvSpPr>
        <p:spPr>
          <a:xfrm>
            <a:off x="6316960" y="1359872"/>
            <a:ext cx="288578" cy="474285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7F8A9E73-BBD3-11EB-3521-98E9D71949E2}"/>
              </a:ext>
            </a:extLst>
          </p:cNvPr>
          <p:cNvSpPr/>
          <p:nvPr/>
        </p:nvSpPr>
        <p:spPr>
          <a:xfrm rot="2418780">
            <a:off x="4827974" y="2771577"/>
            <a:ext cx="781534" cy="132515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BFAB636-1AC0-7F23-9D43-05390593A3E3}"/>
              </a:ext>
            </a:extLst>
          </p:cNvPr>
          <p:cNvGrpSpPr/>
          <p:nvPr/>
        </p:nvGrpSpPr>
        <p:grpSpPr>
          <a:xfrm>
            <a:off x="7628459" y="2070076"/>
            <a:ext cx="1319329" cy="1275504"/>
            <a:chOff x="5895039" y="1868765"/>
            <a:chExt cx="1618272" cy="1618272"/>
          </a:xfrm>
        </p:grpSpPr>
        <p:pic>
          <p:nvPicPr>
            <p:cNvPr id="92" name="Picture 4">
              <a:extLst>
                <a:ext uri="{FF2B5EF4-FFF2-40B4-BE49-F238E27FC236}">
                  <a16:creationId xmlns:a16="http://schemas.microsoft.com/office/drawing/2014/main" id="{B715A2CA-FBFB-C400-AE7C-3EE083655E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5039" y="1868765"/>
              <a:ext cx="1618272" cy="1618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3" name="CaixaDeTexto 92">
              <a:extLst>
                <a:ext uri="{FF2B5EF4-FFF2-40B4-BE49-F238E27FC236}">
                  <a16:creationId xmlns:a16="http://schemas.microsoft.com/office/drawing/2014/main" id="{60C88166-9C58-14F1-4958-F9CD1111FF9E}"/>
                </a:ext>
              </a:extLst>
            </p:cNvPr>
            <p:cNvSpPr txBox="1"/>
            <p:nvPr/>
          </p:nvSpPr>
          <p:spPr>
            <a:xfrm>
              <a:off x="6151780" y="2225923"/>
              <a:ext cx="1217485" cy="351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0 1 0 0 1 0 0 </a:t>
              </a:r>
            </a:p>
          </p:txBody>
        </p: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6E735907-C122-352F-2CC7-4FBA25CE9C45}"/>
                </a:ext>
              </a:extLst>
            </p:cNvPr>
            <p:cNvSpPr txBox="1"/>
            <p:nvPr/>
          </p:nvSpPr>
          <p:spPr>
            <a:xfrm>
              <a:off x="6151780" y="2420378"/>
              <a:ext cx="1217485" cy="351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1 0 0 1 0 0 1 </a:t>
              </a:r>
            </a:p>
          </p:txBody>
        </p:sp>
        <p:sp>
          <p:nvSpPr>
            <p:cNvPr id="95" name="CaixaDeTexto 94">
              <a:extLst>
                <a:ext uri="{FF2B5EF4-FFF2-40B4-BE49-F238E27FC236}">
                  <a16:creationId xmlns:a16="http://schemas.microsoft.com/office/drawing/2014/main" id="{1C0F60E5-5921-FE29-FCDA-6CA17AAE7FD5}"/>
                </a:ext>
              </a:extLst>
            </p:cNvPr>
            <p:cNvSpPr txBox="1"/>
            <p:nvPr/>
          </p:nvSpPr>
          <p:spPr>
            <a:xfrm>
              <a:off x="6151780" y="2614834"/>
              <a:ext cx="1217485" cy="351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1 0 0 1 0 1 0 </a:t>
              </a:r>
            </a:p>
          </p:txBody>
        </p:sp>
        <p:sp>
          <p:nvSpPr>
            <p:cNvPr id="96" name="CaixaDeTexto 95">
              <a:extLst>
                <a:ext uri="{FF2B5EF4-FFF2-40B4-BE49-F238E27FC236}">
                  <a16:creationId xmlns:a16="http://schemas.microsoft.com/office/drawing/2014/main" id="{C24674B4-279B-09F5-CEB5-67C658E41CAB}"/>
                </a:ext>
              </a:extLst>
            </p:cNvPr>
            <p:cNvSpPr txBox="1"/>
            <p:nvPr/>
          </p:nvSpPr>
          <p:spPr>
            <a:xfrm>
              <a:off x="6151780" y="2812058"/>
              <a:ext cx="1217485" cy="351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1 1 1 1 1 1 0 </a:t>
              </a:r>
            </a:p>
          </p:txBody>
        </p:sp>
      </p:grp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3AE0C045-C151-09F7-8BC0-C5B8F1424A2C}"/>
              </a:ext>
            </a:extLst>
          </p:cNvPr>
          <p:cNvSpPr/>
          <p:nvPr/>
        </p:nvSpPr>
        <p:spPr>
          <a:xfrm rot="5400000">
            <a:off x="7558790" y="4735118"/>
            <a:ext cx="990796" cy="1063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160A4BF3-4BF3-38EA-A22E-03AFCBE2A07B}"/>
              </a:ext>
            </a:extLst>
          </p:cNvPr>
          <p:cNvSpPr/>
          <p:nvPr/>
        </p:nvSpPr>
        <p:spPr>
          <a:xfrm rot="5400000">
            <a:off x="7686573" y="4889671"/>
            <a:ext cx="990796" cy="10634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D39D645A-433A-7753-50DE-A22FB07988F7}"/>
              </a:ext>
            </a:extLst>
          </p:cNvPr>
          <p:cNvSpPr/>
          <p:nvPr/>
        </p:nvSpPr>
        <p:spPr>
          <a:xfrm rot="5400000">
            <a:off x="7818353" y="5018345"/>
            <a:ext cx="990796" cy="10634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C0E05B89-C09F-CA9C-ECBA-661AEE7B4D6E}"/>
              </a:ext>
            </a:extLst>
          </p:cNvPr>
          <p:cNvSpPr/>
          <p:nvPr/>
        </p:nvSpPr>
        <p:spPr>
          <a:xfrm rot="5400000">
            <a:off x="8023342" y="4434390"/>
            <a:ext cx="990796" cy="10634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BD872CB1-3AB2-6935-B825-4F854FDA069A}"/>
              </a:ext>
            </a:extLst>
          </p:cNvPr>
          <p:cNvSpPr/>
          <p:nvPr/>
        </p:nvSpPr>
        <p:spPr>
          <a:xfrm rot="5400000">
            <a:off x="7950133" y="5147019"/>
            <a:ext cx="990796" cy="10634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E16A2FA2-CD6C-0CB0-77FD-11A91C6704FA}"/>
              </a:ext>
            </a:extLst>
          </p:cNvPr>
          <p:cNvGrpSpPr/>
          <p:nvPr/>
        </p:nvGrpSpPr>
        <p:grpSpPr>
          <a:xfrm>
            <a:off x="6034544" y="4809844"/>
            <a:ext cx="887447" cy="1197259"/>
            <a:chOff x="8653867" y="675843"/>
            <a:chExt cx="1474668" cy="1976474"/>
          </a:xfrm>
        </p:grpSpPr>
        <p:pic>
          <p:nvPicPr>
            <p:cNvPr id="73" name="Picture 4" descr="Puzzle Piece Coloring Page - Peça De Quebra Cabeça (1000x1000)">
              <a:extLst>
                <a:ext uri="{FF2B5EF4-FFF2-40B4-BE49-F238E27FC236}">
                  <a16:creationId xmlns:a16="http://schemas.microsoft.com/office/drawing/2014/main" id="{CB579CE2-6A3D-54EE-EE1C-6663F4B194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452908">
              <a:off x="9616603" y="1277239"/>
              <a:ext cx="422174" cy="465768"/>
            </a:xfrm>
            <a:prstGeom prst="rect">
              <a:avLst/>
            </a:prstGeom>
            <a:noFill/>
          </p:spPr>
        </p:pic>
        <p:grpSp>
          <p:nvGrpSpPr>
            <p:cNvPr id="74" name="Agrupar 73">
              <a:extLst>
                <a:ext uri="{FF2B5EF4-FFF2-40B4-BE49-F238E27FC236}">
                  <a16:creationId xmlns:a16="http://schemas.microsoft.com/office/drawing/2014/main" id="{0B7FCA63-3668-BDD2-D82F-F19DB3FF9EED}"/>
                </a:ext>
              </a:extLst>
            </p:cNvPr>
            <p:cNvGrpSpPr/>
            <p:nvPr/>
          </p:nvGrpSpPr>
          <p:grpSpPr>
            <a:xfrm>
              <a:off x="8653867" y="1754933"/>
              <a:ext cx="1474668" cy="897384"/>
              <a:chOff x="5358666" y="4208390"/>
              <a:chExt cx="1474668" cy="897384"/>
            </a:xfrm>
          </p:grpSpPr>
          <p:pic>
            <p:nvPicPr>
              <p:cNvPr id="85" name="Picture 4" descr="Puzzle Piece Coloring Page - Peça De Quebra Cabeça (1000x1000)">
                <a:extLst>
                  <a:ext uri="{FF2B5EF4-FFF2-40B4-BE49-F238E27FC236}">
                    <a16:creationId xmlns:a16="http://schemas.microsoft.com/office/drawing/2014/main" id="{E54D6110-847B-9AEB-8D64-315D9C7CA9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624600">
                <a:off x="5392125" y="4204342"/>
                <a:ext cx="402630" cy="444206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</p:pic>
          <p:pic>
            <p:nvPicPr>
              <p:cNvPr id="86" name="Picture 4" descr="Puzzle Piece Coloring Page - Peça De Quebra Cabeça (1000x1000)">
                <a:extLst>
                  <a:ext uri="{FF2B5EF4-FFF2-40B4-BE49-F238E27FC236}">
                    <a16:creationId xmlns:a16="http://schemas.microsoft.com/office/drawing/2014/main" id="{1AC8B318-3505-CCE0-1851-83E9F60110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>
                <a:off x="5358667" y="4627538"/>
                <a:ext cx="402630" cy="444206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</p:pic>
          <p:pic>
            <p:nvPicPr>
              <p:cNvPr id="87" name="Picture 4" descr="Puzzle Piece Coloring Page - Peça De Quebra Cabeça (1000x1000)">
                <a:extLst>
                  <a:ext uri="{FF2B5EF4-FFF2-40B4-BE49-F238E27FC236}">
                    <a16:creationId xmlns:a16="http://schemas.microsoft.com/office/drawing/2014/main" id="{9B55FF20-FF22-9C01-2DAA-F045493055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624600">
                <a:off x="5861671" y="4229740"/>
                <a:ext cx="402630" cy="444206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</p:pic>
          <p:pic>
            <p:nvPicPr>
              <p:cNvPr id="88" name="Picture 4" descr="Puzzle Piece Coloring Page - Peça De Quebra Cabeça (1000x1000)">
                <a:extLst>
                  <a:ext uri="{FF2B5EF4-FFF2-40B4-BE49-F238E27FC236}">
                    <a16:creationId xmlns:a16="http://schemas.microsoft.com/office/drawing/2014/main" id="{32FDB62B-16E2-81F3-A690-9764F89666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624600">
                <a:off x="6335036" y="4682356"/>
                <a:ext cx="402630" cy="444206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</p:pic>
          <p:pic>
            <p:nvPicPr>
              <p:cNvPr id="89" name="Picture 4" descr="Puzzle Piece Coloring Page - Peça De Quebra Cabeça (1000x1000)">
                <a:extLst>
                  <a:ext uri="{FF2B5EF4-FFF2-40B4-BE49-F238E27FC236}">
                    <a16:creationId xmlns:a16="http://schemas.microsoft.com/office/drawing/2014/main" id="{74E5A70F-5C1F-3D7F-2E11-EB676B910B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624600">
                <a:off x="5794754" y="4618305"/>
                <a:ext cx="402630" cy="444206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</p:pic>
          <p:sp>
            <p:nvSpPr>
              <p:cNvPr id="91" name="Retângulo 90">
                <a:extLst>
                  <a:ext uri="{FF2B5EF4-FFF2-40B4-BE49-F238E27FC236}">
                    <a16:creationId xmlns:a16="http://schemas.microsoft.com/office/drawing/2014/main" id="{C1B3A672-86EE-5F2C-C7C7-B4C58E41898A}"/>
                  </a:ext>
                </a:extLst>
              </p:cNvPr>
              <p:cNvSpPr/>
              <p:nvPr/>
            </p:nvSpPr>
            <p:spPr>
              <a:xfrm>
                <a:off x="5358666" y="4208390"/>
                <a:ext cx="1474668" cy="88840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76" name="Picture 6">
              <a:extLst>
                <a:ext uri="{FF2B5EF4-FFF2-40B4-BE49-F238E27FC236}">
                  <a16:creationId xmlns:a16="http://schemas.microsoft.com/office/drawing/2014/main" id="{7A5E0B13-0E61-6D77-E591-ABAE3B0036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61" r="2008" b="73408"/>
            <a:stretch/>
          </p:blipFill>
          <p:spPr bwMode="auto">
            <a:xfrm>
              <a:off x="8960761" y="675843"/>
              <a:ext cx="366749" cy="3497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Picture 6">
              <a:extLst>
                <a:ext uri="{FF2B5EF4-FFF2-40B4-BE49-F238E27FC236}">
                  <a16:creationId xmlns:a16="http://schemas.microsoft.com/office/drawing/2014/main" id="{83E32D3C-BE4D-6C36-0CB4-FD72806B48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6505" r="78139"/>
            <a:stretch/>
          </p:blipFill>
          <p:spPr bwMode="auto">
            <a:xfrm rot="3612037">
              <a:off x="9628650" y="885954"/>
              <a:ext cx="381217" cy="430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" name="Picture 6">
              <a:extLst>
                <a:ext uri="{FF2B5EF4-FFF2-40B4-BE49-F238E27FC236}">
                  <a16:creationId xmlns:a16="http://schemas.microsoft.com/office/drawing/2014/main" id="{4DB7B1D6-4DB1-5B6B-18F9-F5C28F4798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2854" b="76611"/>
            <a:stretch/>
          </p:blipFill>
          <p:spPr bwMode="auto">
            <a:xfrm rot="3612037">
              <a:off x="8716937" y="1185948"/>
              <a:ext cx="473396" cy="300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" name="Picture 6">
              <a:extLst>
                <a:ext uri="{FF2B5EF4-FFF2-40B4-BE49-F238E27FC236}">
                  <a16:creationId xmlns:a16="http://schemas.microsoft.com/office/drawing/2014/main" id="{BE602B6E-82E5-A11D-3C77-9FEA2D078D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62" t="33374" r="-1897" b="33907"/>
            <a:stretch/>
          </p:blipFill>
          <p:spPr bwMode="auto">
            <a:xfrm>
              <a:off x="9203356" y="931967"/>
              <a:ext cx="436484" cy="4303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0" name="Picture 6">
              <a:extLst>
                <a:ext uri="{FF2B5EF4-FFF2-40B4-BE49-F238E27FC236}">
                  <a16:creationId xmlns:a16="http://schemas.microsoft.com/office/drawing/2014/main" id="{E88AD7C2-66F2-070B-A937-5D128A4F23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743" t="69130" r="-974" b="2240"/>
            <a:stretch/>
          </p:blipFill>
          <p:spPr bwMode="auto">
            <a:xfrm>
              <a:off x="9056497" y="1337418"/>
              <a:ext cx="522193" cy="3765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1" name="Conector reto 80">
              <a:extLst>
                <a:ext uri="{FF2B5EF4-FFF2-40B4-BE49-F238E27FC236}">
                  <a16:creationId xmlns:a16="http://schemas.microsoft.com/office/drawing/2014/main" id="{3AD3EC02-664B-6358-288C-BDEAFCD2634F}"/>
                </a:ext>
              </a:extLst>
            </p:cNvPr>
            <p:cNvCxnSpPr>
              <a:stCxn id="73" idx="2"/>
            </p:cNvCxnSpPr>
            <p:nvPr/>
          </p:nvCxnSpPr>
          <p:spPr>
            <a:xfrm>
              <a:off x="9631172" y="1635085"/>
              <a:ext cx="8668" cy="464647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to 83">
              <a:extLst>
                <a:ext uri="{FF2B5EF4-FFF2-40B4-BE49-F238E27FC236}">
                  <a16:creationId xmlns:a16="http://schemas.microsoft.com/office/drawing/2014/main" id="{D857CF4F-4ABC-D255-A04A-B6679D5EF026}"/>
                </a:ext>
              </a:extLst>
            </p:cNvPr>
            <p:cNvCxnSpPr>
              <a:cxnSpLocks/>
            </p:cNvCxnSpPr>
            <p:nvPr/>
          </p:nvCxnSpPr>
          <p:spPr>
            <a:xfrm>
              <a:off x="9995589" y="1565696"/>
              <a:ext cx="0" cy="522583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Imagem 35">
            <a:extLst>
              <a:ext uri="{FF2B5EF4-FFF2-40B4-BE49-F238E27FC236}">
                <a16:creationId xmlns:a16="http://schemas.microsoft.com/office/drawing/2014/main" id="{8BA21244-BCA3-9B76-F66A-793B00F889E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94816" y="4824001"/>
            <a:ext cx="818484" cy="990796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5E3B3105-7297-5709-D5B5-C82BCADC6FD7}"/>
              </a:ext>
            </a:extLst>
          </p:cNvPr>
          <p:cNvSpPr txBox="1"/>
          <p:nvPr/>
        </p:nvSpPr>
        <p:spPr>
          <a:xfrm>
            <a:off x="3837683" y="1895570"/>
            <a:ext cx="100164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Informações da Curadoria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2786F66D-265E-4282-695A-79C07350F415}"/>
              </a:ext>
            </a:extLst>
          </p:cNvPr>
          <p:cNvSpPr txBox="1"/>
          <p:nvPr/>
        </p:nvSpPr>
        <p:spPr>
          <a:xfrm>
            <a:off x="6248726" y="2306454"/>
            <a:ext cx="10154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Metadados classificados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98B4C62-83A9-38D0-0618-4B8362537844}"/>
              </a:ext>
            </a:extLst>
          </p:cNvPr>
          <p:cNvSpPr txBox="1"/>
          <p:nvPr/>
        </p:nvSpPr>
        <p:spPr>
          <a:xfrm rot="20297936">
            <a:off x="6732434" y="3184242"/>
            <a:ext cx="1266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Metadados vetorizados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297CA6F-9296-21FB-3DB9-AD6031B3BEEF}"/>
              </a:ext>
            </a:extLst>
          </p:cNvPr>
          <p:cNvSpPr txBox="1"/>
          <p:nvPr/>
        </p:nvSpPr>
        <p:spPr>
          <a:xfrm>
            <a:off x="5752135" y="5964043"/>
            <a:ext cx="139095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Metadados agrupados por similaridades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38B3094D-BAB9-849E-1D2C-C1B9CBB5015B}"/>
              </a:ext>
            </a:extLst>
          </p:cNvPr>
          <p:cNvSpPr txBox="1"/>
          <p:nvPr/>
        </p:nvSpPr>
        <p:spPr>
          <a:xfrm rot="2199465">
            <a:off x="6410451" y="4494049"/>
            <a:ext cx="1480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Padrões de informação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2770B4C-AE2A-BD5F-4EF8-6600BD539884}"/>
              </a:ext>
            </a:extLst>
          </p:cNvPr>
          <p:cNvSpPr txBox="1"/>
          <p:nvPr/>
        </p:nvSpPr>
        <p:spPr>
          <a:xfrm>
            <a:off x="4172178" y="5814796"/>
            <a:ext cx="1194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Conhecimento estruturado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B6E4DB6-E1EE-1586-0D28-EFF8A57F7AE7}"/>
              </a:ext>
            </a:extLst>
          </p:cNvPr>
          <p:cNvSpPr txBox="1"/>
          <p:nvPr/>
        </p:nvSpPr>
        <p:spPr>
          <a:xfrm>
            <a:off x="5128815" y="2196363"/>
            <a:ext cx="753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Seleção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223662EA-8CC7-3228-574D-54CC96137ABC}"/>
              </a:ext>
            </a:extLst>
          </p:cNvPr>
          <p:cNvSpPr txBox="1"/>
          <p:nvPr/>
        </p:nvSpPr>
        <p:spPr>
          <a:xfrm rot="20358226">
            <a:off x="6595905" y="2661421"/>
            <a:ext cx="12795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Pré-procesamento</a:t>
            </a:r>
            <a:endParaRPr lang="pt-BR" sz="1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FD4E2139-A5B2-C8D6-4CE2-C9D28CD31546}"/>
              </a:ext>
            </a:extLst>
          </p:cNvPr>
          <p:cNvSpPr txBox="1"/>
          <p:nvPr/>
        </p:nvSpPr>
        <p:spPr>
          <a:xfrm rot="16200000">
            <a:off x="5554052" y="4295729"/>
            <a:ext cx="8621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Mineração de dados</a:t>
            </a:r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B8AC05BD-3414-261F-BD64-F1DEB5062DE0}"/>
              </a:ext>
            </a:extLst>
          </p:cNvPr>
          <p:cNvGrpSpPr/>
          <p:nvPr/>
        </p:nvGrpSpPr>
        <p:grpSpPr>
          <a:xfrm>
            <a:off x="3244212" y="3024401"/>
            <a:ext cx="1237307" cy="1570223"/>
            <a:chOff x="680822" y="4318540"/>
            <a:chExt cx="1642877" cy="2019695"/>
          </a:xfrm>
        </p:grpSpPr>
        <p:pic>
          <p:nvPicPr>
            <p:cNvPr id="70" name="Imagem 69">
              <a:extLst>
                <a:ext uri="{FF2B5EF4-FFF2-40B4-BE49-F238E27FC236}">
                  <a16:creationId xmlns:a16="http://schemas.microsoft.com/office/drawing/2014/main" id="{27F3BBD5-0DE6-8504-726E-154304156C7E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737795" y="4318540"/>
              <a:ext cx="1585904" cy="2019695"/>
            </a:xfrm>
            <a:prstGeom prst="rect">
              <a:avLst/>
            </a:prstGeom>
          </p:spPr>
        </p:pic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843C18A9-568A-460B-2798-7B455FF43498}"/>
                </a:ext>
              </a:extLst>
            </p:cNvPr>
            <p:cNvSpPr/>
            <p:nvPr/>
          </p:nvSpPr>
          <p:spPr>
            <a:xfrm>
              <a:off x="911905" y="4812231"/>
              <a:ext cx="368979" cy="316465"/>
            </a:xfrm>
            <a:custGeom>
              <a:avLst/>
              <a:gdLst>
                <a:gd name="connsiteX0" fmla="*/ 10391 w 368979"/>
                <a:gd name="connsiteY0" fmla="*/ 107577 h 316465"/>
                <a:gd name="connsiteX1" fmla="*/ 10391 w 368979"/>
                <a:gd name="connsiteY1" fmla="*/ 107577 h 316465"/>
                <a:gd name="connsiteX2" fmla="*/ 46249 w 368979"/>
                <a:gd name="connsiteY2" fmla="*/ 286871 h 316465"/>
                <a:gd name="connsiteX3" fmla="*/ 135897 w 368979"/>
                <a:gd name="connsiteY3" fmla="*/ 277906 h 316465"/>
                <a:gd name="connsiteX4" fmla="*/ 216579 w 368979"/>
                <a:gd name="connsiteY4" fmla="*/ 215153 h 316465"/>
                <a:gd name="connsiteX5" fmla="*/ 270367 w 368979"/>
                <a:gd name="connsiteY5" fmla="*/ 197224 h 316465"/>
                <a:gd name="connsiteX6" fmla="*/ 333120 w 368979"/>
                <a:gd name="connsiteY6" fmla="*/ 134471 h 316465"/>
                <a:gd name="connsiteX7" fmla="*/ 368979 w 368979"/>
                <a:gd name="connsiteY7" fmla="*/ 125506 h 316465"/>
                <a:gd name="connsiteX8" fmla="*/ 360014 w 368979"/>
                <a:gd name="connsiteY8" fmla="*/ 8965 h 316465"/>
                <a:gd name="connsiteX9" fmla="*/ 333120 w 368979"/>
                <a:gd name="connsiteY9" fmla="*/ 0 h 316465"/>
                <a:gd name="connsiteX10" fmla="*/ 189685 w 368979"/>
                <a:gd name="connsiteY10" fmla="*/ 8965 h 316465"/>
                <a:gd name="connsiteX11" fmla="*/ 153826 w 368979"/>
                <a:gd name="connsiteY11" fmla="*/ 26894 h 316465"/>
                <a:gd name="connsiteX12" fmla="*/ 126932 w 368979"/>
                <a:gd name="connsiteY12" fmla="*/ 35859 h 316465"/>
                <a:gd name="connsiteX13" fmla="*/ 91073 w 368979"/>
                <a:gd name="connsiteY13" fmla="*/ 62753 h 316465"/>
                <a:gd name="connsiteX14" fmla="*/ 64179 w 368979"/>
                <a:gd name="connsiteY14" fmla="*/ 80682 h 316465"/>
                <a:gd name="connsiteX15" fmla="*/ 10391 w 368979"/>
                <a:gd name="connsiteY15" fmla="*/ 107577 h 316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8979" h="316465">
                  <a:moveTo>
                    <a:pt x="10391" y="107577"/>
                  </a:moveTo>
                  <a:lnTo>
                    <a:pt x="10391" y="107577"/>
                  </a:lnTo>
                  <a:cubicBezTo>
                    <a:pt x="24683" y="407725"/>
                    <a:pt x="-40979" y="300290"/>
                    <a:pt x="46249" y="286871"/>
                  </a:cubicBezTo>
                  <a:cubicBezTo>
                    <a:pt x="75932" y="282305"/>
                    <a:pt x="106014" y="280894"/>
                    <a:pt x="135897" y="277906"/>
                  </a:cubicBezTo>
                  <a:cubicBezTo>
                    <a:pt x="175741" y="238061"/>
                    <a:pt x="170946" y="233406"/>
                    <a:pt x="216579" y="215153"/>
                  </a:cubicBezTo>
                  <a:cubicBezTo>
                    <a:pt x="234126" y="208134"/>
                    <a:pt x="270367" y="197224"/>
                    <a:pt x="270367" y="197224"/>
                  </a:cubicBezTo>
                  <a:cubicBezTo>
                    <a:pt x="307236" y="141920"/>
                    <a:pt x="287639" y="147465"/>
                    <a:pt x="333120" y="134471"/>
                  </a:cubicBezTo>
                  <a:cubicBezTo>
                    <a:pt x="344967" y="131086"/>
                    <a:pt x="357026" y="128494"/>
                    <a:pt x="368979" y="125506"/>
                  </a:cubicBezTo>
                  <a:cubicBezTo>
                    <a:pt x="365991" y="86659"/>
                    <a:pt x="370718" y="46428"/>
                    <a:pt x="360014" y="8965"/>
                  </a:cubicBezTo>
                  <a:cubicBezTo>
                    <a:pt x="357418" y="-121"/>
                    <a:pt x="342570" y="0"/>
                    <a:pt x="333120" y="0"/>
                  </a:cubicBezTo>
                  <a:cubicBezTo>
                    <a:pt x="285215" y="0"/>
                    <a:pt x="237497" y="5977"/>
                    <a:pt x="189685" y="8965"/>
                  </a:cubicBezTo>
                  <a:cubicBezTo>
                    <a:pt x="177732" y="14941"/>
                    <a:pt x="166109" y="21630"/>
                    <a:pt x="153826" y="26894"/>
                  </a:cubicBezTo>
                  <a:cubicBezTo>
                    <a:pt x="145140" y="30616"/>
                    <a:pt x="135137" y="31171"/>
                    <a:pt x="126932" y="35859"/>
                  </a:cubicBezTo>
                  <a:cubicBezTo>
                    <a:pt x="113959" y="43272"/>
                    <a:pt x="103231" y="54069"/>
                    <a:pt x="91073" y="62753"/>
                  </a:cubicBezTo>
                  <a:cubicBezTo>
                    <a:pt x="82306" y="69015"/>
                    <a:pt x="73144" y="74706"/>
                    <a:pt x="64179" y="80682"/>
                  </a:cubicBezTo>
                  <a:cubicBezTo>
                    <a:pt x="53324" y="113247"/>
                    <a:pt x="19356" y="103094"/>
                    <a:pt x="10391" y="107577"/>
                  </a:cubicBezTo>
                  <a:close/>
                </a:path>
              </a:pathLst>
            </a:custGeom>
            <a:solidFill>
              <a:srgbClr val="00DF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03BAE3E6-8EE4-4C03-E5B3-162B3B7EF695}"/>
                </a:ext>
              </a:extLst>
            </p:cNvPr>
            <p:cNvSpPr txBox="1"/>
            <p:nvPr/>
          </p:nvSpPr>
          <p:spPr>
            <a:xfrm rot="19305959">
              <a:off x="680822" y="4430984"/>
              <a:ext cx="827975" cy="752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SB100</a:t>
              </a:r>
            </a:p>
          </p:txBody>
        </p:sp>
      </p:grpSp>
      <p:sp>
        <p:nvSpPr>
          <p:cNvPr id="53" name="Cubo 52">
            <a:extLst>
              <a:ext uri="{FF2B5EF4-FFF2-40B4-BE49-F238E27FC236}">
                <a16:creationId xmlns:a16="http://schemas.microsoft.com/office/drawing/2014/main" id="{41AE081E-54D7-0FBB-ED42-0A76ED63199F}"/>
              </a:ext>
            </a:extLst>
          </p:cNvPr>
          <p:cNvSpPr/>
          <p:nvPr/>
        </p:nvSpPr>
        <p:spPr>
          <a:xfrm>
            <a:off x="5428918" y="3054137"/>
            <a:ext cx="1390957" cy="884891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32F15FB7-0913-750A-303D-7D228F30FA9C}"/>
              </a:ext>
            </a:extLst>
          </p:cNvPr>
          <p:cNvSpPr txBox="1"/>
          <p:nvPr/>
        </p:nvSpPr>
        <p:spPr>
          <a:xfrm>
            <a:off x="5414503" y="3417011"/>
            <a:ext cx="109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orquestrador</a:t>
            </a:r>
          </a:p>
        </p:txBody>
      </p:sp>
      <p:sp>
        <p:nvSpPr>
          <p:cNvPr id="55" name="Seta: para a Direita 54">
            <a:extLst>
              <a:ext uri="{FF2B5EF4-FFF2-40B4-BE49-F238E27FC236}">
                <a16:creationId xmlns:a16="http://schemas.microsoft.com/office/drawing/2014/main" id="{A6569CCA-2691-C826-E6F9-FE6598BFF06A}"/>
              </a:ext>
            </a:extLst>
          </p:cNvPr>
          <p:cNvSpPr/>
          <p:nvPr/>
        </p:nvSpPr>
        <p:spPr>
          <a:xfrm rot="21301876">
            <a:off x="4560002" y="3513677"/>
            <a:ext cx="717036" cy="137653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eta: para a Direita 55">
            <a:extLst>
              <a:ext uri="{FF2B5EF4-FFF2-40B4-BE49-F238E27FC236}">
                <a16:creationId xmlns:a16="http://schemas.microsoft.com/office/drawing/2014/main" id="{F79EFAB6-84EB-0121-F229-8FF00B36A943}"/>
              </a:ext>
            </a:extLst>
          </p:cNvPr>
          <p:cNvSpPr/>
          <p:nvPr/>
        </p:nvSpPr>
        <p:spPr>
          <a:xfrm rot="5400000">
            <a:off x="5914559" y="2438133"/>
            <a:ext cx="700135" cy="145400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eta: para a Direita 56">
            <a:extLst>
              <a:ext uri="{FF2B5EF4-FFF2-40B4-BE49-F238E27FC236}">
                <a16:creationId xmlns:a16="http://schemas.microsoft.com/office/drawing/2014/main" id="{6B5D496B-856D-98C2-AB2E-1ED5817E9B92}"/>
              </a:ext>
            </a:extLst>
          </p:cNvPr>
          <p:cNvSpPr/>
          <p:nvPr/>
        </p:nvSpPr>
        <p:spPr>
          <a:xfrm rot="16200000">
            <a:off x="5684477" y="2423179"/>
            <a:ext cx="700135" cy="145400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eta: para a Direita 57">
            <a:extLst>
              <a:ext uri="{FF2B5EF4-FFF2-40B4-BE49-F238E27FC236}">
                <a16:creationId xmlns:a16="http://schemas.microsoft.com/office/drawing/2014/main" id="{7771AC55-0822-88F4-8E16-A8A289ABBEA2}"/>
              </a:ext>
            </a:extLst>
          </p:cNvPr>
          <p:cNvSpPr/>
          <p:nvPr/>
        </p:nvSpPr>
        <p:spPr>
          <a:xfrm rot="9584842">
            <a:off x="6923604" y="3131436"/>
            <a:ext cx="717036" cy="141973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eta: para a Direita 59">
            <a:extLst>
              <a:ext uri="{FF2B5EF4-FFF2-40B4-BE49-F238E27FC236}">
                <a16:creationId xmlns:a16="http://schemas.microsoft.com/office/drawing/2014/main" id="{D1A42787-8202-9EB2-2504-D1856A7C3BB5}"/>
              </a:ext>
            </a:extLst>
          </p:cNvPr>
          <p:cNvSpPr/>
          <p:nvPr/>
        </p:nvSpPr>
        <p:spPr>
          <a:xfrm rot="20402372">
            <a:off x="6897907" y="2941025"/>
            <a:ext cx="717036" cy="141973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E49F3BEA-3B70-2E3A-3B7A-60889CD57C26}"/>
              </a:ext>
            </a:extLst>
          </p:cNvPr>
          <p:cNvSpPr txBox="1"/>
          <p:nvPr/>
        </p:nvSpPr>
        <p:spPr>
          <a:xfrm rot="2160321">
            <a:off x="6785975" y="4083233"/>
            <a:ext cx="11911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Transformação</a:t>
            </a:r>
          </a:p>
        </p:txBody>
      </p:sp>
      <p:sp>
        <p:nvSpPr>
          <p:cNvPr id="62" name="Seta: para a Direita 61">
            <a:extLst>
              <a:ext uri="{FF2B5EF4-FFF2-40B4-BE49-F238E27FC236}">
                <a16:creationId xmlns:a16="http://schemas.microsoft.com/office/drawing/2014/main" id="{BB347187-D0E4-5F87-87E6-1FF78B5DA29E}"/>
              </a:ext>
            </a:extLst>
          </p:cNvPr>
          <p:cNvSpPr/>
          <p:nvPr/>
        </p:nvSpPr>
        <p:spPr>
          <a:xfrm rot="12986937">
            <a:off x="6739838" y="4375438"/>
            <a:ext cx="717036" cy="141973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eta: para a Direita 62">
            <a:extLst>
              <a:ext uri="{FF2B5EF4-FFF2-40B4-BE49-F238E27FC236}">
                <a16:creationId xmlns:a16="http://schemas.microsoft.com/office/drawing/2014/main" id="{45C808EC-9D0F-8644-5ABD-E1806E4937D1}"/>
              </a:ext>
            </a:extLst>
          </p:cNvPr>
          <p:cNvSpPr/>
          <p:nvPr/>
        </p:nvSpPr>
        <p:spPr>
          <a:xfrm rot="2204467">
            <a:off x="6874542" y="4261144"/>
            <a:ext cx="717036" cy="141973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eta: para a Direita 63">
            <a:extLst>
              <a:ext uri="{FF2B5EF4-FFF2-40B4-BE49-F238E27FC236}">
                <a16:creationId xmlns:a16="http://schemas.microsoft.com/office/drawing/2014/main" id="{A5C5CCD0-45D7-BF5F-3B68-64EBA6961355}"/>
              </a:ext>
            </a:extLst>
          </p:cNvPr>
          <p:cNvSpPr/>
          <p:nvPr/>
        </p:nvSpPr>
        <p:spPr>
          <a:xfrm rot="10448981">
            <a:off x="4584935" y="3687111"/>
            <a:ext cx="717036" cy="137653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eta: para a Direita 64">
            <a:extLst>
              <a:ext uri="{FF2B5EF4-FFF2-40B4-BE49-F238E27FC236}">
                <a16:creationId xmlns:a16="http://schemas.microsoft.com/office/drawing/2014/main" id="{F626066D-6347-2717-D608-753BCDF431C9}"/>
              </a:ext>
            </a:extLst>
          </p:cNvPr>
          <p:cNvSpPr/>
          <p:nvPr/>
        </p:nvSpPr>
        <p:spPr>
          <a:xfrm rot="16200000">
            <a:off x="5995917" y="4368232"/>
            <a:ext cx="488173" cy="125097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eta: para a Direita 65">
            <a:extLst>
              <a:ext uri="{FF2B5EF4-FFF2-40B4-BE49-F238E27FC236}">
                <a16:creationId xmlns:a16="http://schemas.microsoft.com/office/drawing/2014/main" id="{7C226C3E-0B2E-E32C-64AE-D6AB1419C34C}"/>
              </a:ext>
            </a:extLst>
          </p:cNvPr>
          <p:cNvSpPr/>
          <p:nvPr/>
        </p:nvSpPr>
        <p:spPr>
          <a:xfrm rot="5400000">
            <a:off x="6201714" y="4371544"/>
            <a:ext cx="488173" cy="125097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eta: para a Direita 66">
            <a:extLst>
              <a:ext uri="{FF2B5EF4-FFF2-40B4-BE49-F238E27FC236}">
                <a16:creationId xmlns:a16="http://schemas.microsoft.com/office/drawing/2014/main" id="{9AE92261-9207-EA83-381F-A52A18CF4706}"/>
              </a:ext>
            </a:extLst>
          </p:cNvPr>
          <p:cNvSpPr/>
          <p:nvPr/>
        </p:nvSpPr>
        <p:spPr>
          <a:xfrm rot="7809953">
            <a:off x="5122255" y="4535899"/>
            <a:ext cx="488173" cy="125097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eta: para a Direita 67">
            <a:extLst>
              <a:ext uri="{FF2B5EF4-FFF2-40B4-BE49-F238E27FC236}">
                <a16:creationId xmlns:a16="http://schemas.microsoft.com/office/drawing/2014/main" id="{90965B6E-5D15-F09F-2485-6A01C761CF5D}"/>
              </a:ext>
            </a:extLst>
          </p:cNvPr>
          <p:cNvSpPr/>
          <p:nvPr/>
        </p:nvSpPr>
        <p:spPr>
          <a:xfrm rot="18520989">
            <a:off x="4973473" y="4390069"/>
            <a:ext cx="488173" cy="125097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9F766D43-7401-38A4-D2B5-70F985C43B75}"/>
              </a:ext>
            </a:extLst>
          </p:cNvPr>
          <p:cNvSpPr txBox="1"/>
          <p:nvPr/>
        </p:nvSpPr>
        <p:spPr>
          <a:xfrm rot="2519037">
            <a:off x="4513248" y="2850684"/>
            <a:ext cx="1141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Informações agronômicas</a:t>
            </a:r>
          </a:p>
        </p:txBody>
      </p:sp>
    </p:spTree>
    <p:extLst>
      <p:ext uri="{BB962C8B-B14F-4D97-AF65-F5344CB8AC3E}">
        <p14:creationId xmlns:p14="http://schemas.microsoft.com/office/powerpoint/2010/main" val="136043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8" grpId="0"/>
      <p:bldP spid="40" grpId="0"/>
      <p:bldP spid="41" grpId="0"/>
      <p:bldP spid="42" grpId="0"/>
      <p:bldP spid="43" grpId="0"/>
      <p:bldP spid="46" grpId="0"/>
      <p:bldP spid="47" grpId="0"/>
      <p:bldP spid="49" grpId="0"/>
      <p:bldP spid="50" grpId="0"/>
      <p:bldP spid="53" grpId="0" animBg="1"/>
      <p:bldP spid="54" grpId="0"/>
      <p:bldP spid="55" grpId="0" animBg="1"/>
      <p:bldP spid="56" grpId="0" animBg="1"/>
      <p:bldP spid="57" grpId="0" animBg="1"/>
      <p:bldP spid="58" grpId="0" animBg="1"/>
      <p:bldP spid="60" grpId="0" animBg="1"/>
      <p:bldP spid="61" grpId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/>
    </p:bldLst>
  </p:timing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4462</TotalTime>
  <Words>5358</Words>
  <Application>Microsoft Office PowerPoint</Application>
  <PresentationFormat>Widescreen</PresentationFormat>
  <Paragraphs>956</Paragraphs>
  <Slides>65</Slides>
  <Notes>32</Notes>
  <HiddenSlides>1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65</vt:i4>
      </vt:variant>
    </vt:vector>
  </HeadingPairs>
  <TitlesOfParts>
    <vt:vector size="78" baseType="lpstr">
      <vt:lpstr>Liberation Serif</vt:lpstr>
      <vt:lpstr>Aptos Black</vt:lpstr>
      <vt:lpstr>Arial</vt:lpstr>
      <vt:lpstr>Baskerville Old Face</vt:lpstr>
      <vt:lpstr>Calibri</vt:lpstr>
      <vt:lpstr>Open Sans</vt:lpstr>
      <vt:lpstr>Oswald</vt:lpstr>
      <vt:lpstr>Symbol</vt:lpstr>
      <vt:lpstr>Times New Roman</vt:lpstr>
      <vt:lpstr>Trebuchet MS</vt:lpstr>
      <vt:lpstr>Wingdings</vt:lpstr>
      <vt:lpstr>Wingdings 3</vt:lpstr>
      <vt:lpstr>Facetado</vt:lpstr>
      <vt:lpstr>PROJETO CCD-SB100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Metas Anuais - FAPESP Preparação para LLM e Sistema Computacional SB100</vt:lpstr>
      <vt:lpstr>Apresentação do PowerPoint</vt:lpstr>
      <vt:lpstr>Apresentação do PowerPoint</vt:lpstr>
      <vt:lpstr>Metas Anuais - FAPESP Preparação para LLM e Sistema Computacional SB100</vt:lpstr>
      <vt:lpstr>Apresentação do PowerPoint</vt:lpstr>
      <vt:lpstr>Apresentação do PowerPoint</vt:lpstr>
      <vt:lpstr>Apresentação do PowerPoint</vt:lpstr>
      <vt:lpstr>Apresentação do PowerPoint</vt:lpstr>
      <vt:lpstr>Metas Anuais - FAPESP Preparação para LLM e Sistema Computacional SB100</vt:lpstr>
      <vt:lpstr>Apresentação do PowerPoint</vt:lpstr>
      <vt:lpstr>Apresentação do PowerPoint</vt:lpstr>
      <vt:lpstr>Metas Anuais - FAPESP Preparação para LLM e Sistema Computacional SB100</vt:lpstr>
      <vt:lpstr>Apresentação do PowerPoint</vt:lpstr>
      <vt:lpstr>Metas Anuais - RJI </vt:lpstr>
      <vt:lpstr>Metas Anuais - RJI </vt:lpstr>
      <vt:lpstr>Metas Anuais – FAPESP  - Ano II Preparação para LLM e Sistema Computacional SB100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braz silva</dc:creator>
  <cp:lastModifiedBy>Braz Izaias da Silva Junior</cp:lastModifiedBy>
  <cp:revision>123</cp:revision>
  <cp:lastPrinted>2023-10-19T18:20:50Z</cp:lastPrinted>
  <dcterms:created xsi:type="dcterms:W3CDTF">2019-12-12T14:26:05Z</dcterms:created>
  <dcterms:modified xsi:type="dcterms:W3CDTF">2025-10-01T16:31:19Z</dcterms:modified>
</cp:coreProperties>
</file>