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6"/>
  </p:notesMasterIdLst>
  <p:sldIdLst>
    <p:sldId id="259" r:id="rId2"/>
    <p:sldId id="266" r:id="rId3"/>
    <p:sldId id="268" r:id="rId4"/>
    <p:sldId id="26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rceu André Gerardi" initials="DG" lastIdx="1" clrIdx="0">
    <p:extLst>
      <p:ext uri="{19B8F6BF-5375-455C-9EA6-DF929625EA0E}">
        <p15:presenceInfo xmlns:p15="http://schemas.microsoft.com/office/powerpoint/2012/main" userId="S::dirceu.gerardi@prof.fgv.edu.br::a6793473-cdc8-421d-9092-63e136ff54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7C228-5C57-48F8-ABCF-C1B59AF0B4D2}" type="datetimeFigureOut">
              <a:rPr lang="pt-BR" smtClean="0"/>
              <a:t>18/02/2025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CC6A3-6B7D-4186-BECE-E61D0AF28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62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Citrus </a:t>
            </a:r>
            <a:r>
              <a:rPr lang="pt-BR" dirty="0" err="1"/>
              <a:t>spp</a:t>
            </a:r>
            <a:r>
              <a:rPr lang="pt-BR" dirty="0"/>
              <a:t> é uma abreviação de </a:t>
            </a:r>
            <a:r>
              <a:rPr lang="pt-BR" i="1" dirty="0" err="1"/>
              <a:t>species</a:t>
            </a:r>
            <a:r>
              <a:rPr lang="pt-BR" i="1" dirty="0"/>
              <a:t> </a:t>
            </a:r>
            <a:r>
              <a:rPr lang="pt-BR" i="1" dirty="0" err="1"/>
              <a:t>pluralis</a:t>
            </a:r>
            <a:r>
              <a:rPr lang="pt-BR" i="1" dirty="0"/>
              <a:t>. </a:t>
            </a:r>
          </a:p>
          <a:p>
            <a:r>
              <a:rPr lang="pt-BR" i="0" dirty="0"/>
              <a:t>O termo é usado para </a:t>
            </a:r>
            <a:r>
              <a:rPr lang="pt-BR" dirty="0"/>
              <a:t>indicar várias espécies dentro de um gênero:</a:t>
            </a:r>
          </a:p>
          <a:p>
            <a:r>
              <a:rPr lang="pt-BR" dirty="0"/>
              <a:t>por exemplo, laranja (</a:t>
            </a:r>
            <a:r>
              <a:rPr lang="pt-BR" i="1" dirty="0"/>
              <a:t>Citrus </a:t>
            </a:r>
            <a:r>
              <a:rPr lang="pt-BR" i="1" dirty="0" err="1"/>
              <a:t>sinensis</a:t>
            </a:r>
            <a:r>
              <a:rPr lang="pt-BR" dirty="0"/>
              <a:t>), limão (</a:t>
            </a:r>
            <a:r>
              <a:rPr lang="pt-BR" i="1" dirty="0"/>
              <a:t>Citrus </a:t>
            </a:r>
            <a:r>
              <a:rPr lang="pt-BR" i="1" dirty="0" err="1"/>
              <a:t>limon</a:t>
            </a:r>
            <a:r>
              <a:rPr lang="pt-BR" dirty="0"/>
              <a:t>), tangerina (</a:t>
            </a:r>
            <a:r>
              <a:rPr lang="pt-BR" i="1" dirty="0"/>
              <a:t>Citrus </a:t>
            </a:r>
            <a:r>
              <a:rPr lang="pt-BR" i="1" dirty="0" err="1"/>
              <a:t>reticulata</a:t>
            </a:r>
            <a:r>
              <a:rPr lang="pt-BR" dirty="0"/>
              <a:t>), entre outras.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CC6A3-6B7D-4186-BECE-E61D0AF28AC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145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7634-D018-7760-C5F4-F537458D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EF537-7CB7-B47F-D8C2-C4E4307A9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0D94A-821D-D67B-8943-4CA0FC477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RNN – boa para lidar com dados que estão numa ordem específica, como uma série de eventos no tempo;</a:t>
            </a:r>
          </a:p>
          <a:p>
            <a:r>
              <a:rPr lang="pt-BR" dirty="0"/>
              <a:t>Exemplo de uma série de TV. </a:t>
            </a:r>
          </a:p>
          <a:p>
            <a:r>
              <a:rPr lang="pt-BR" dirty="0"/>
              <a:t>O espectador quer entender o que está acontecendo na história. </a:t>
            </a:r>
          </a:p>
          <a:p>
            <a:r>
              <a:rPr lang="pt-BR" dirty="0"/>
              <a:t>Para isso precisa lembrar das cenas anteriores. </a:t>
            </a:r>
          </a:p>
          <a:p>
            <a:r>
              <a:rPr lang="pt-BR" dirty="0"/>
              <a:t>A RNN recebe a informação em sequencia, por exemplo frases, processa e armazena a informação em sequencia, assim como nos lembramos dos capítulos anteriores de uma série. </a:t>
            </a:r>
          </a:p>
          <a:p>
            <a:r>
              <a:rPr lang="pt-BR" dirty="0"/>
              <a:t>A cada interação, o algoritmo considera o resultado anterior, otimizando o output. </a:t>
            </a:r>
          </a:p>
          <a:p>
            <a:r>
              <a:rPr lang="pt-BR" dirty="0"/>
              <a:t>Esse algoritmo pode ser utilizado para aplicações de NLP, especialmente, quando é preciso entender o contexto.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6EBEF-BF4A-5B20-9C50-046DCE432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93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6384-0D00-0519-9800-72D15114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F838E-6642-3C78-1F77-86B42911C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0B7A4-26AD-B95C-CF84-D9872A46D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 err="1">
                <a:solidFill>
                  <a:srgbClr val="BFBFBF"/>
                </a:solidFill>
                <a:effectLst/>
                <a:latin typeface="Google Sans"/>
              </a:rPr>
              <a:t>Retrieval-Augmented</a:t>
            </a:r>
            <a:r>
              <a:rPr lang="pt-BR" b="0" i="0" dirty="0">
                <a:solidFill>
                  <a:srgbClr val="BFBFBF"/>
                </a:solidFill>
                <a:effectLst/>
                <a:latin typeface="Google Sans"/>
              </a:rPr>
              <a:t> Generation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819CA-6B44-68E9-CCAD-B1851DD3B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03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E159-3146-374B-935E-403A24CF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537A0-F25A-BDA7-0584-8C372E4B0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F5599-DBEA-2C6E-CE86-C88EFB6C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RNN – boa para lidar com dados que estão numa ordem específica, como uma série de eventos no tempo;</a:t>
            </a:r>
          </a:p>
          <a:p>
            <a:r>
              <a:rPr lang="pt-BR" dirty="0"/>
              <a:t>Exemplo de uma série de TV. </a:t>
            </a:r>
          </a:p>
          <a:p>
            <a:r>
              <a:rPr lang="pt-BR" dirty="0"/>
              <a:t>O espectador quer entender o que está acontecendo na história. </a:t>
            </a:r>
          </a:p>
          <a:p>
            <a:r>
              <a:rPr lang="pt-BR" dirty="0"/>
              <a:t>Para isso precisa lembrar das cenas anteriores. </a:t>
            </a:r>
          </a:p>
          <a:p>
            <a:r>
              <a:rPr lang="pt-BR" dirty="0"/>
              <a:t>A RNN recebe a informação em sequencia, por exemplo frases, processa e armazena a informação em sequencia, assim como nos lembramos dos capítulos anteriores de uma série. </a:t>
            </a:r>
          </a:p>
          <a:p>
            <a:r>
              <a:rPr lang="pt-BR" dirty="0"/>
              <a:t>A cada interação, o algoritmo considera o resultado anterior, otimizando o output. </a:t>
            </a:r>
          </a:p>
          <a:p>
            <a:r>
              <a:rPr lang="pt-BR" dirty="0"/>
              <a:t>Esse algoritmo pode ser utilizado para aplicações de NLP, especialmente, quando é preciso entender o contexto.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51DAC-BC4D-1D53-3B2C-1EFA01DBD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064" y="2410921"/>
            <a:ext cx="8960219" cy="3861600"/>
          </a:xfrm>
        </p:spPr>
        <p:txBody>
          <a:bodyPr anchor="t">
            <a:noAutofit/>
          </a:bodyPr>
          <a:lstStyle>
            <a:lvl1pPr algn="l">
              <a:defRPr sz="7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5AAFEA-9797-719F-034E-1443278D0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83792" y="1123641"/>
            <a:ext cx="5184775" cy="1197600"/>
          </a:xfrm>
        </p:spPr>
        <p:txBody>
          <a:bodyPr anchor="ctr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385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E2A2-57CA-76B4-7FC7-0E7E733D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75019"/>
            <a:ext cx="4876800" cy="132556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9D59CD-16F0-1FCD-4958-4D19378595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83793" y="0"/>
            <a:ext cx="5798607" cy="685800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694355-D2F1-6177-CA10-2FB2BDCA9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733" y="3072977"/>
            <a:ext cx="4631139" cy="3196800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686FCB5-A714-48C5-F801-8BC93CA09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33" y="2656167"/>
            <a:ext cx="4634868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92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70115"/>
            <a:ext cx="3323629" cy="5725248"/>
          </a:xfrm>
        </p:spPr>
        <p:txBody>
          <a:bodyPr anchor="ctr">
            <a:noAutofit/>
          </a:bodyPr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5357" y="579430"/>
            <a:ext cx="2120348" cy="5715933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DCE6C6-C40C-F791-B3FF-EEAA2288C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8418" y="1058563"/>
            <a:ext cx="4360149" cy="52368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0A1734-9E96-C076-6109-08BEAB597B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8233" y="577373"/>
            <a:ext cx="4360800" cy="387187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1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687" y="574467"/>
            <a:ext cx="6780880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563302"/>
            <a:ext cx="3160552" cy="5720232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DCE6C6-C40C-F791-B3FF-EEAA2288C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7687" y="2625934"/>
            <a:ext cx="6780880" cy="36576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D0ED4B-C12C-75E2-03E5-013A94AE89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87826" y="2281008"/>
            <a:ext cx="6780741" cy="314400"/>
          </a:xfrm>
        </p:spPr>
        <p:txBody>
          <a:bodyPr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751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4162370"/>
            <a:ext cx="4118757" cy="2278186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3D6F03-414F-3442-0C5B-EC8851378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E5AE0EA-E418-F652-0112-3BBECBF9F3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44065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61BF6E-948C-4AEB-61A4-244B2DE035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9114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A50E1A-8491-728C-9FA7-3C2B65D8B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82818" y="4496555"/>
            <a:ext cx="5985749" cy="1944000"/>
          </a:xfrm>
        </p:spPr>
        <p:txBody>
          <a:bodyPr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C11A40-5DE3-08FC-B5EC-62212BF67E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82818" y="4162369"/>
            <a:ext cx="5985933" cy="271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589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052" y="566058"/>
            <a:ext cx="1924741" cy="5704114"/>
          </a:xfrm>
        </p:spPr>
        <p:txBody>
          <a:bodyPr vert="vert270"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1428516"/>
            <a:ext cx="3067418" cy="4000969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2439D-33F0-4626-5731-8FB5D5295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6409" y="1597361"/>
            <a:ext cx="4992158" cy="4207567"/>
          </a:xfrm>
        </p:spPr>
        <p:txBody>
          <a:bodyPr anchor="t">
            <a:noAutofit/>
          </a:bodyPr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1CC2E2-7A85-770A-CED5-0E6F307BA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76409" y="1248046"/>
            <a:ext cx="4992158" cy="3048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78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426" y="573517"/>
            <a:ext cx="4307141" cy="1454400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619622"/>
            <a:ext cx="5618760" cy="5618400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2439D-33F0-4626-5731-8FB5D5295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1426" y="2841588"/>
            <a:ext cx="4307141" cy="36144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F0EDF-ED0D-7DF6-3D16-36E44C839E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1150" y="2474023"/>
            <a:ext cx="4307417" cy="333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52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8E67-9FD7-A8F8-75F6-2FF3CD0D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01649"/>
            <a:ext cx="10369550" cy="758604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FFE8E-6F6C-1E23-79C9-808201616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39AAF-82A4-7672-8873-E691CE5C39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2550198D-18A3-B15D-CC93-17763FFE6A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017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E06D47-5795-E8A4-6688-63C0FCAB2B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45747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FB99BAA-F395-0232-ED1F-8AC6BA5C78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22381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44B7A2-957C-93E8-8209-7EE97327682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5734" y="1702061"/>
            <a:ext cx="10392833" cy="14376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F51D89-C7C9-35E8-B687-68AAC511FED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5734" y="1340909"/>
            <a:ext cx="10392833" cy="3360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17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B309-9F80-5BE3-F82C-91733414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3640482"/>
            <a:ext cx="3478419" cy="2809378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27C05-E3B0-EFC4-2286-5860D4A1AC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3CF6B-04E5-9AB9-2466-0284576F0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F23F8-6331-43CC-E76A-052E46B775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6" y="562709"/>
            <a:ext cx="4994450" cy="2866292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11F901-3943-1C25-A696-666A0EBDBC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0380" y="4054660"/>
            <a:ext cx="6678187" cy="23952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9263BE0-4D84-7BD4-D81B-B266C5C1C47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74117" y="562709"/>
            <a:ext cx="4994450" cy="2866292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F9E850-0A01-918A-C1F1-461E6D7C1A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0380" y="3640666"/>
            <a:ext cx="6678187" cy="343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765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08D4B-9946-0E0A-8BEE-BB1C6BFDBDE6}"/>
              </a:ext>
            </a:extLst>
          </p:cNvPr>
          <p:cNvSpPr/>
          <p:nvPr userDrawn="1"/>
        </p:nvSpPr>
        <p:spPr>
          <a:xfrm>
            <a:off x="4275667" y="2355849"/>
            <a:ext cx="6692532" cy="1642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35" y="619623"/>
            <a:ext cx="6692532" cy="1633247"/>
          </a:xfrm>
        </p:spPr>
        <p:txBody>
          <a:bodyPr anchor="t">
            <a:noAutofit/>
          </a:bodyPr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3D6F03-414F-3442-0C5B-EC8851378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619622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61BF6E-948C-4AEB-61A4-244B2DE035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90380" y="4162370"/>
            <a:ext cx="2278187" cy="2278187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A50E1A-8491-728C-9FA7-3C2B65D8B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017" y="4385089"/>
            <a:ext cx="7732183" cy="20544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D539BA3-D11E-897F-CE18-588B0DC93D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76035" y="2607013"/>
            <a:ext cx="6692532" cy="1382400"/>
          </a:xfrm>
          <a:noFill/>
        </p:spPr>
        <p:txBody>
          <a:bodyPr lIns="90000" tIns="46800" rIns="90000" bIns="4680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910887-9DF9-8E41-CBB1-3C2A4179AC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9017" y="4126524"/>
            <a:ext cx="7732183" cy="24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F6B920-074C-FD0C-40EB-802122795E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75667" y="2355849"/>
            <a:ext cx="6692900" cy="249599"/>
          </a:xfrm>
          <a:noFill/>
        </p:spPr>
        <p:txBody>
          <a:bodyPr anchor="ctr" anchorCtr="0">
            <a:noAutofit/>
          </a:bodyPr>
          <a:lstStyle>
            <a:lvl1pPr>
              <a:defRPr sz="12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105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419B-0A7A-D6A9-278B-3CB3F6B1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860" y="619622"/>
            <a:ext cx="4448707" cy="1968969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75DCC-A5DC-45EE-5280-E6AF55C5F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54E76-F34B-95F8-FD2E-0312C265AE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D592EB7-0888-4601-189D-47D758F2EA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783792" cy="3855843"/>
          </a:xfrm>
        </p:spPr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5089FCE-DB18-D776-A8F9-8E69AD01AA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5734" y="4512078"/>
            <a:ext cx="5208058" cy="1987053"/>
          </a:xfrm>
        </p:spPr>
        <p:txBody>
          <a:bodyPr>
            <a:noAutofit/>
          </a:bodyPr>
          <a:lstStyle>
            <a:lvl1pPr>
              <a:defRPr>
                <a:latin typeface="+mn-lt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1pPr>
            <a:lvl2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2pPr>
            <a:lvl3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3pPr>
            <a:lvl4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4pPr>
            <a:lvl5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0477A3C-2108-3003-027C-E88B14294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19862" y="3429000"/>
            <a:ext cx="4448705" cy="285292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447C4F-9DF9-4C69-F400-0A0CE90074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5733" y="4066517"/>
            <a:ext cx="5208059" cy="403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FE6426-8335-E1C3-FB13-43F08A52D6E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19862" y="3091241"/>
            <a:ext cx="4448706" cy="2880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3104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442312-9E63-3A81-2CB4-8F85F5C2CD49}"/>
              </a:ext>
            </a:extLst>
          </p:cNvPr>
          <p:cNvSpPr/>
          <p:nvPr userDrawn="1"/>
        </p:nvSpPr>
        <p:spPr>
          <a:xfrm>
            <a:off x="0" y="1945185"/>
            <a:ext cx="3878469" cy="4912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694" y="501649"/>
            <a:ext cx="10270873" cy="132556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3D18-EF04-D403-494B-02A03A28BC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A0E6078-78A1-619C-E7B0-63DBC649FF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9017" y="2686751"/>
            <a:ext cx="270298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3E87E0F-2528-3A8B-F312-9C9235E586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771" y="2686751"/>
            <a:ext cx="285004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75F903-A46A-31EE-9532-17999D9477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016" y="2275974"/>
            <a:ext cx="2702984" cy="369600"/>
          </a:xfrm>
        </p:spPr>
        <p:txBody>
          <a:bodyPr anchor="b">
            <a:noAutofit/>
          </a:bodyPr>
          <a:lstStyle>
            <a:lvl1pPr>
              <a:defRPr sz="12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746F59D-CF95-DEC8-5CAA-EE08708A5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58771" y="2275974"/>
            <a:ext cx="2851200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CDD7BE0-BC6C-5AE9-BCEE-9C91EA7B4B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18524" y="2686751"/>
            <a:ext cx="285004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C0FB17E-6098-251C-5B8E-56C2FE57DE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7367" y="2275974"/>
            <a:ext cx="2851200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1824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12000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31381" y="4112515"/>
            <a:ext cx="2396467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04E407-1287-6C2D-410A-98BC0C8674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83792" y="1711315"/>
            <a:ext cx="2400000" cy="4802400"/>
          </a:xfrm>
        </p:spPr>
        <p:txBody>
          <a:bodyPr/>
          <a:lstStyle/>
          <a:p>
            <a:endParaRPr lang="en-UZ"/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3298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1381" y="3535556"/>
            <a:ext cx="2396467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48693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54626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5754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1237772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54623" y="4123971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3298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57469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48693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54626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22">
            <a:extLst>
              <a:ext uri="{FF2B5EF4-FFF2-40B4-BE49-F238E27FC236}">
                <a16:creationId xmlns:a16="http://schemas.microsoft.com/office/drawing/2014/main" id="{6034BEDD-4A10-0EE9-2B80-CC48F6463E58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47649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AF6507D-02F3-DCED-4A26-289016D4AA4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92749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DD65D9A-82AD-5F53-C8F5-B476568A76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4627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6744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758041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5733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735824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81086" y="3537499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54717" y="3540182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566167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22">
            <a:extLst>
              <a:ext uri="{FF2B5EF4-FFF2-40B4-BE49-F238E27FC236}">
                <a16:creationId xmlns:a16="http://schemas.microsoft.com/office/drawing/2014/main" id="{6034BEDD-4A10-0EE9-2B80-CC48F6463E58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3370625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AF6507D-02F3-DCED-4A26-289016D4AA4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189519" y="3537499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DD65D9A-82AD-5F53-C8F5-B476568A76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189518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B133C47-E461-5076-CFB7-81D33483F7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971041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610F9E3-7283-B27D-D134-C4587A57822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971041" y="35304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hart Placeholder 22">
            <a:extLst>
              <a:ext uri="{FF2B5EF4-FFF2-40B4-BE49-F238E27FC236}">
                <a16:creationId xmlns:a16="http://schemas.microsoft.com/office/drawing/2014/main" id="{55CE330B-87B2-E709-8431-E977F2430003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6152148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05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A9BB-4EB7-026F-4816-EB928B5D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0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5F750-4EF6-B33F-4FD2-2D9576B1F3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28C6-0B9B-0025-A8AE-3EE85EAAD7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73C4683-1814-6BFA-2362-08272BB995A4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184191" y="2398620"/>
            <a:ext cx="9199200" cy="3875617"/>
          </a:xfrm>
        </p:spPr>
        <p:txBody>
          <a:bodyPr/>
          <a:lstStyle/>
          <a:p>
            <a:endParaRPr lang="en-U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24791E-5C2D-05F7-7815-AE0E39BA9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4358" y="1875366"/>
            <a:ext cx="9199033" cy="388800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0696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01C7-D54C-B4CE-4985-D871336E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2109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D2E36-BADF-8412-F354-96F2041DC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1D5FD-C837-C92F-8E5D-69F199301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5890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9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A7B8A4-ABCC-D9A5-163D-95AADEB96E20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7" y="1991065"/>
            <a:ext cx="10369550" cy="4283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829799" y="20113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399" y="6356351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10" b="1">
                <a:solidFill>
                  <a:schemeClr val="bg1"/>
                </a:solidFill>
              </a:defRPr>
            </a:lvl1pPr>
          </a:lstStyle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4385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</p:sldLayoutIdLst>
  <p:hf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9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65">
          <p15:clr>
            <a:srgbClr val="F26B43"/>
          </p15:clr>
        </p15:guide>
        <p15:guide id="2" orient="horz" pos="3240">
          <p15:clr>
            <a:srgbClr val="F26B43"/>
          </p15:clr>
        </p15:guide>
        <p15:guide id="3" pos="10364">
          <p15:clr>
            <a:srgbClr val="F26B43"/>
          </p15:clr>
        </p15:guide>
        <p15:guide id="4" pos="5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EDC587-F10B-50CB-7BC4-8A25EAC71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729" y="1389530"/>
            <a:ext cx="8960219" cy="2253107"/>
          </a:xfrm>
        </p:spPr>
        <p:txBody>
          <a:bodyPr anchor="t" anchorCtr="0">
            <a:normAutofit/>
          </a:bodyPr>
          <a:lstStyle/>
          <a:p>
            <a:r>
              <a:rPr lang="pt-BR" sz="7500" noProof="0" dirty="0">
                <a:solidFill>
                  <a:schemeClr val="bg1"/>
                </a:solidFill>
              </a:rPr>
              <a:t>Agrônomo Virtual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66EC97-5F7F-F0A9-08D2-20C3527FB6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06137" y="4869670"/>
            <a:ext cx="6205870" cy="198833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Ge</a:t>
            </a:r>
            <a:r>
              <a:rPr lang="pt-BR" sz="1800" dirty="0" err="1">
                <a:solidFill>
                  <a:schemeClr val="bg1"/>
                </a:solidFill>
                <a:latin typeface="Barlow" panose="00000500000000000000" pitchFamily="2" charset="0"/>
              </a:rPr>
              <a:t>rardi</a:t>
            </a: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, Dirceu André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baseline="30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Aceno, Jean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Cassitas, Julia</a:t>
            </a:r>
            <a:r>
              <a:rPr lang="pt-BR" sz="18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baseline="30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Velloso, André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Silva Junior, Braz Izaias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Andrade, Meg 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Barbieri, Silvio 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endParaRPr lang="en-GB" sz="2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0A0CDBF-64B5-54F1-9AD1-4235D250B00B}"/>
              </a:ext>
            </a:extLst>
          </p:cNvPr>
          <p:cNvSpPr txBox="1"/>
          <p:nvPr/>
        </p:nvSpPr>
        <p:spPr>
          <a:xfrm>
            <a:off x="862729" y="3699392"/>
            <a:ext cx="71517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Avaliação de </a:t>
            </a:r>
            <a:r>
              <a:rPr lang="pt-BR" sz="2400" dirty="0" err="1">
                <a:solidFill>
                  <a:schemeClr val="bg1"/>
                </a:solidFill>
              </a:rPr>
              <a:t>LLMs</a:t>
            </a:r>
            <a:r>
              <a:rPr lang="pt-BR" sz="2400" dirty="0">
                <a:solidFill>
                  <a:schemeClr val="bg1"/>
                </a:solidFill>
              </a:rPr>
              <a:t> aplicados ao manejo de lavouras e nutrição de plantas Citrus spp. </a:t>
            </a:r>
          </a:p>
        </p:txBody>
      </p:sp>
    </p:spTree>
    <p:extLst>
      <p:ext uri="{BB962C8B-B14F-4D97-AF65-F5344CB8AC3E}">
        <p14:creationId xmlns:p14="http://schemas.microsoft.com/office/powerpoint/2010/main" val="80164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92EEC-B63A-3DAE-E6E9-BB597C66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52B5CC3B-632A-4C6B-C26A-A815D6B175F8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FD099C0-66FB-A9DA-32DA-F17E53DA2F38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2543EEC-B1D0-2B5D-B8B6-A09A8AF7F9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2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63240C-575C-A6B9-4750-E508203C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59" y="1649542"/>
            <a:ext cx="4504601" cy="26885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924948-FBE7-2CBF-6ED7-98509F964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91927"/>
            <a:ext cx="4287107" cy="428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63D1F-5F30-68B1-C783-283FA339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AA7F4DEC-D5BC-FD8A-0412-6A067B87BBC9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F1132D2-DA5B-690E-830B-F91184B65E54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787D0AD-93EB-8314-25C0-A7CD6F5664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3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D565EB-1775-6421-4B70-108AC7D51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842962"/>
            <a:ext cx="1046797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6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1C8D3-9717-136F-42ED-C26EFC971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59D56CD6-417F-6164-C4EB-AB65C71CD5CA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FF016C-02E2-3756-2DB4-F495FCC94962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8055DD0-437B-C82B-6C17-6A3325845C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4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4A00A91-7A8B-6603-2F32-3024EB5487B7}"/>
              </a:ext>
            </a:extLst>
          </p:cNvPr>
          <p:cNvSpPr/>
          <p:nvPr/>
        </p:nvSpPr>
        <p:spPr>
          <a:xfrm>
            <a:off x="3233774" y="2804337"/>
            <a:ext cx="10363200" cy="9525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400" noProof="0" dirty="0">
                <a:solidFill>
                  <a:schemeClr val="bg1"/>
                </a:solidFill>
                <a:latin typeface="Montserrat ExtraBold"/>
              </a:rPr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184745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958F7"/>
      </a:accent1>
      <a:accent2>
        <a:srgbClr val="FE7032"/>
      </a:accent2>
      <a:accent3>
        <a:srgbClr val="91BED4"/>
      </a:accent3>
      <a:accent4>
        <a:srgbClr val="FFC000"/>
      </a:accent4>
      <a:accent5>
        <a:srgbClr val="D9E8F5"/>
      </a:accent5>
      <a:accent6>
        <a:srgbClr val="FFAD8D"/>
      </a:accent6>
      <a:hlink>
        <a:srgbClr val="0563C1"/>
      </a:hlink>
      <a:folHlink>
        <a:srgbClr val="954F72"/>
      </a:folHlink>
    </a:clrScheme>
    <a:fontScheme name="Montserrat ExtraBold - Open Sans">
      <a:majorFont>
        <a:latin typeface="Montserrat ExtraBold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D656CF2-CF0C-41ED-8C11-852A754D8784}">
  <we:reference id="wa200005566" version="3.0.0.2" store="pt-B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C7ACB8-20DF-42BF-9C00-C7EAE5EB07C2}">
  <we:reference id="wa104380050" version="3.8.0.0" store="pt-BR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356</Words>
  <Application>Microsoft Office PowerPoint</Application>
  <PresentationFormat>Widescreen</PresentationFormat>
  <Paragraphs>35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3" baseType="lpstr">
      <vt:lpstr>Aptos Display</vt:lpstr>
      <vt:lpstr>Arial</vt:lpstr>
      <vt:lpstr>Barlow</vt:lpstr>
      <vt:lpstr>Calibri</vt:lpstr>
      <vt:lpstr>Cascadia Mono SemiBold</vt:lpstr>
      <vt:lpstr>Google Sans</vt:lpstr>
      <vt:lpstr>Montserrat ExtraBold</vt:lpstr>
      <vt:lpstr>Open Sans</vt:lpstr>
      <vt:lpstr>Ocean</vt:lpstr>
      <vt:lpstr>Agrônomo Virtual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Dirceu André Gerardi</dc:creator>
  <cp:lastModifiedBy>Dirceu André Gerardi</cp:lastModifiedBy>
  <cp:revision>7</cp:revision>
  <dcterms:created xsi:type="dcterms:W3CDTF">2024-11-05T15:57:23Z</dcterms:created>
  <dcterms:modified xsi:type="dcterms:W3CDTF">2025-02-18T20:24:58Z</dcterms:modified>
</cp:coreProperties>
</file>