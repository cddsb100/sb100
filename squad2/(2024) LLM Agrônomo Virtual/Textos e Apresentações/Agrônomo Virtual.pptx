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13"/>
  </p:notesMasterIdLst>
  <p:sldIdLst>
    <p:sldId id="259" r:id="rId2"/>
    <p:sldId id="260" r:id="rId3"/>
    <p:sldId id="262" r:id="rId4"/>
    <p:sldId id="263" r:id="rId5"/>
    <p:sldId id="265" r:id="rId6"/>
    <p:sldId id="261" r:id="rId7"/>
    <p:sldId id="267" r:id="rId8"/>
    <p:sldId id="264" r:id="rId9"/>
    <p:sldId id="266" r:id="rId10"/>
    <p:sldId id="268" r:id="rId11"/>
    <p:sldId id="269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rceu André Gerardi" initials="DG" lastIdx="1" clrIdx="0">
    <p:extLst>
      <p:ext uri="{19B8F6BF-5375-455C-9EA6-DF929625EA0E}">
        <p15:presenceInfo xmlns:p15="http://schemas.microsoft.com/office/powerpoint/2012/main" userId="S::dirceu.gerardi@prof.fgv.edu.br::a6793473-cdc8-421d-9092-63e136ff54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1" autoAdjust="0"/>
    <p:restoredTop sz="94660"/>
  </p:normalViewPr>
  <p:slideViewPr>
    <p:cSldViewPr snapToGrid="0">
      <p:cViewPr>
        <p:scale>
          <a:sx n="90" d="100"/>
          <a:sy n="90" d="100"/>
        </p:scale>
        <p:origin x="66" y="1440"/>
      </p:cViewPr>
      <p:guideLst/>
    </p:cSldViewPr>
  </p:slideViewPr>
  <p:notesTextViewPr>
    <p:cViewPr>
      <p:scale>
        <a:sx n="1" d="1"/>
        <a:sy n="1" d="1"/>
      </p:scale>
      <p:origin x="0" y="-80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7C228-5C57-48F8-ABCF-C1B59AF0B4D2}" type="datetimeFigureOut">
              <a:rPr lang="pt-BR" smtClean="0"/>
              <a:t>05/11/2024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CC6A3-6B7D-4186-BECE-E61D0AF28A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621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Citrus </a:t>
            </a:r>
            <a:r>
              <a:rPr lang="pt-BR" dirty="0" err="1"/>
              <a:t>spp</a:t>
            </a:r>
            <a:r>
              <a:rPr lang="pt-BR" dirty="0"/>
              <a:t> é uma abreviação de </a:t>
            </a:r>
            <a:r>
              <a:rPr lang="pt-BR" i="1" dirty="0" err="1"/>
              <a:t>species</a:t>
            </a:r>
            <a:r>
              <a:rPr lang="pt-BR" i="1" dirty="0"/>
              <a:t> </a:t>
            </a:r>
            <a:r>
              <a:rPr lang="pt-BR" i="1" dirty="0" err="1"/>
              <a:t>pluralis</a:t>
            </a:r>
            <a:r>
              <a:rPr lang="pt-BR" i="1" dirty="0"/>
              <a:t>. </a:t>
            </a:r>
          </a:p>
          <a:p>
            <a:r>
              <a:rPr lang="pt-BR" i="0" dirty="0"/>
              <a:t>O termo é usado para </a:t>
            </a:r>
            <a:r>
              <a:rPr lang="pt-BR" dirty="0"/>
              <a:t>indicar várias espécies dentro de um gênero:</a:t>
            </a:r>
          </a:p>
          <a:p>
            <a:r>
              <a:rPr lang="pt-BR" dirty="0"/>
              <a:t>por exemplo, laranja (</a:t>
            </a:r>
            <a:r>
              <a:rPr lang="pt-BR" i="1" dirty="0"/>
              <a:t>Citrus </a:t>
            </a:r>
            <a:r>
              <a:rPr lang="pt-BR" i="1" dirty="0" err="1"/>
              <a:t>sinensis</a:t>
            </a:r>
            <a:r>
              <a:rPr lang="pt-BR" dirty="0"/>
              <a:t>), limão (</a:t>
            </a:r>
            <a:r>
              <a:rPr lang="pt-BR" i="1" dirty="0"/>
              <a:t>Citrus </a:t>
            </a:r>
            <a:r>
              <a:rPr lang="pt-BR" i="1" dirty="0" err="1"/>
              <a:t>limon</a:t>
            </a:r>
            <a:r>
              <a:rPr lang="pt-BR" dirty="0"/>
              <a:t>), tangerina (</a:t>
            </a:r>
            <a:r>
              <a:rPr lang="pt-BR" i="1" dirty="0"/>
              <a:t>Citrus </a:t>
            </a:r>
            <a:r>
              <a:rPr lang="pt-BR" i="1" dirty="0" err="1"/>
              <a:t>reticulata</a:t>
            </a:r>
            <a:r>
              <a:rPr lang="pt-BR" dirty="0"/>
              <a:t>), entre outras.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CC6A3-6B7D-4186-BECE-E61D0AF28AC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145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RNN – boa para lidar com dados que estão numa ordem específica, como uma série de eventos no tempo;</a:t>
            </a:r>
          </a:p>
          <a:p>
            <a:r>
              <a:rPr lang="pt-BR" dirty="0"/>
              <a:t>Exemplo de uma série de TV. </a:t>
            </a:r>
          </a:p>
          <a:p>
            <a:r>
              <a:rPr lang="pt-BR" dirty="0"/>
              <a:t>O espectador quer entender o que está acontecendo na história. </a:t>
            </a:r>
          </a:p>
          <a:p>
            <a:r>
              <a:rPr lang="pt-BR" dirty="0"/>
              <a:t>Para isso precisa lembrar das cenas anteriores. </a:t>
            </a:r>
          </a:p>
          <a:p>
            <a:r>
              <a:rPr lang="pt-BR" dirty="0"/>
              <a:t>A RNN recebe a informação em sequencia, por exemplo frases, processa e armazena a informação em sequencia, assim como nos lembramos dos capítulos anteriores de uma série. </a:t>
            </a:r>
          </a:p>
          <a:p>
            <a:r>
              <a:rPr lang="pt-BR" dirty="0"/>
              <a:t>A cada interação, o algoritmo considera o resultado anterior, otimizando o output. </a:t>
            </a:r>
          </a:p>
          <a:p>
            <a:r>
              <a:rPr lang="pt-BR" dirty="0"/>
              <a:t>Esse algoritmo pode ser utilizado para aplicações de NLP, especialmente, quando é preciso entender o contexto.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CC6A3-6B7D-4186-BECE-E61D0AF28AC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1733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RNN – boa para lidar com dados que estão numa ordem específica, como uma série de eventos no tempo;</a:t>
            </a:r>
          </a:p>
          <a:p>
            <a:r>
              <a:rPr lang="pt-BR" dirty="0"/>
              <a:t>Exemplo de uma série de TV. </a:t>
            </a:r>
          </a:p>
          <a:p>
            <a:r>
              <a:rPr lang="pt-BR" dirty="0"/>
              <a:t>O espectador quer entender o que está acontecendo na história. </a:t>
            </a:r>
          </a:p>
          <a:p>
            <a:r>
              <a:rPr lang="pt-BR" dirty="0"/>
              <a:t>Para isso precisa lembrar das cenas anteriores. </a:t>
            </a:r>
          </a:p>
          <a:p>
            <a:r>
              <a:rPr lang="pt-BR" dirty="0"/>
              <a:t>A RNN recebe a informação em sequencia, por exemplo frases, processa e armazena a informação em sequencia, assim como nos lembramos dos capítulos anteriores de uma série. </a:t>
            </a:r>
          </a:p>
          <a:p>
            <a:r>
              <a:rPr lang="pt-BR" dirty="0"/>
              <a:t>A cada interação, o algoritmo considera o resultado anterior, otimizando o output. </a:t>
            </a:r>
          </a:p>
          <a:p>
            <a:r>
              <a:rPr lang="pt-BR" dirty="0"/>
              <a:t>Esse algoritmo pode ser utilizado para aplicações de NLP, especialmente, quando é preciso entender o contexto.</a:t>
            </a:r>
          </a:p>
          <a:p>
            <a:endParaRPr lang="pt-BR" dirty="0"/>
          </a:p>
          <a:p>
            <a:r>
              <a:rPr lang="pt-BR" dirty="0"/>
              <a:t>Transformer tem um sistema de </a:t>
            </a:r>
            <a:r>
              <a:rPr lang="pt-BR" dirty="0" err="1"/>
              <a:t>auto-atenção</a:t>
            </a:r>
            <a:r>
              <a:rPr lang="pt-BR" dirty="0"/>
              <a:t>, para computar as representações de suas entrada e saídas sem usar </a:t>
            </a:r>
            <a:r>
              <a:rPr lang="pt-BR" dirty="0" err="1"/>
              <a:t>RNNs</a:t>
            </a:r>
            <a:r>
              <a:rPr lang="pt-BR" dirty="0"/>
              <a:t> alinhadas </a:t>
            </a:r>
            <a:r>
              <a:rPr lang="pt-BR"/>
              <a:t>ou convoluções.</a:t>
            </a:r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C8B4E-7653-77A9-1507-853847C73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7AC8A-75D4-B218-CA44-138E8974E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C75B10-2B7F-07B4-5068-1665529E3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Até 2017 a gente estava acostumada com as RNN, mas com a introdução da arquitetura </a:t>
            </a:r>
            <a:r>
              <a:rPr lang="pt-BR" dirty="0" err="1"/>
              <a:t>Tranformer</a:t>
            </a:r>
            <a:r>
              <a:rPr lang="pt-BR" dirty="0"/>
              <a:t>, isso provocou inúmeras mudanças no campo de pesquisas e na sociedade.</a:t>
            </a:r>
          </a:p>
          <a:p>
            <a:r>
              <a:rPr lang="pt-BR" dirty="0"/>
              <a:t>Alpha GO que venceu o </a:t>
            </a:r>
            <a:r>
              <a:rPr lang="pt-BR" dirty="0" err="1"/>
              <a:t>Gasparov</a:t>
            </a:r>
            <a:r>
              <a:rPr lang="pt-B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8570C-B254-ED63-4555-69A338814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99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00A0F-9D6F-5614-7348-9ADF2EAB1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4ADFD-60C9-11DD-0532-6BA0A3F54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10CEA-FE84-3A99-E135-6C823CD44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RNN – boa para lidar com dados que estão numa ordem específica, como uma série de eventos no tempo;</a:t>
            </a:r>
          </a:p>
          <a:p>
            <a:r>
              <a:rPr lang="pt-BR" dirty="0"/>
              <a:t>Exemplo de uma série de TV. </a:t>
            </a:r>
          </a:p>
          <a:p>
            <a:r>
              <a:rPr lang="pt-BR" dirty="0"/>
              <a:t>O espectador quer entender o que está acontecendo na história. </a:t>
            </a:r>
          </a:p>
          <a:p>
            <a:r>
              <a:rPr lang="pt-BR" dirty="0"/>
              <a:t>Para isso precisa lembrar das cenas anteriores. </a:t>
            </a:r>
          </a:p>
          <a:p>
            <a:r>
              <a:rPr lang="pt-BR" dirty="0"/>
              <a:t>A RNN recebe a informação em sequencia, por exemplo frases, processa e armazena a informação em sequencia, assim como nos lembramos dos capítulos anteriores de uma série. </a:t>
            </a:r>
          </a:p>
          <a:p>
            <a:r>
              <a:rPr lang="pt-BR" dirty="0"/>
              <a:t>A cada interação, o algoritmo considera o resultado anterior, otimizando o output. </a:t>
            </a:r>
          </a:p>
          <a:p>
            <a:r>
              <a:rPr lang="pt-BR" dirty="0"/>
              <a:t>Esse algoritmo pode ser utilizado para aplicações de NLP, especialmente, quando é preciso entender o contexto.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99528-35F0-0D86-4D8C-FC0B8943C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63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37634-D018-7760-C5F4-F537458D4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EF537-7CB7-B47F-D8C2-C4E4307A9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0D94A-821D-D67B-8943-4CA0FC477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RNN – boa para lidar com dados que estão numa ordem específica, como uma série de eventos no tempo;</a:t>
            </a:r>
          </a:p>
          <a:p>
            <a:r>
              <a:rPr lang="pt-BR" dirty="0"/>
              <a:t>Exemplo de uma série de TV. </a:t>
            </a:r>
          </a:p>
          <a:p>
            <a:r>
              <a:rPr lang="pt-BR" dirty="0"/>
              <a:t>O espectador quer entender o que está acontecendo na história. </a:t>
            </a:r>
          </a:p>
          <a:p>
            <a:r>
              <a:rPr lang="pt-BR" dirty="0"/>
              <a:t>Para isso precisa lembrar das cenas anteriores. </a:t>
            </a:r>
          </a:p>
          <a:p>
            <a:r>
              <a:rPr lang="pt-BR" dirty="0"/>
              <a:t>A RNN recebe a informação em sequencia, por exemplo frases, processa e armazena a informação em sequencia, assim como nos lembramos dos capítulos anteriores de uma série. </a:t>
            </a:r>
          </a:p>
          <a:p>
            <a:r>
              <a:rPr lang="pt-BR" dirty="0"/>
              <a:t>A cada interação, o algoritmo considera o resultado anterior, otimizando o output. </a:t>
            </a:r>
          </a:p>
          <a:p>
            <a:r>
              <a:rPr lang="pt-BR" dirty="0"/>
              <a:t>Esse algoritmo pode ser utilizado para aplicações de NLP, especialmente, quando é preciso entender o contexto.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6EBEF-BF4A-5B20-9C50-046DCE432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93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E6384-0D00-0519-9800-72D151141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F838E-6642-3C78-1F77-86B42911C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0B7A4-26AD-B95C-CF84-D9872A46D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 err="1">
                <a:solidFill>
                  <a:srgbClr val="BFBFBF"/>
                </a:solidFill>
                <a:effectLst/>
                <a:latin typeface="Google Sans"/>
              </a:rPr>
              <a:t>Retrieval-Augmented</a:t>
            </a:r>
            <a:r>
              <a:rPr lang="pt-BR" b="0" i="0" dirty="0">
                <a:solidFill>
                  <a:srgbClr val="BFBFBF"/>
                </a:solidFill>
                <a:effectLst/>
                <a:latin typeface="Google Sans"/>
              </a:rPr>
              <a:t> Generation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819CA-6B44-68E9-CCAD-B1851DD3B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03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E159-3146-374B-935E-403A24CF7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537A0-F25A-BDA7-0584-8C372E4B0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F5599-DBEA-2C6E-CE86-C88EFB6CF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RNN – boa para lidar com dados que estão numa ordem específica, como uma série de eventos no tempo;</a:t>
            </a:r>
          </a:p>
          <a:p>
            <a:r>
              <a:rPr lang="pt-BR" dirty="0"/>
              <a:t>Exemplo de uma série de TV. </a:t>
            </a:r>
          </a:p>
          <a:p>
            <a:r>
              <a:rPr lang="pt-BR" dirty="0"/>
              <a:t>O espectador quer entender o que está acontecendo na história. </a:t>
            </a:r>
          </a:p>
          <a:p>
            <a:r>
              <a:rPr lang="pt-BR" dirty="0"/>
              <a:t>Para isso precisa lembrar das cenas anteriores. </a:t>
            </a:r>
          </a:p>
          <a:p>
            <a:r>
              <a:rPr lang="pt-BR" dirty="0"/>
              <a:t>A RNN recebe a informação em sequencia, por exemplo frases, processa e armazena a informação em sequencia, assim como nos lembramos dos capítulos anteriores de uma série. </a:t>
            </a:r>
          </a:p>
          <a:p>
            <a:r>
              <a:rPr lang="pt-BR" dirty="0"/>
              <a:t>A cada interação, o algoritmo considera o resultado anterior, otimizando o output. </a:t>
            </a:r>
          </a:p>
          <a:p>
            <a:r>
              <a:rPr lang="pt-BR" dirty="0"/>
              <a:t>Esse algoritmo pode ser utilizado para aplicações de NLP, especialmente, quando é preciso entender o contexto.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51DAC-BC4D-1D53-3B2C-1EFA01DBDE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37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064" y="2410921"/>
            <a:ext cx="8960219" cy="3861600"/>
          </a:xfrm>
        </p:spPr>
        <p:txBody>
          <a:bodyPr anchor="t">
            <a:noAutofit/>
          </a:bodyPr>
          <a:lstStyle>
            <a:lvl1pPr algn="l">
              <a:defRPr sz="76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829799" y="3246438"/>
            <a:ext cx="4114800" cy="365125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5AAFEA-9797-719F-034E-1443278D0D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83792" y="1123641"/>
            <a:ext cx="5184775" cy="1197600"/>
          </a:xfrm>
        </p:spPr>
        <p:txBody>
          <a:bodyPr anchor="ctr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385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E2A2-57CA-76B4-7FC7-0E7E733D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75019"/>
            <a:ext cx="4876800" cy="1325563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02CC6-0866-F6F1-FFC1-330B30DD73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FEAA7-A226-2E50-AD23-5FE2A5B986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9D59CD-16F0-1FCD-4958-4D19378595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83793" y="0"/>
            <a:ext cx="5798607" cy="6858000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694355-D2F1-6177-CA10-2FB2BDCA94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4733" y="3072977"/>
            <a:ext cx="4631139" cy="3196800"/>
          </a:xfrm>
        </p:spPr>
        <p:txBody>
          <a:bodyPr>
            <a:noAutofit/>
          </a:bodyPr>
          <a:lstStyle>
            <a:lvl1pPr>
              <a:spcBef>
                <a:spcPts val="400"/>
              </a:spcBef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686FCB5-A714-48C5-F801-8BC93CA09E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4733" y="2656167"/>
            <a:ext cx="4634868" cy="369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1924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5B17-B4A1-EB92-A298-388D035B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70115"/>
            <a:ext cx="3323629" cy="5725248"/>
          </a:xfrm>
        </p:spPr>
        <p:txBody>
          <a:bodyPr anchor="ctr">
            <a:noAutofit/>
          </a:bodyPr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CE9A8-062F-E52A-B822-F2C682A3C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EDBD3-C06B-F685-6F3A-17047C93B3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DEB065-BE89-3D91-17A6-55B54A0585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05357" y="579430"/>
            <a:ext cx="2120348" cy="5715933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DCE6C6-C40C-F791-B3FF-EEAA2288C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8418" y="1058563"/>
            <a:ext cx="4360149" cy="5236800"/>
          </a:xfrm>
        </p:spPr>
        <p:txBody>
          <a:bodyPr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0A1734-9E96-C076-6109-08BEAB597B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8233" y="577373"/>
            <a:ext cx="4360800" cy="387187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15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5B17-B4A1-EB92-A298-388D035B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687" y="574467"/>
            <a:ext cx="6780880" cy="1325563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CE9A8-062F-E52A-B822-F2C682A3C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EDBD3-C06B-F685-6F3A-17047C93B3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DEB065-BE89-3D91-17A6-55B54A0585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563302"/>
            <a:ext cx="3160552" cy="5720232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DCE6C6-C40C-F791-B3FF-EEAA2288C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87687" y="2625934"/>
            <a:ext cx="6780880" cy="36576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D0ED4B-C12C-75E2-03E5-013A94AE89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87826" y="2281008"/>
            <a:ext cx="6780741" cy="314400"/>
          </a:xfrm>
        </p:spPr>
        <p:txBody>
          <a:bodyPr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751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07C1-A2D2-F1A6-D730-4F0C404C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4162370"/>
            <a:ext cx="4118757" cy="2278186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DCB85-C1AE-389B-180B-F0755C7558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B6781-E0BB-8244-2B18-81C5A89ABE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13D6F03-414F-3442-0C5B-EC8851378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576078"/>
            <a:ext cx="3279453" cy="3279453"/>
          </a:xfrm>
        </p:spPr>
        <p:txBody>
          <a:bodyPr/>
          <a:lstStyle/>
          <a:p>
            <a:endParaRPr lang="en-ID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5E5AE0EA-E418-F652-0112-3BBECBF9F3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44065" y="576078"/>
            <a:ext cx="3279453" cy="3279453"/>
          </a:xfrm>
        </p:spPr>
        <p:txBody>
          <a:bodyPr/>
          <a:lstStyle/>
          <a:p>
            <a:endParaRPr lang="en-ID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AB61BF6E-948C-4AEB-61A4-244B2DE035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9114" y="576078"/>
            <a:ext cx="3279453" cy="3279453"/>
          </a:xfrm>
        </p:spPr>
        <p:txBody>
          <a:bodyPr/>
          <a:lstStyle/>
          <a:p>
            <a:endParaRPr lang="en-ID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DA50E1A-8491-728C-9FA7-3C2B65D8B0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82818" y="4496555"/>
            <a:ext cx="5985749" cy="1944000"/>
          </a:xfrm>
        </p:spPr>
        <p:txBody>
          <a:bodyPr anchor="t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C11A40-5DE3-08FC-B5EC-62212BF67E9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82818" y="4162369"/>
            <a:ext cx="5985933" cy="2712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589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07BE-2E01-93C2-881C-035E1AEE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052" y="566058"/>
            <a:ext cx="1924741" cy="5704114"/>
          </a:xfrm>
        </p:spPr>
        <p:txBody>
          <a:bodyPr vert="vert270" anchor="ctr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44A2B-1547-1655-29B9-2804D5FE37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14879-2CE9-2FEA-4087-F8FC1C8C05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EB0609-9FA3-D912-5F69-9CD9658CA1C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1428516"/>
            <a:ext cx="3067418" cy="4000969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1A2439D-33F0-4626-5731-8FB5D5295A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76409" y="1597361"/>
            <a:ext cx="4992158" cy="4207567"/>
          </a:xfrm>
        </p:spPr>
        <p:txBody>
          <a:bodyPr anchor="t">
            <a:noAutofit/>
          </a:bodyPr>
          <a:lstStyle>
            <a:lvl1pPr>
              <a:spcBef>
                <a:spcPts val="400"/>
              </a:spcBef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1CC2E2-7A85-770A-CED5-0E6F307BA9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76409" y="1248046"/>
            <a:ext cx="4992158" cy="3048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078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07BE-2E01-93C2-881C-035E1AEE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1426" y="573517"/>
            <a:ext cx="4307141" cy="1454400"/>
          </a:xfrm>
        </p:spPr>
        <p:txBody>
          <a:bodyPr anchor="t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44A2B-1547-1655-29B9-2804D5FE37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14879-2CE9-2FEA-4087-F8FC1C8C05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EB0609-9FA3-D912-5F69-9CD9658CA1C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619622"/>
            <a:ext cx="5618760" cy="5618400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1A2439D-33F0-4626-5731-8FB5D5295A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1426" y="2841588"/>
            <a:ext cx="4307141" cy="36144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F0EDF-ED0D-7DF6-3D16-36E44C839E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1150" y="2474023"/>
            <a:ext cx="4307417" cy="333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6522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D8E67-9FD7-A8F8-75F6-2FF3CD0DE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01649"/>
            <a:ext cx="10369550" cy="758604"/>
          </a:xfrm>
        </p:spPr>
        <p:txBody>
          <a:bodyPr anchor="t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EFFE8E-6F6C-1E23-79C9-808201616E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39AAF-82A4-7672-8873-E691CE5C39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2550198D-18A3-B15D-CC93-17763FFE6A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9017" y="3233531"/>
            <a:ext cx="3122820" cy="3122820"/>
          </a:xfrm>
        </p:spPr>
        <p:txBody>
          <a:bodyPr/>
          <a:lstStyle/>
          <a:p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E06D47-5795-E8A4-6688-63C0FCAB2B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45747" y="3233531"/>
            <a:ext cx="3122820" cy="3122820"/>
          </a:xfrm>
        </p:spPr>
        <p:txBody>
          <a:bodyPr/>
          <a:lstStyle/>
          <a:p>
            <a:endParaRPr lang="en-ID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BFB99BAA-F395-0232-ED1F-8AC6BA5C78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22381" y="3233531"/>
            <a:ext cx="3122820" cy="3122820"/>
          </a:xfrm>
        </p:spPr>
        <p:txBody>
          <a:bodyPr/>
          <a:lstStyle/>
          <a:p>
            <a:endParaRPr lang="en-ID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44B7A2-957C-93E8-8209-7EE97327682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5734" y="1702061"/>
            <a:ext cx="10392833" cy="14376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7F51D89-C7C9-35E8-B687-68AAC511FED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5734" y="1340909"/>
            <a:ext cx="10392833" cy="3360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175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FB309-9F80-5BE3-F82C-91733414C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3640482"/>
            <a:ext cx="3478419" cy="2809378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27C05-E3B0-EFC4-2286-5860D4A1AC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3CF6B-04E5-9AB9-2466-0284576F03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54F23F8-6331-43CC-E76A-052E46B775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6" y="562709"/>
            <a:ext cx="4994450" cy="2866292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11F901-3943-1C25-A696-666A0EBDBC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0380" y="4054660"/>
            <a:ext cx="6678187" cy="2395200"/>
          </a:xfrm>
        </p:spPr>
        <p:txBody>
          <a:bodyPr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9263BE0-4D84-7BD4-D81B-B266C5C1C47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974117" y="562709"/>
            <a:ext cx="4994450" cy="2866292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F9E850-0A01-918A-C1F1-461E6D7C1A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0380" y="3640666"/>
            <a:ext cx="6678187" cy="3432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765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08D4B-9946-0E0A-8BEE-BB1C6BFDBDE6}"/>
              </a:ext>
            </a:extLst>
          </p:cNvPr>
          <p:cNvSpPr/>
          <p:nvPr userDrawn="1"/>
        </p:nvSpPr>
        <p:spPr>
          <a:xfrm>
            <a:off x="4275667" y="2355849"/>
            <a:ext cx="6692532" cy="1642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5007C1-A2D2-F1A6-D730-4F0C404C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35" y="619623"/>
            <a:ext cx="6692532" cy="1633247"/>
          </a:xfrm>
        </p:spPr>
        <p:txBody>
          <a:bodyPr anchor="t">
            <a:noAutofit/>
          </a:bodyPr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DCB85-C1AE-389B-180B-F0755C7558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B6781-E0BB-8244-2B18-81C5A89ABE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13D6F03-414F-3442-0C5B-EC8851378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619622"/>
            <a:ext cx="3279453" cy="3279453"/>
          </a:xfrm>
        </p:spPr>
        <p:txBody>
          <a:bodyPr/>
          <a:lstStyle/>
          <a:p>
            <a:endParaRPr lang="en-ID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AB61BF6E-948C-4AEB-61A4-244B2DE035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90380" y="4162370"/>
            <a:ext cx="2278187" cy="2278187"/>
          </a:xfrm>
        </p:spPr>
        <p:txBody>
          <a:bodyPr/>
          <a:lstStyle/>
          <a:p>
            <a:endParaRPr lang="en-ID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DA50E1A-8491-728C-9FA7-3C2B65D8B0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9017" y="4385089"/>
            <a:ext cx="7732183" cy="2054400"/>
          </a:xfrm>
        </p:spPr>
        <p:txBody>
          <a:bodyPr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D539BA3-D11E-897F-CE18-588B0DC93D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76035" y="2607013"/>
            <a:ext cx="6692532" cy="1382400"/>
          </a:xfrm>
          <a:noFill/>
        </p:spPr>
        <p:txBody>
          <a:bodyPr lIns="90000" tIns="46800" rIns="90000" bIns="4680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910887-9DF9-8E41-CBB1-3C2A4179AC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9017" y="4126524"/>
            <a:ext cx="7732183" cy="249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8F6B920-074C-FD0C-40EB-802122795E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75667" y="2355849"/>
            <a:ext cx="6692900" cy="249599"/>
          </a:xfrm>
          <a:noFill/>
        </p:spPr>
        <p:txBody>
          <a:bodyPr anchor="ctr" anchorCtr="0">
            <a:noAutofit/>
          </a:bodyPr>
          <a:lstStyle>
            <a:lvl1pPr>
              <a:defRPr sz="125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105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419B-0A7A-D6A9-278B-3CB3F6B13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9860" y="619622"/>
            <a:ext cx="4448707" cy="1968969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475DCC-A5DC-45EE-5280-E6AF55C5F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54E76-F34B-95F8-FD2E-0312C265AE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FD592EB7-0888-4601-189D-47D758F2EA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783792" cy="3855843"/>
          </a:xfrm>
        </p:spPr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5089FCE-DB18-D776-A8F9-8E69AD01AA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5734" y="4512078"/>
            <a:ext cx="5208058" cy="1987053"/>
          </a:xfrm>
        </p:spPr>
        <p:txBody>
          <a:bodyPr>
            <a:noAutofit/>
          </a:bodyPr>
          <a:lstStyle>
            <a:lvl1pPr>
              <a:defRPr>
                <a:latin typeface="+mn-lt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1pPr>
            <a:lvl2pPr>
              <a:defRPr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2pPr>
            <a:lvl3pPr>
              <a:defRPr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3pPr>
            <a:lvl4pPr>
              <a:defRPr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4pPr>
            <a:lvl5pPr>
              <a:defRPr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0477A3C-2108-3003-027C-E88B14294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19862" y="3429000"/>
            <a:ext cx="4448705" cy="285292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447C4F-9DF9-4C69-F400-0A0CE900741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5733" y="4066517"/>
            <a:ext cx="5208059" cy="4032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5FE6426-8335-E1C3-FB13-43F08A52D6E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19862" y="3091241"/>
            <a:ext cx="4448706" cy="2880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3104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442312-9E63-3A81-2CB4-8F85F5C2CD49}"/>
              </a:ext>
            </a:extLst>
          </p:cNvPr>
          <p:cNvSpPr/>
          <p:nvPr userDrawn="1"/>
        </p:nvSpPr>
        <p:spPr>
          <a:xfrm>
            <a:off x="0" y="1945185"/>
            <a:ext cx="3878469" cy="4912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0176E-FDDF-30CB-EB74-A75B39D0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694" y="501649"/>
            <a:ext cx="10270873" cy="1325563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0C34D-8F75-41B3-4243-E45FBD015B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13D18-EF04-D403-494B-02A03A28BC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A0E6078-78A1-619C-E7B0-63DBC649FF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9017" y="2686751"/>
            <a:ext cx="2702983" cy="366960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3E87E0F-2528-3A8B-F312-9C9235E586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771" y="2686751"/>
            <a:ext cx="2850043" cy="36696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75F903-A46A-31EE-9532-17999D9477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9016" y="2275974"/>
            <a:ext cx="2702984" cy="369600"/>
          </a:xfrm>
        </p:spPr>
        <p:txBody>
          <a:bodyPr anchor="b">
            <a:noAutofit/>
          </a:bodyPr>
          <a:lstStyle>
            <a:lvl1pPr>
              <a:defRPr sz="125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746F59D-CF95-DEC8-5CAA-EE08708A5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58771" y="2275974"/>
            <a:ext cx="2851200" cy="369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CDD7BE0-BC6C-5AE9-BCEE-9C91EA7B4B4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18524" y="2686751"/>
            <a:ext cx="2850043" cy="36696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C0FB17E-6098-251C-5B8E-56C2FE57DE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7367" y="2275974"/>
            <a:ext cx="2851200" cy="369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1824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EB1E-7063-62F6-6178-84A09252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2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Z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88764-10F6-E04C-94EB-0287F12582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32E04-1353-E30E-552C-E54A3DA074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 dirty="0"/>
          </a:p>
        </p:txBody>
      </p:sp>
      <p:sp>
        <p:nvSpPr>
          <p:cNvPr id="5" name="Chart Placeholder 22">
            <a:extLst>
              <a:ext uri="{FF2B5EF4-FFF2-40B4-BE49-F238E27FC236}">
                <a16:creationId xmlns:a16="http://schemas.microsoft.com/office/drawing/2014/main" id="{10D922AA-24B6-6B14-7A38-DBC7EDED764B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1200000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FB6B8F6-C436-9978-2F4B-4A4FAEFE52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31381" y="4112515"/>
            <a:ext cx="2396467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04E407-1287-6C2D-410A-98BC0C8674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83792" y="1711315"/>
            <a:ext cx="2400000" cy="4802400"/>
          </a:xfrm>
        </p:spPr>
        <p:txBody>
          <a:bodyPr/>
          <a:lstStyle/>
          <a:p>
            <a:endParaRPr lang="en-UZ"/>
          </a:p>
        </p:txBody>
      </p:sp>
      <p:sp>
        <p:nvSpPr>
          <p:cNvPr id="10" name="Chart Placeholder 22">
            <a:extLst>
              <a:ext uri="{FF2B5EF4-FFF2-40B4-BE49-F238E27FC236}">
                <a16:creationId xmlns:a16="http://schemas.microsoft.com/office/drawing/2014/main" id="{1BE74FB2-1D73-647C-5C92-0AA274565BB5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8329800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7C4768-2F14-E327-6DA3-6E37F58CFA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31381" y="3535556"/>
            <a:ext cx="2396467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E210F19-1CD2-510F-9EF1-7A725C1F08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148693" y="35355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1CE4C3-5BFE-BA45-1C06-0F5D8259E68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154626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5754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EB1E-7063-62F6-6178-84A09252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2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Z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88764-10F6-E04C-94EB-0287F12582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32E04-1353-E30E-552C-E54A3DA074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5" name="Chart Placeholder 22">
            <a:extLst>
              <a:ext uri="{FF2B5EF4-FFF2-40B4-BE49-F238E27FC236}">
                <a16:creationId xmlns:a16="http://schemas.microsoft.com/office/drawing/2014/main" id="{10D922AA-24B6-6B14-7A38-DBC7EDED764B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1237772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FB6B8F6-C436-9978-2F4B-4A4FAEFE52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54623" y="4123971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hart Placeholder 22">
            <a:extLst>
              <a:ext uri="{FF2B5EF4-FFF2-40B4-BE49-F238E27FC236}">
                <a16:creationId xmlns:a16="http://schemas.microsoft.com/office/drawing/2014/main" id="{1BE74FB2-1D73-647C-5C92-0AA274565BB5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8329800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7C4768-2F14-E327-6DA3-6E37F58CFA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57469" y="35355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E210F19-1CD2-510F-9EF1-7A725C1F08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148693" y="35355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1CE4C3-5BFE-BA45-1C06-0F5D8259E68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154626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hart Placeholder 22">
            <a:extLst>
              <a:ext uri="{FF2B5EF4-FFF2-40B4-BE49-F238E27FC236}">
                <a16:creationId xmlns:a16="http://schemas.microsoft.com/office/drawing/2014/main" id="{6034BEDD-4A10-0EE9-2B80-CC48F6463E58}"/>
              </a:ext>
            </a:extLst>
          </p:cNvPr>
          <p:cNvSpPr>
            <a:spLocks noGrp="1"/>
          </p:cNvSpPr>
          <p:nvPr>
            <p:ph type="chart" sz="quarter" idx="34"/>
          </p:nvPr>
        </p:nvSpPr>
        <p:spPr>
          <a:xfrm>
            <a:off x="4764900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AF6507D-02F3-DCED-4A26-289016D4AA4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92749" y="35355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1DD65D9A-82AD-5F53-C8F5-B476568A76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04627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6744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ha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EB1E-7063-62F6-6178-84A09252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2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Z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88764-10F6-E04C-94EB-0287F12582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32E04-1353-E30E-552C-E54A3DA074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5" name="Chart Placeholder 22">
            <a:extLst>
              <a:ext uri="{FF2B5EF4-FFF2-40B4-BE49-F238E27FC236}">
                <a16:creationId xmlns:a16="http://schemas.microsoft.com/office/drawing/2014/main" id="{10D922AA-24B6-6B14-7A38-DBC7EDED764B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758041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FB6B8F6-C436-9978-2F4B-4A4FAEFE52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5733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hart Placeholder 22">
            <a:extLst>
              <a:ext uri="{FF2B5EF4-FFF2-40B4-BE49-F238E27FC236}">
                <a16:creationId xmlns:a16="http://schemas.microsoft.com/office/drawing/2014/main" id="{1BE74FB2-1D73-647C-5C92-0AA274565BB5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8735824" y="174471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7C4768-2F14-E327-6DA3-6E37F58CFA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81086" y="3537499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E210F19-1CD2-510F-9EF1-7A725C1F08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554717" y="3540182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1CE4C3-5BFE-BA45-1C06-0F5D8259E68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566167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hart Placeholder 22">
            <a:extLst>
              <a:ext uri="{FF2B5EF4-FFF2-40B4-BE49-F238E27FC236}">
                <a16:creationId xmlns:a16="http://schemas.microsoft.com/office/drawing/2014/main" id="{6034BEDD-4A10-0EE9-2B80-CC48F6463E58}"/>
              </a:ext>
            </a:extLst>
          </p:cNvPr>
          <p:cNvSpPr>
            <a:spLocks noGrp="1"/>
          </p:cNvSpPr>
          <p:nvPr>
            <p:ph type="chart" sz="quarter" idx="34"/>
          </p:nvPr>
        </p:nvSpPr>
        <p:spPr>
          <a:xfrm>
            <a:off x="3370625" y="174471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AF6507D-02F3-DCED-4A26-289016D4AA4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189519" y="3537499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1DD65D9A-82AD-5F53-C8F5-B476568A76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189518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B133C47-E461-5076-CFB7-81D33483F7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971041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610F9E3-7283-B27D-D134-C4587A57822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971041" y="35304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hart Placeholder 22">
            <a:extLst>
              <a:ext uri="{FF2B5EF4-FFF2-40B4-BE49-F238E27FC236}">
                <a16:creationId xmlns:a16="http://schemas.microsoft.com/office/drawing/2014/main" id="{55CE330B-87B2-E709-8431-E977F2430003}"/>
              </a:ext>
            </a:extLst>
          </p:cNvPr>
          <p:cNvSpPr>
            <a:spLocks noGrp="1"/>
          </p:cNvSpPr>
          <p:nvPr>
            <p:ph type="chart" sz="quarter" idx="39"/>
          </p:nvPr>
        </p:nvSpPr>
        <p:spPr>
          <a:xfrm>
            <a:off x="6152148" y="1744717"/>
            <a:ext cx="2037784" cy="168428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805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8A9BB-4EB7-026F-4816-EB928B5D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00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Z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5F750-4EF6-B33F-4FD2-2D9576B1F3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428C6-0B9B-0025-A8AE-3EE85EAAD7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73C4683-1814-6BFA-2362-08272BB995A4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184191" y="2398620"/>
            <a:ext cx="9199200" cy="3875617"/>
          </a:xfrm>
        </p:spPr>
        <p:txBody>
          <a:bodyPr/>
          <a:lstStyle/>
          <a:p>
            <a:endParaRPr lang="en-U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24791E-5C2D-05F7-7815-AE0E39BA9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84358" y="1875366"/>
            <a:ext cx="9199033" cy="388800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0696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01C7-D54C-B4CE-4985-D871336E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endParaRPr lang="en-UZ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2109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D2E36-BADF-8412-F354-96F2041DC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1D5FD-C837-C92F-8E5D-69F1993012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‹nº›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58900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9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A7B8A4-ABCC-D9A5-163D-95AADEB96E20}"/>
              </a:ext>
            </a:extLst>
          </p:cNvPr>
          <p:cNvSpPr/>
          <p:nvPr userDrawn="1"/>
        </p:nvSpPr>
        <p:spPr>
          <a:xfrm>
            <a:off x="11582400" y="0"/>
            <a:ext cx="60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9017" y="1991065"/>
            <a:ext cx="10369550" cy="4283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829799" y="20113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ID" dirty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2399" y="6356351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10" b="1">
                <a:solidFill>
                  <a:schemeClr val="bg1"/>
                </a:solidFill>
              </a:defRPr>
            </a:lvl1pPr>
          </a:lstStyle>
          <a:p>
            <a:fld id="{CF6F24BE-8BEB-403A-BDCC-38E201D0662D}" type="slidenum">
              <a:rPr lang="en-ID" smtClean="0"/>
              <a:pPr/>
              <a:t>‹nº›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43850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</p:sldLayoutIdLst>
  <p:hf hd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None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23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9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914446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371669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7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91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7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465">
          <p15:clr>
            <a:srgbClr val="F26B43"/>
          </p15:clr>
        </p15:guide>
        <p15:guide id="2" orient="horz" pos="3240">
          <p15:clr>
            <a:srgbClr val="F26B43"/>
          </p15:clr>
        </p15:guide>
        <p15:guide id="3" pos="10364">
          <p15:clr>
            <a:srgbClr val="F26B43"/>
          </p15:clr>
        </p15:guide>
        <p15:guide id="4" pos="5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EDC587-F10B-50CB-7BC4-8A25EAC71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729" y="1389530"/>
            <a:ext cx="8960219" cy="2253107"/>
          </a:xfrm>
        </p:spPr>
        <p:txBody>
          <a:bodyPr anchor="t" anchorCtr="0">
            <a:normAutofit/>
          </a:bodyPr>
          <a:lstStyle/>
          <a:p>
            <a:r>
              <a:rPr lang="pt-BR" sz="7500" noProof="0" dirty="0">
                <a:solidFill>
                  <a:schemeClr val="bg1"/>
                </a:solidFill>
              </a:rPr>
              <a:t>Agrônomo Virtual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66EC97-5F7F-F0A9-08D2-20C3527FB6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06137" y="4985592"/>
            <a:ext cx="6205870" cy="198833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Ge</a:t>
            </a:r>
            <a:r>
              <a:rPr lang="pt-BR" sz="1800" dirty="0" err="1">
                <a:solidFill>
                  <a:schemeClr val="bg1"/>
                </a:solidFill>
                <a:latin typeface="Barlow" panose="00000500000000000000" pitchFamily="2" charset="0"/>
              </a:rPr>
              <a:t>rardi</a:t>
            </a:r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, Dirceu André 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Fatec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 – 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Cotia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  <a:endParaRPr lang="pt-BR" sz="1800" baseline="300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Aceno, Jean 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Fatec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 – 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Cotia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  <a:endParaRPr lang="pt-BR" sz="18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Cassitas, Julia</a:t>
            </a:r>
            <a:r>
              <a:rPr lang="pt-BR" sz="1800" baseline="30000" dirty="0">
                <a:solidFill>
                  <a:schemeClr val="bg1"/>
                </a:solidFill>
                <a:latin typeface="Barlow" panose="00000500000000000000" pitchFamily="2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Fatec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 – 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Cotia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  <a:endParaRPr lang="pt-BR" sz="1800" baseline="300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Velloso, André 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Fatec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 – 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Cotia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  <a:endParaRPr lang="pt-BR" sz="18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Silva Junior, Braz Izaias 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Fatec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 – </a:t>
            </a:r>
            <a:r>
              <a:rPr lang="en-US" sz="1800" dirty="0" err="1">
                <a:solidFill>
                  <a:schemeClr val="bg1"/>
                </a:solidFill>
                <a:latin typeface="Aptos Display" panose="020B0004020202020204" pitchFamily="34" charset="0"/>
              </a:rPr>
              <a:t>Cotia</a:t>
            </a:r>
            <a:r>
              <a:rPr lang="en-US" sz="1800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  <a:endParaRPr lang="pt-BR" sz="18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endParaRPr lang="en-GB" sz="20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0A0CDBF-64B5-54F1-9AD1-4235D250B00B}"/>
              </a:ext>
            </a:extLst>
          </p:cNvPr>
          <p:cNvSpPr txBox="1"/>
          <p:nvPr/>
        </p:nvSpPr>
        <p:spPr>
          <a:xfrm>
            <a:off x="862729" y="3699392"/>
            <a:ext cx="71517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Avaliação de </a:t>
            </a:r>
            <a:r>
              <a:rPr lang="pt-BR" sz="2400" dirty="0" err="1">
                <a:solidFill>
                  <a:schemeClr val="bg1"/>
                </a:solidFill>
              </a:rPr>
              <a:t>LLMs</a:t>
            </a:r>
            <a:r>
              <a:rPr lang="pt-BR" sz="2400" dirty="0">
                <a:solidFill>
                  <a:schemeClr val="bg1"/>
                </a:solidFill>
              </a:rPr>
              <a:t> aplicados ao manejo de lavouras e nutrição de plantas Citrus spp. </a:t>
            </a:r>
          </a:p>
        </p:txBody>
      </p:sp>
    </p:spTree>
    <p:extLst>
      <p:ext uri="{BB962C8B-B14F-4D97-AF65-F5344CB8AC3E}">
        <p14:creationId xmlns:p14="http://schemas.microsoft.com/office/powerpoint/2010/main" val="801646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m 43">
            <a:extLst>
              <a:ext uri="{FF2B5EF4-FFF2-40B4-BE49-F238E27FC236}">
                <a16:creationId xmlns:a16="http://schemas.microsoft.com/office/drawing/2014/main" id="{206E0A55-217C-327A-C99D-A518AE617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186" y="-1126"/>
            <a:ext cx="9144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6EE41D7-5B0A-7353-4B5B-C497FA5F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 da Produção de Citrus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2F4F7D0-2A1C-BD61-81B3-D6E37E16A0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 noProof="0" dirty="0"/>
              <a:t>Agrônomo Virtual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B0D356-1A17-5250-41B7-3285A43580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2</a:t>
            </a:fld>
            <a:endParaRPr lang="en-ID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38BECEA8-FE4A-6B50-D3DA-116EBEEC12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362" y="3427874"/>
            <a:ext cx="5902805" cy="3196800"/>
          </a:xfr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pt-BR" sz="1600" dirty="0">
                <a:latin typeface="Aptos Display" panose="020B0004020202020204" pitchFamily="34" charset="0"/>
              </a:rPr>
              <a:t>O Brasil é o segundo maior produtor mundial de Citrus;</a:t>
            </a:r>
          </a:p>
          <a:p>
            <a:pPr marL="171450" indent="-171450">
              <a:buFontTx/>
              <a:buChar char="-"/>
            </a:pPr>
            <a:r>
              <a:rPr lang="pt-BR" sz="1600" dirty="0">
                <a:latin typeface="Aptos Display" panose="020B0004020202020204" pitchFamily="34" charset="0"/>
              </a:rPr>
              <a:t>A produção brasileira em 2023 foi superior a R$ 4 BI (IBGE, CEPEA e FGV)</a:t>
            </a:r>
          </a:p>
          <a:p>
            <a:pPr marL="171450" indent="-171450">
              <a:buFontTx/>
              <a:buChar char="-"/>
            </a:pPr>
            <a:r>
              <a:rPr lang="pt-BR" sz="1600" dirty="0">
                <a:latin typeface="Aptos Display" panose="020B0004020202020204" pitchFamily="34" charset="0"/>
              </a:rPr>
              <a:t>São Paulo foi responsável por 72% da produção nacional;</a:t>
            </a:r>
          </a:p>
          <a:p>
            <a:pPr marL="171450" indent="-171450">
              <a:buFontTx/>
              <a:buChar char="-"/>
            </a:pPr>
            <a:r>
              <a:rPr lang="pt-BR" sz="1600" dirty="0">
                <a:latin typeface="Aptos Display" panose="020B0004020202020204" pitchFamily="34" charset="0"/>
              </a:rPr>
              <a:t>Rendimento médio por Hectare – 40 kg (2023);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EC10D20-8A3C-5976-DEE3-2DD2A73E2D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8327" y="2987463"/>
            <a:ext cx="4634868" cy="369600"/>
          </a:xfrm>
        </p:spPr>
        <p:txBody>
          <a:bodyPr/>
          <a:lstStyle/>
          <a:p>
            <a:r>
              <a:rPr lang="pt-BR" dirty="0"/>
              <a:t>IMPORTÂNCIA DO CITRUS</a:t>
            </a:r>
          </a:p>
        </p:txBody>
      </p:sp>
    </p:spTree>
    <p:extLst>
      <p:ext uri="{BB962C8B-B14F-4D97-AF65-F5344CB8AC3E}">
        <p14:creationId xmlns:p14="http://schemas.microsoft.com/office/powerpoint/2010/main" val="3033628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09F5DC7-B619-CCE9-DB8E-754154EE6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074" y="478991"/>
            <a:ext cx="4934768" cy="5079059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DFEF066A-C6D7-6A2A-FAC8-EFC025AA52F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3</a:t>
            </a:fld>
            <a:endParaRPr lang="en-US"/>
          </a:p>
        </p:txBody>
      </p:sp>
      <p:sp>
        <p:nvSpPr>
          <p:cNvPr id="4" name="Espaço Reservado para Texto 6">
            <a:extLst>
              <a:ext uri="{FF2B5EF4-FFF2-40B4-BE49-F238E27FC236}">
                <a16:creationId xmlns:a16="http://schemas.microsoft.com/office/drawing/2014/main" id="{7B8F3616-9C2B-0CCC-B2D9-F6E3DE77B525}"/>
              </a:ext>
            </a:extLst>
          </p:cNvPr>
          <p:cNvSpPr txBox="1">
            <a:spLocks/>
          </p:cNvSpPr>
          <p:nvPr/>
        </p:nvSpPr>
        <p:spPr>
          <a:xfrm>
            <a:off x="6889183" y="6374283"/>
            <a:ext cx="4634868" cy="36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46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5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23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933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46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69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733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91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733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50" dirty="0"/>
              <a:t>Fonte: </a:t>
            </a:r>
            <a:r>
              <a:rPr lang="pt-BR" sz="1050" b="0" dirty="0"/>
              <a:t>Produção Agrícola Municipal (PAM). IBGE. 2023. </a:t>
            </a:r>
          </a:p>
        </p:txBody>
      </p:sp>
      <p:sp>
        <p:nvSpPr>
          <p:cNvPr id="7" name="Espaço Reservado para Texto 5">
            <a:extLst>
              <a:ext uri="{FF2B5EF4-FFF2-40B4-BE49-F238E27FC236}">
                <a16:creationId xmlns:a16="http://schemas.microsoft.com/office/drawing/2014/main" id="{60BCFFFF-9855-E54B-BBBA-AA630D5F2983}"/>
              </a:ext>
            </a:extLst>
          </p:cNvPr>
          <p:cNvSpPr txBox="1">
            <a:spLocks/>
          </p:cNvSpPr>
          <p:nvPr/>
        </p:nvSpPr>
        <p:spPr>
          <a:xfrm>
            <a:off x="673445" y="2508158"/>
            <a:ext cx="5247629" cy="3196800"/>
          </a:xfrm>
          <a:prstGeom prst="rect">
            <a:avLst/>
          </a:prstGeom>
        </p:spPr>
        <p:txBody>
          <a:bodyPr/>
          <a:lstStyle>
            <a:lvl1pPr marL="0" indent="0" algn="l" defTabSz="914446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23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933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46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69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733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91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733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Tx/>
              <a:buChar char="-"/>
            </a:pPr>
            <a:r>
              <a:rPr lang="pt-BR" sz="1400" dirty="0"/>
              <a:t>China é o maior produtor mundial, seguido pelo Brasil</a:t>
            </a:r>
          </a:p>
          <a:p>
            <a:pPr marL="171450" indent="-171450">
              <a:buFontTx/>
              <a:buChar char="-"/>
            </a:pPr>
            <a:r>
              <a:rPr lang="pt-BR" sz="1400" dirty="0"/>
              <a:t>A produção brasileira em 2023 foi de R$ 20 MI (IBGE);</a:t>
            </a:r>
          </a:p>
          <a:p>
            <a:pPr marL="171450" indent="-171450">
              <a:buFontTx/>
              <a:buChar char="-"/>
            </a:pPr>
            <a:r>
              <a:rPr lang="pt-BR" sz="1400" dirty="0"/>
              <a:t>São Paulo foi responsável por 72% da produção nacional;</a:t>
            </a:r>
          </a:p>
          <a:p>
            <a:pPr marL="171450" indent="-171450">
              <a:buFontTx/>
              <a:buChar char="-"/>
            </a:pPr>
            <a:r>
              <a:rPr lang="pt-BR" sz="1400" dirty="0"/>
              <a:t>Rendimento médio por Hectare – 30.6 Kg (2023);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190A9DFD-3F7E-90CB-B632-D641169E8B78}"/>
              </a:ext>
            </a:extLst>
          </p:cNvPr>
          <p:cNvSpPr txBox="1">
            <a:spLocks/>
          </p:cNvSpPr>
          <p:nvPr/>
        </p:nvSpPr>
        <p:spPr>
          <a:xfrm>
            <a:off x="794410" y="1934509"/>
            <a:ext cx="4634868" cy="369600"/>
          </a:xfrm>
          <a:prstGeom prst="rect">
            <a:avLst/>
          </a:prstGeom>
        </p:spPr>
        <p:txBody>
          <a:bodyPr/>
          <a:lstStyle>
            <a:lvl1pPr marL="0" indent="0" algn="l" defTabSz="914446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23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933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46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69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733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91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733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1" dirty="0"/>
              <a:t>Caso: Laranja</a:t>
            </a:r>
          </a:p>
        </p:txBody>
      </p:sp>
    </p:spTree>
    <p:extLst>
      <p:ext uri="{BB962C8B-B14F-4D97-AF65-F5344CB8AC3E}">
        <p14:creationId xmlns:p14="http://schemas.microsoft.com/office/powerpoint/2010/main" val="343563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E32592F-867C-BDB3-4E31-5D3468C197C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4</a:t>
            </a:fld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4DC19D0-57FB-B399-A559-2EE7A1174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312" y="247519"/>
            <a:ext cx="8537944" cy="6240881"/>
          </a:xfrm>
          <a:prstGeom prst="rect">
            <a:avLst/>
          </a:prstGeom>
        </p:spPr>
      </p:pic>
      <p:sp>
        <p:nvSpPr>
          <p:cNvPr id="4" name="Espaço Reservado para Texto 6">
            <a:extLst>
              <a:ext uri="{FF2B5EF4-FFF2-40B4-BE49-F238E27FC236}">
                <a16:creationId xmlns:a16="http://schemas.microsoft.com/office/drawing/2014/main" id="{4BFEEDF4-5C79-B9A0-422F-1D1818A3CCD0}"/>
              </a:ext>
            </a:extLst>
          </p:cNvPr>
          <p:cNvSpPr txBox="1">
            <a:spLocks/>
          </p:cNvSpPr>
          <p:nvPr/>
        </p:nvSpPr>
        <p:spPr>
          <a:xfrm>
            <a:off x="4145982" y="6488400"/>
            <a:ext cx="4634868" cy="36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46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5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23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933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46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69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733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91" indent="0" algn="l" defTabSz="914446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733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50" dirty="0"/>
              <a:t>Fonte: </a:t>
            </a:r>
            <a:r>
              <a:rPr lang="pt-BR" sz="1050" b="0" dirty="0"/>
              <a:t>Produção Agrícola Municipal (PAM). IBGE. 2023. </a:t>
            </a:r>
          </a:p>
        </p:txBody>
      </p:sp>
    </p:spTree>
    <p:extLst>
      <p:ext uri="{BB962C8B-B14F-4D97-AF65-F5344CB8AC3E}">
        <p14:creationId xmlns:p14="http://schemas.microsoft.com/office/powerpoint/2010/main" val="4252690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2686-9E83-959D-D59C-145DF9B51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3E6A52-40BE-DDE0-194B-C06AE13A8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 Computacional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F38D40B-7593-38A7-3DDD-4F82CF85C5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 noProof="0" dirty="0"/>
              <a:t>Agrônomo Virtual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E7FC5A-BE3B-C19C-3887-E30FD488FC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5</a:t>
            </a:fld>
            <a:endParaRPr lang="en-ID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9E20675-AA4D-743B-2572-CB3C49560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9017" y="3018521"/>
            <a:ext cx="5844313" cy="3196800"/>
          </a:xfrm>
        </p:spPr>
        <p:txBody>
          <a:bodyPr/>
          <a:lstStyle/>
          <a:p>
            <a:pPr algn="just"/>
            <a:r>
              <a:rPr lang="pt-BR" sz="1600" dirty="0">
                <a:latin typeface="Aptos Display" panose="020B0004020202020204" pitchFamily="34" charset="0"/>
              </a:rPr>
              <a:t>- Redes neurais recorrentes (</a:t>
            </a:r>
            <a:r>
              <a:rPr lang="pt-BR" sz="1600" dirty="0" err="1">
                <a:latin typeface="Aptos Display" panose="020B0004020202020204" pitchFamily="34" charset="0"/>
              </a:rPr>
              <a:t>RNNs</a:t>
            </a:r>
            <a:r>
              <a:rPr lang="pt-BR" sz="1600" dirty="0">
                <a:latin typeface="Aptos Display" panose="020B0004020202020204" pitchFamily="34" charset="0"/>
              </a:rPr>
              <a:t>) utilizadas no passado enfrentavam limitações na geração efetiva de linguagem devido a restrições computacionais. </a:t>
            </a:r>
          </a:p>
          <a:p>
            <a:pPr algn="just"/>
            <a:r>
              <a:rPr lang="pt-BR" sz="1600" dirty="0">
                <a:latin typeface="Aptos Display" panose="020B0004020202020204" pitchFamily="34" charset="0"/>
              </a:rPr>
              <a:t>- A introdução da arquitetura Transformer possibilitou processamento paralelo revolucionando as capacidades generativas.</a:t>
            </a:r>
          </a:p>
          <a:p>
            <a:pPr algn="just"/>
            <a:r>
              <a:rPr lang="pt-BR" sz="1600" dirty="0">
                <a:latin typeface="Aptos Display" panose="020B0004020202020204" pitchFamily="34" charset="0"/>
              </a:rPr>
              <a:t>- A inovação chave foi o estabelecimento de mecanismos de atenção para que o modelo focasse no significado semântico ao invés de apenas prever a próxima palavra (</a:t>
            </a:r>
            <a:r>
              <a:rPr lang="pt-BR" sz="1600" dirty="0" err="1">
                <a:latin typeface="Aptos Display" panose="020B0004020202020204" pitchFamily="34" charset="0"/>
              </a:rPr>
              <a:t>Vaswani</a:t>
            </a:r>
            <a:r>
              <a:rPr lang="pt-BR" sz="1600" dirty="0">
                <a:latin typeface="Aptos Display" panose="020B0004020202020204" pitchFamily="34" charset="0"/>
              </a:rPr>
              <a:t> et al., 2017; Karita et al., 2019). 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E3FB36C-1C93-9534-321D-F8D161C6A6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9016" y="2274751"/>
            <a:ext cx="4634868" cy="369600"/>
          </a:xfrm>
        </p:spPr>
        <p:txBody>
          <a:bodyPr/>
          <a:lstStyle/>
          <a:p>
            <a:r>
              <a:rPr lang="pt-BR" sz="1600" dirty="0"/>
              <a:t>Arquitetura Transformer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526809-CC29-A4DC-3C45-700E9BADA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572" y="691977"/>
            <a:ext cx="4065132" cy="523854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0E08BF2-FCE0-02D0-562A-32A59CDDDD18}"/>
              </a:ext>
            </a:extLst>
          </p:cNvPr>
          <p:cNvSpPr txBox="1"/>
          <p:nvPr/>
        </p:nvSpPr>
        <p:spPr>
          <a:xfrm>
            <a:off x="8198587" y="267242"/>
            <a:ext cx="3383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Arquitetura do Transformer</a:t>
            </a:r>
          </a:p>
        </p:txBody>
      </p:sp>
    </p:spTree>
    <p:extLst>
      <p:ext uri="{BB962C8B-B14F-4D97-AF65-F5344CB8AC3E}">
        <p14:creationId xmlns:p14="http://schemas.microsoft.com/office/powerpoint/2010/main" val="3959172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6900" y="571500"/>
            <a:ext cx="10363200" cy="952500"/>
          </a:xfrm>
          <a:prstGeom prst="rect">
            <a:avLst/>
          </a:prstGeom>
          <a:noFill/>
          <a:ln/>
        </p:spPr>
        <p:txBody>
          <a:bodyPr wrap="square" rtlCol="0" anchor="t" anchorCtr="0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 err="1">
                <a:solidFill>
                  <a:schemeClr val="bg1"/>
                </a:solidFill>
                <a:latin typeface="Montserrat ExtraBold"/>
              </a:rPr>
              <a:t>Objetivo</a:t>
            </a:r>
            <a:endParaRPr lang="en-US" sz="4400" dirty="0">
              <a:solidFill>
                <a:schemeClr val="bg1"/>
              </a:solidFill>
              <a:latin typeface="Montserrat ExtraBold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219200" y="1219200"/>
            <a:ext cx="1219200" cy="1219200"/>
          </a:xfrm>
          <a:prstGeom prst="line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596900" y="2171699"/>
            <a:ext cx="7505109" cy="14752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dirty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O objetivo do projeto é comparar o desempenho de modelos RNN e </a:t>
            </a:r>
            <a:r>
              <a:rPr lang="pt-BR" sz="1800" dirty="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LLMs</a:t>
            </a:r>
            <a:r>
              <a:rPr lang="pt-BR" sz="1800" dirty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baseados na arquitetura Transformer, na análise de dados relacionados ao manejo de lavouras e à nutrição de plantas do gênero Citrus spp.</a:t>
            </a:r>
          </a:p>
          <a:p>
            <a:pPr marL="0" indent="0">
              <a:buNone/>
            </a:pPr>
            <a:endParaRPr lang="pt-BR" sz="1800" dirty="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9700" y="6350000"/>
            <a:ext cx="609600" cy="355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 anchorCtr="0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sz="121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pPr algn="ctr"/>
              <a:t>6</a:t>
            </a:fld>
            <a:endParaRPr lang="en-US" sz="121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2144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E280E2-4899-22B3-7E71-F5673953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50EAC6D-6271-05E5-60B5-91248706AFCD}"/>
              </a:ext>
            </a:extLst>
          </p:cNvPr>
          <p:cNvSpPr/>
          <p:nvPr/>
        </p:nvSpPr>
        <p:spPr>
          <a:xfrm>
            <a:off x="596900" y="571500"/>
            <a:ext cx="10363200" cy="952500"/>
          </a:xfrm>
          <a:prstGeom prst="rect">
            <a:avLst/>
          </a:prstGeom>
          <a:noFill/>
          <a:ln/>
        </p:spPr>
        <p:txBody>
          <a:bodyPr wrap="square" rtlCol="0" anchor="t" anchorCtr="0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 err="1">
                <a:solidFill>
                  <a:schemeClr val="bg1"/>
                </a:solidFill>
                <a:latin typeface="Montserrat ExtraBold"/>
              </a:rPr>
              <a:t>Hipótese</a:t>
            </a:r>
            <a:endParaRPr lang="en-US" sz="4400" dirty="0">
              <a:solidFill>
                <a:schemeClr val="bg1"/>
              </a:solidFill>
              <a:latin typeface="Montserrat ExtraBold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CB2FB7B-174E-ABCC-ABFB-D6A044B297CD}"/>
              </a:ext>
            </a:extLst>
          </p:cNvPr>
          <p:cNvSpPr/>
          <p:nvPr/>
        </p:nvSpPr>
        <p:spPr>
          <a:xfrm>
            <a:off x="1219200" y="1219200"/>
            <a:ext cx="1219200" cy="1219200"/>
          </a:xfrm>
          <a:prstGeom prst="line">
            <a:avLst/>
          </a:prstGeom>
          <a:noFill/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47E6B2F-9199-8C77-B320-42DC43B5A574}"/>
              </a:ext>
            </a:extLst>
          </p:cNvPr>
          <p:cNvSpPr/>
          <p:nvPr/>
        </p:nvSpPr>
        <p:spPr>
          <a:xfrm>
            <a:off x="596900" y="2171699"/>
            <a:ext cx="7505109" cy="14752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800" dirty="0">
                <a:solidFill>
                  <a:schemeClr val="bg1"/>
                </a:solidFill>
              </a:rPr>
              <a:t>Nossa hipótese de trabalho é que os resultados do </a:t>
            </a:r>
            <a:r>
              <a:rPr lang="pt-BR" sz="1800" i="1" dirty="0">
                <a:solidFill>
                  <a:schemeClr val="bg1"/>
                </a:solidFill>
              </a:rPr>
              <a:t>Transformer</a:t>
            </a:r>
            <a:r>
              <a:rPr lang="pt-BR" sz="1800" dirty="0">
                <a:solidFill>
                  <a:schemeClr val="bg1"/>
                </a:solidFill>
              </a:rPr>
              <a:t> superarão os das Redes Neurais Recorrentes, mas será fundamental uma comprovação prática neste estágio do projeto.</a:t>
            </a:r>
          </a:p>
          <a:p>
            <a:pPr marL="0" indent="0">
              <a:buNone/>
            </a:pPr>
            <a:endParaRPr lang="pt-BR" sz="1800" dirty="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657C685-D4F6-1F13-A1DD-857E09A556E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9700" y="6350000"/>
            <a:ext cx="609600" cy="355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 anchorCtr="0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sz="121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pPr algn="ctr"/>
              <a:t>7</a:t>
            </a:fld>
            <a:endParaRPr lang="en-US" sz="121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948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77E64-DA6E-CD8B-30D7-379BDB8A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E4847B3-726D-F2EF-1D43-652D97CEB3B1}"/>
              </a:ext>
            </a:extLst>
          </p:cNvPr>
          <p:cNvSpPr/>
          <p:nvPr/>
        </p:nvSpPr>
        <p:spPr>
          <a:xfrm>
            <a:off x="596900" y="571500"/>
            <a:ext cx="10363200" cy="952500"/>
          </a:xfrm>
          <a:prstGeom prst="rect">
            <a:avLst/>
          </a:prstGeom>
          <a:noFill/>
          <a:ln/>
        </p:spPr>
        <p:txBody>
          <a:bodyPr wrap="square" rtlCol="0" anchor="t" anchorCtr="0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>
                <a:solidFill>
                  <a:schemeClr val="bg1"/>
                </a:solidFill>
                <a:latin typeface="Montserrat ExtraBold"/>
              </a:rPr>
              <a:t>Material e </a:t>
            </a:r>
            <a:r>
              <a:rPr lang="en-US" sz="4400" dirty="0" err="1">
                <a:solidFill>
                  <a:schemeClr val="bg1"/>
                </a:solidFill>
                <a:latin typeface="Montserrat ExtraBold"/>
              </a:rPr>
              <a:t>Métodos</a:t>
            </a:r>
            <a:endParaRPr lang="en-US" sz="4400" dirty="0">
              <a:solidFill>
                <a:schemeClr val="bg1"/>
              </a:solidFill>
              <a:latin typeface="Montserrat ExtraBold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8CAD53E-6ADF-2DAD-F1D5-7A2A81E0488F}"/>
              </a:ext>
            </a:extLst>
          </p:cNvPr>
          <p:cNvSpPr/>
          <p:nvPr/>
        </p:nvSpPr>
        <p:spPr>
          <a:xfrm>
            <a:off x="1219200" y="1219200"/>
            <a:ext cx="1219200" cy="1219200"/>
          </a:xfrm>
          <a:prstGeom prst="line">
            <a:avLst/>
          </a:prstGeom>
          <a:noFill/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8B1E14F-9321-2AC8-00D4-46EA0C0A8DAC}"/>
              </a:ext>
            </a:extLst>
          </p:cNvPr>
          <p:cNvSpPr/>
          <p:nvPr/>
        </p:nvSpPr>
        <p:spPr>
          <a:xfrm>
            <a:off x="596900" y="2171699"/>
            <a:ext cx="7505109" cy="14752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1800" dirty="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50141FD-6FDC-950E-DCE4-6E4D375D83B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9700" y="6350000"/>
            <a:ext cx="609600" cy="355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 anchorCtr="0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sz="121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pPr algn="ctr"/>
              <a:t>8</a:t>
            </a:fld>
            <a:endParaRPr lang="en-US" sz="121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E6BF15D-3881-0950-0AC6-65882B691150}"/>
              </a:ext>
            </a:extLst>
          </p:cNvPr>
          <p:cNvSpPr txBox="1"/>
          <p:nvPr/>
        </p:nvSpPr>
        <p:spPr>
          <a:xfrm>
            <a:off x="596900" y="1552353"/>
            <a:ext cx="100462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O estudo experimental testará o comportamento de modelos RNN e </a:t>
            </a:r>
            <a:r>
              <a:rPr lang="pt-BR" sz="1800" dirty="0" err="1">
                <a:solidFill>
                  <a:schemeClr val="bg1"/>
                </a:solidFill>
                <a:latin typeface="Barlow" panose="00000500000000000000" pitchFamily="2" charset="0"/>
              </a:rPr>
              <a:t>LLMs</a:t>
            </a:r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 baseados na arquitetura Transformer.</a:t>
            </a:r>
          </a:p>
          <a:p>
            <a:pPr algn="just"/>
            <a:endParaRPr lang="pt-BR" sz="18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pPr algn="just"/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Conjunto de dados: boletins do Instituto Agronômico Paulista.</a:t>
            </a:r>
          </a:p>
          <a:p>
            <a:pPr algn="just"/>
            <a:endParaRPr lang="pt-BR" sz="18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pPr algn="just"/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Comprovada a hipótese </a:t>
            </a:r>
            <a:r>
              <a:rPr lang="pt-BR" dirty="0">
                <a:solidFill>
                  <a:schemeClr val="bg1"/>
                </a:solidFill>
                <a:latin typeface="Barlow" panose="00000500000000000000" pitchFamily="2" charset="0"/>
              </a:rPr>
              <a:t>de que </a:t>
            </a:r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Transformer superaram as </a:t>
            </a:r>
            <a:r>
              <a:rPr lang="pt-BR" sz="1800" dirty="0" err="1">
                <a:solidFill>
                  <a:schemeClr val="bg1"/>
                </a:solidFill>
                <a:latin typeface="Barlow" panose="00000500000000000000" pitchFamily="2" charset="0"/>
              </a:rPr>
              <a:t>RNNs</a:t>
            </a:r>
            <a:r>
              <a:rPr lang="pt-BR" sz="1800" dirty="0">
                <a:solidFill>
                  <a:schemeClr val="bg1"/>
                </a:solidFill>
                <a:latin typeface="Barlow" panose="00000500000000000000" pitchFamily="2" charset="0"/>
              </a:rPr>
              <a:t>, escolheremos a LLM a ser adotada para o SB100.</a:t>
            </a:r>
          </a:p>
          <a:p>
            <a:pPr algn="just"/>
            <a:endParaRPr lang="pt-BR" sz="1800" dirty="0">
              <a:solidFill>
                <a:schemeClr val="bg1"/>
              </a:solidFill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815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92EEC-B63A-3DAE-E6E9-BB597C66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52B5CC3B-632A-4C6B-C26A-A815D6B175F8}"/>
              </a:ext>
            </a:extLst>
          </p:cNvPr>
          <p:cNvSpPr/>
          <p:nvPr/>
        </p:nvSpPr>
        <p:spPr>
          <a:xfrm>
            <a:off x="1219200" y="1219200"/>
            <a:ext cx="1219200" cy="1219200"/>
          </a:xfrm>
          <a:prstGeom prst="line">
            <a:avLst/>
          </a:prstGeom>
          <a:noFill/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FD099C0-66FB-A9DA-32DA-F17E53DA2F38}"/>
              </a:ext>
            </a:extLst>
          </p:cNvPr>
          <p:cNvSpPr/>
          <p:nvPr/>
        </p:nvSpPr>
        <p:spPr>
          <a:xfrm>
            <a:off x="596900" y="2171699"/>
            <a:ext cx="7505109" cy="14752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1800" dirty="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2543EEC-B1D0-2B5D-B8B6-A09A8AF7F9F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9700" y="6350000"/>
            <a:ext cx="609600" cy="355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 anchorCtr="0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sz="121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pPr algn="ctr"/>
              <a:t>9</a:t>
            </a:fld>
            <a:endParaRPr lang="en-US" sz="121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63240C-575C-A6B9-4750-E508203C0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59" y="1649542"/>
            <a:ext cx="4504601" cy="26885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1924948-FBE7-2CBF-6ED7-98509F964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91927"/>
            <a:ext cx="4287107" cy="428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7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63D1F-5F30-68B1-C783-283FA339A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AA7F4DEC-D5BC-FD8A-0412-6A067B87BBC9}"/>
              </a:ext>
            </a:extLst>
          </p:cNvPr>
          <p:cNvSpPr/>
          <p:nvPr/>
        </p:nvSpPr>
        <p:spPr>
          <a:xfrm>
            <a:off x="1219200" y="1219200"/>
            <a:ext cx="1219200" cy="1219200"/>
          </a:xfrm>
          <a:prstGeom prst="line">
            <a:avLst/>
          </a:prstGeom>
          <a:noFill/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F1132D2-DA5B-690E-830B-F91184B65E54}"/>
              </a:ext>
            </a:extLst>
          </p:cNvPr>
          <p:cNvSpPr/>
          <p:nvPr/>
        </p:nvSpPr>
        <p:spPr>
          <a:xfrm>
            <a:off x="596900" y="2171699"/>
            <a:ext cx="7505109" cy="14752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1800" dirty="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787D0AD-93EB-8314-25C0-A7CD6F5664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9700" y="6350000"/>
            <a:ext cx="609600" cy="355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 anchorCtr="0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sz="121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pPr algn="ctr"/>
              <a:t>10</a:t>
            </a:fld>
            <a:endParaRPr lang="en-US" sz="121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1D565EB-1775-6421-4B70-108AC7D51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" y="842962"/>
            <a:ext cx="10467975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66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1C8D3-9717-136F-42ED-C26EFC971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59D56CD6-417F-6164-C4EB-AB65C71CD5CA}"/>
              </a:ext>
            </a:extLst>
          </p:cNvPr>
          <p:cNvSpPr/>
          <p:nvPr/>
        </p:nvSpPr>
        <p:spPr>
          <a:xfrm>
            <a:off x="1219200" y="1219200"/>
            <a:ext cx="1219200" cy="1219200"/>
          </a:xfrm>
          <a:prstGeom prst="line">
            <a:avLst/>
          </a:prstGeom>
          <a:noFill/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9FF016C-02E2-3756-2DB4-F495FCC94962}"/>
              </a:ext>
            </a:extLst>
          </p:cNvPr>
          <p:cNvSpPr/>
          <p:nvPr/>
        </p:nvSpPr>
        <p:spPr>
          <a:xfrm>
            <a:off x="596900" y="2171699"/>
            <a:ext cx="7505109" cy="147526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1800" dirty="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8055DD0-437B-C82B-6C17-6A3325845C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9700" y="6350000"/>
            <a:ext cx="609600" cy="355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 anchorCtr="0"/>
          <a:lstStyle>
            <a:lvl1pPr marL="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1625519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sz="121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pPr algn="ctr"/>
              <a:t>11</a:t>
            </a:fld>
            <a:endParaRPr lang="en-US" sz="121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4A00A91-7A8B-6603-2F32-3024EB5487B7}"/>
              </a:ext>
            </a:extLst>
          </p:cNvPr>
          <p:cNvSpPr/>
          <p:nvPr/>
        </p:nvSpPr>
        <p:spPr>
          <a:xfrm>
            <a:off x="3233774" y="2804337"/>
            <a:ext cx="10363200" cy="952500"/>
          </a:xfrm>
          <a:prstGeom prst="rect">
            <a:avLst/>
          </a:prstGeom>
          <a:noFill/>
          <a:ln/>
        </p:spPr>
        <p:txBody>
          <a:bodyPr wrap="square" rtlCol="0" anchor="t" anchorCtr="0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400" noProof="0" dirty="0">
                <a:solidFill>
                  <a:schemeClr val="bg1"/>
                </a:solidFill>
                <a:latin typeface="Montserrat ExtraBold"/>
              </a:rPr>
              <a:t>Muito obrigado!</a:t>
            </a:r>
          </a:p>
        </p:txBody>
      </p:sp>
    </p:spTree>
    <p:extLst>
      <p:ext uri="{BB962C8B-B14F-4D97-AF65-F5344CB8AC3E}">
        <p14:creationId xmlns:p14="http://schemas.microsoft.com/office/powerpoint/2010/main" val="1847453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cean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958F7"/>
      </a:accent1>
      <a:accent2>
        <a:srgbClr val="FE7032"/>
      </a:accent2>
      <a:accent3>
        <a:srgbClr val="91BED4"/>
      </a:accent3>
      <a:accent4>
        <a:srgbClr val="FFC000"/>
      </a:accent4>
      <a:accent5>
        <a:srgbClr val="D9E8F5"/>
      </a:accent5>
      <a:accent6>
        <a:srgbClr val="FFAD8D"/>
      </a:accent6>
      <a:hlink>
        <a:srgbClr val="0563C1"/>
      </a:hlink>
      <a:folHlink>
        <a:srgbClr val="954F72"/>
      </a:folHlink>
    </a:clrScheme>
    <a:fontScheme name="Montserrat ExtraBold - Open Sans">
      <a:majorFont>
        <a:latin typeface="Montserrat ExtraBold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D656CF2-CF0C-41ED-8C11-852A754D8784}">
  <we:reference id="wa200005566" version="3.0.0.2" store="pt-BR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5C7ACB8-20DF-42BF-9C00-C7EAE5EB07C2}">
  <we:reference id="wa104380050" version="3.8.0.0" store="pt-BR" storeType="OMEX"/>
  <we:alternateReferences>
    <we:reference id="wa104380050" version="3.8.0.0" store="wa10438005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1081</Words>
  <Application>Microsoft Office PowerPoint</Application>
  <PresentationFormat>Widescreen</PresentationFormat>
  <Paragraphs>100</Paragraphs>
  <Slides>11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Aptos Display</vt:lpstr>
      <vt:lpstr>Arial</vt:lpstr>
      <vt:lpstr>Barlow</vt:lpstr>
      <vt:lpstr>Calibri</vt:lpstr>
      <vt:lpstr>Cascadia Mono SemiBold</vt:lpstr>
      <vt:lpstr>Google Sans</vt:lpstr>
      <vt:lpstr>Montserrat ExtraBold</vt:lpstr>
      <vt:lpstr>Open Sans</vt:lpstr>
      <vt:lpstr>Ocean</vt:lpstr>
      <vt:lpstr>Agrônomo Virtual</vt:lpstr>
      <vt:lpstr>Contexto da Produção de Citrus</vt:lpstr>
      <vt:lpstr>Apresentação do PowerPoint</vt:lpstr>
      <vt:lpstr>Apresentação do PowerPoint</vt:lpstr>
      <vt:lpstr>Contexto Computacional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Dirceu André Gerardi</dc:creator>
  <cp:lastModifiedBy>Dirceu André Gerardi</cp:lastModifiedBy>
  <cp:revision>6</cp:revision>
  <dcterms:created xsi:type="dcterms:W3CDTF">2024-11-05T15:57:23Z</dcterms:created>
  <dcterms:modified xsi:type="dcterms:W3CDTF">2024-11-05T19:31:19Z</dcterms:modified>
</cp:coreProperties>
</file>